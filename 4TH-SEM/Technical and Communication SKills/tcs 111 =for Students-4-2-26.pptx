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7" r:id="rId1"/>
  </p:sldMasterIdLst>
  <p:notesMasterIdLst>
    <p:notesMasterId r:id="rId53"/>
  </p:notesMasterIdLst>
  <p:sldIdLst>
    <p:sldId id="256" r:id="rId2"/>
    <p:sldId id="324" r:id="rId3"/>
    <p:sldId id="325" r:id="rId4"/>
    <p:sldId id="275" r:id="rId5"/>
    <p:sldId id="281" r:id="rId6"/>
    <p:sldId id="314" r:id="rId7"/>
    <p:sldId id="290" r:id="rId8"/>
    <p:sldId id="287" r:id="rId9"/>
    <p:sldId id="315" r:id="rId10"/>
    <p:sldId id="284" r:id="rId11"/>
    <p:sldId id="289" r:id="rId12"/>
    <p:sldId id="292" r:id="rId13"/>
    <p:sldId id="293" r:id="rId14"/>
    <p:sldId id="327" r:id="rId15"/>
    <p:sldId id="328" r:id="rId16"/>
    <p:sldId id="294" r:id="rId17"/>
    <p:sldId id="316" r:id="rId18"/>
    <p:sldId id="298" r:id="rId19"/>
    <p:sldId id="302" r:id="rId20"/>
    <p:sldId id="296" r:id="rId21"/>
    <p:sldId id="297" r:id="rId22"/>
    <p:sldId id="317" r:id="rId23"/>
    <p:sldId id="320" r:id="rId24"/>
    <p:sldId id="321" r:id="rId25"/>
    <p:sldId id="318" r:id="rId26"/>
    <p:sldId id="319" r:id="rId27"/>
    <p:sldId id="276" r:id="rId28"/>
    <p:sldId id="303" r:id="rId29"/>
    <p:sldId id="304" r:id="rId30"/>
    <p:sldId id="305" r:id="rId31"/>
    <p:sldId id="306" r:id="rId32"/>
    <p:sldId id="279" r:id="rId33"/>
    <p:sldId id="280" r:id="rId34"/>
    <p:sldId id="307" r:id="rId35"/>
    <p:sldId id="326" r:id="rId36"/>
    <p:sldId id="278" r:id="rId37"/>
    <p:sldId id="258" r:id="rId38"/>
    <p:sldId id="257" r:id="rId39"/>
    <p:sldId id="308" r:id="rId40"/>
    <p:sldId id="260" r:id="rId41"/>
    <p:sldId id="261" r:id="rId42"/>
    <p:sldId id="262" r:id="rId43"/>
    <p:sldId id="322" r:id="rId44"/>
    <p:sldId id="323" r:id="rId45"/>
    <p:sldId id="309" r:id="rId46"/>
    <p:sldId id="310" r:id="rId47"/>
    <p:sldId id="263" r:id="rId48"/>
    <p:sldId id="265" r:id="rId49"/>
    <p:sldId id="311" r:id="rId50"/>
    <p:sldId id="312" r:id="rId51"/>
    <p:sldId id="313"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DED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7286" autoAdjust="0"/>
  </p:normalViewPr>
  <p:slideViewPr>
    <p:cSldViewPr snapToGrid="0">
      <p:cViewPr>
        <p:scale>
          <a:sx n="54" d="100"/>
          <a:sy n="54" d="100"/>
        </p:scale>
        <p:origin x="1124"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D1DE6B-611A-42A2-A5BC-5D30D208EC8F}" type="datetimeFigureOut">
              <a:rPr lang="en-US" smtClean="0"/>
              <a:t>2/12/2026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478EE4-FACB-4F14-AD02-D8190FD79606}" type="slidenum">
              <a:rPr lang="en-US" smtClean="0"/>
              <a:t>‹#›</a:t>
            </a:fld>
            <a:endParaRPr lang="en-US"/>
          </a:p>
        </p:txBody>
      </p:sp>
    </p:spTree>
    <p:extLst>
      <p:ext uri="{BB962C8B-B14F-4D97-AF65-F5344CB8AC3E}">
        <p14:creationId xmlns:p14="http://schemas.microsoft.com/office/powerpoint/2010/main" val="14228250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dirty="0" err="1" smtClean="0"/>
              <a:t>ss</a:t>
            </a:r>
            <a:endParaRPr lang="en-US" dirty="0"/>
          </a:p>
        </p:txBody>
      </p:sp>
      <p:sp>
        <p:nvSpPr>
          <p:cNvPr id="4" name="Slide Number Placeholder 3"/>
          <p:cNvSpPr>
            <a:spLocks noGrp="1"/>
          </p:cNvSpPr>
          <p:nvPr>
            <p:ph type="sldNum" sz="quarter" idx="10"/>
          </p:nvPr>
        </p:nvSpPr>
        <p:spPr/>
        <p:txBody>
          <a:bodyPr/>
          <a:lstStyle/>
          <a:p>
            <a:fld id="{94478EE4-FACB-4F14-AD02-D8190FD79606}" type="slidenum">
              <a:rPr lang="en-US" smtClean="0"/>
              <a:t>1</a:t>
            </a:fld>
            <a:endParaRPr lang="en-US"/>
          </a:p>
        </p:txBody>
      </p:sp>
    </p:spTree>
    <p:extLst>
      <p:ext uri="{BB962C8B-B14F-4D97-AF65-F5344CB8AC3E}">
        <p14:creationId xmlns:p14="http://schemas.microsoft.com/office/powerpoint/2010/main" val="3942276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smtClean="0"/>
              <a:t> </a:t>
            </a:r>
            <a:endParaRPr lang="en-US" dirty="0"/>
          </a:p>
        </p:txBody>
      </p:sp>
      <p:sp>
        <p:nvSpPr>
          <p:cNvPr id="4" name="Slide Number Placeholder 3"/>
          <p:cNvSpPr>
            <a:spLocks noGrp="1"/>
          </p:cNvSpPr>
          <p:nvPr>
            <p:ph type="sldNum" sz="quarter" idx="10"/>
          </p:nvPr>
        </p:nvSpPr>
        <p:spPr/>
        <p:txBody>
          <a:bodyPr/>
          <a:lstStyle/>
          <a:p>
            <a:fld id="{94478EE4-FACB-4F14-AD02-D8190FD79606}" type="slidenum">
              <a:rPr lang="en-US" smtClean="0"/>
              <a:t>2</a:t>
            </a:fld>
            <a:endParaRPr lang="en-US"/>
          </a:p>
        </p:txBody>
      </p:sp>
    </p:spTree>
    <p:extLst>
      <p:ext uri="{BB962C8B-B14F-4D97-AF65-F5344CB8AC3E}">
        <p14:creationId xmlns:p14="http://schemas.microsoft.com/office/powerpoint/2010/main" val="17517080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smtClean="0"/>
              <a:t> </a:t>
            </a:r>
            <a:endParaRPr lang="en-US" dirty="0"/>
          </a:p>
        </p:txBody>
      </p:sp>
      <p:sp>
        <p:nvSpPr>
          <p:cNvPr id="4" name="Slide Number Placeholder 3"/>
          <p:cNvSpPr>
            <a:spLocks noGrp="1"/>
          </p:cNvSpPr>
          <p:nvPr>
            <p:ph type="sldNum" sz="quarter" idx="10"/>
          </p:nvPr>
        </p:nvSpPr>
        <p:spPr/>
        <p:txBody>
          <a:bodyPr/>
          <a:lstStyle/>
          <a:p>
            <a:fld id="{94478EE4-FACB-4F14-AD02-D8190FD79606}" type="slidenum">
              <a:rPr lang="en-US" smtClean="0"/>
              <a:t>3</a:t>
            </a:fld>
            <a:endParaRPr lang="en-US"/>
          </a:p>
        </p:txBody>
      </p:sp>
    </p:spTree>
    <p:extLst>
      <p:ext uri="{BB962C8B-B14F-4D97-AF65-F5344CB8AC3E}">
        <p14:creationId xmlns:p14="http://schemas.microsoft.com/office/powerpoint/2010/main" val="11634744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dirty="0"/>
              <a:t> </a:t>
            </a:r>
            <a:endParaRPr lang="en-US" dirty="0"/>
          </a:p>
        </p:txBody>
      </p:sp>
      <p:sp>
        <p:nvSpPr>
          <p:cNvPr id="4" name="Slide Number Placeholder 3"/>
          <p:cNvSpPr>
            <a:spLocks noGrp="1"/>
          </p:cNvSpPr>
          <p:nvPr>
            <p:ph type="sldNum" sz="quarter" idx="10"/>
          </p:nvPr>
        </p:nvSpPr>
        <p:spPr/>
        <p:txBody>
          <a:bodyPr/>
          <a:lstStyle/>
          <a:p>
            <a:fld id="{94478EE4-FACB-4F14-AD02-D8190FD79606}" type="slidenum">
              <a:rPr lang="en-US" smtClean="0"/>
              <a:t>4</a:t>
            </a:fld>
            <a:endParaRPr lang="en-US"/>
          </a:p>
        </p:txBody>
      </p:sp>
    </p:spTree>
    <p:extLst>
      <p:ext uri="{BB962C8B-B14F-4D97-AF65-F5344CB8AC3E}">
        <p14:creationId xmlns:p14="http://schemas.microsoft.com/office/powerpoint/2010/main" val="10343300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sz="1200" b="1" dirty="0">
                <a:solidFill>
                  <a:schemeClr val="tx1"/>
                </a:solidFill>
                <a:latin typeface="Arial" panose="020B0604020202020204" pitchFamily="34" charset="0"/>
                <a:cs typeface="Arial" panose="020B0604020202020204" pitchFamily="34" charset="0"/>
              </a:rPr>
              <a:t>Skimming</a:t>
            </a:r>
            <a:r>
              <a:rPr lang="en-GB" sz="1200" dirty="0">
                <a:solidFill>
                  <a:schemeClr val="tx1"/>
                </a:solidFill>
                <a:latin typeface="Arial" panose="020B0604020202020204" pitchFamily="34" charset="0"/>
                <a:cs typeface="Arial" panose="020B0604020202020204" pitchFamily="34" charset="0"/>
              </a:rPr>
              <a:t> is a fast reading technique used to get the general idea of a text without reading every word. </a:t>
            </a:r>
            <a:endParaRPr lang="en-US" dirty="0"/>
          </a:p>
        </p:txBody>
      </p:sp>
      <p:sp>
        <p:nvSpPr>
          <p:cNvPr id="4" name="Slide Number Placeholder 3"/>
          <p:cNvSpPr>
            <a:spLocks noGrp="1"/>
          </p:cNvSpPr>
          <p:nvPr>
            <p:ph type="sldNum" sz="quarter" idx="10"/>
          </p:nvPr>
        </p:nvSpPr>
        <p:spPr/>
        <p:txBody>
          <a:bodyPr/>
          <a:lstStyle/>
          <a:p>
            <a:fld id="{94478EE4-FACB-4F14-AD02-D8190FD79606}" type="slidenum">
              <a:rPr lang="en-US" smtClean="0"/>
              <a:t>5</a:t>
            </a:fld>
            <a:endParaRPr lang="en-US"/>
          </a:p>
        </p:txBody>
      </p:sp>
    </p:spTree>
    <p:extLst>
      <p:ext uri="{BB962C8B-B14F-4D97-AF65-F5344CB8AC3E}">
        <p14:creationId xmlns:p14="http://schemas.microsoft.com/office/powerpoint/2010/main" val="30429590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478EE4-FACB-4F14-AD02-D8190FD79606}" type="slidenum">
              <a:rPr lang="en-US" smtClean="0"/>
              <a:t>7</a:t>
            </a:fld>
            <a:endParaRPr lang="en-US"/>
          </a:p>
        </p:txBody>
      </p:sp>
    </p:spTree>
    <p:extLst>
      <p:ext uri="{BB962C8B-B14F-4D97-AF65-F5344CB8AC3E}">
        <p14:creationId xmlns:p14="http://schemas.microsoft.com/office/powerpoint/2010/main" val="26176068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b="1" dirty="0"/>
              <a:t> </a:t>
            </a:r>
            <a:endParaRPr lang="en-US" dirty="0"/>
          </a:p>
        </p:txBody>
      </p:sp>
      <p:sp>
        <p:nvSpPr>
          <p:cNvPr id="4" name="Slide Number Placeholder 3"/>
          <p:cNvSpPr>
            <a:spLocks noGrp="1"/>
          </p:cNvSpPr>
          <p:nvPr>
            <p:ph type="sldNum" sz="quarter" idx="10"/>
          </p:nvPr>
        </p:nvSpPr>
        <p:spPr/>
        <p:txBody>
          <a:bodyPr/>
          <a:lstStyle/>
          <a:p>
            <a:fld id="{94478EE4-FACB-4F14-AD02-D8190FD79606}" type="slidenum">
              <a:rPr lang="en-US" smtClean="0"/>
              <a:t>8</a:t>
            </a:fld>
            <a:endParaRPr lang="en-US"/>
          </a:p>
        </p:txBody>
      </p:sp>
    </p:spTree>
    <p:extLst>
      <p:ext uri="{BB962C8B-B14F-4D97-AF65-F5344CB8AC3E}">
        <p14:creationId xmlns:p14="http://schemas.microsoft.com/office/powerpoint/2010/main" val="1806107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smtClean="0"/>
              <a:t> </a:t>
            </a:r>
            <a:endParaRPr lang="en-US" dirty="0"/>
          </a:p>
        </p:txBody>
      </p:sp>
      <p:sp>
        <p:nvSpPr>
          <p:cNvPr id="4" name="Slide Number Placeholder 3"/>
          <p:cNvSpPr>
            <a:spLocks noGrp="1"/>
          </p:cNvSpPr>
          <p:nvPr>
            <p:ph type="sldNum" sz="quarter" idx="10"/>
          </p:nvPr>
        </p:nvSpPr>
        <p:spPr/>
        <p:txBody>
          <a:bodyPr/>
          <a:lstStyle/>
          <a:p>
            <a:fld id="{94478EE4-FACB-4F14-AD02-D8190FD79606}" type="slidenum">
              <a:rPr lang="en-US" smtClean="0"/>
              <a:t>9</a:t>
            </a:fld>
            <a:endParaRPr lang="en-US"/>
          </a:p>
        </p:txBody>
      </p:sp>
    </p:spTree>
    <p:extLst>
      <p:ext uri="{BB962C8B-B14F-4D97-AF65-F5344CB8AC3E}">
        <p14:creationId xmlns:p14="http://schemas.microsoft.com/office/powerpoint/2010/main" val="25066500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dirty="0"/>
              <a:t> </a:t>
            </a:r>
            <a:endParaRPr lang="en-US" dirty="0"/>
          </a:p>
        </p:txBody>
      </p:sp>
      <p:sp>
        <p:nvSpPr>
          <p:cNvPr id="4" name="Slide Number Placeholder 3"/>
          <p:cNvSpPr>
            <a:spLocks noGrp="1"/>
          </p:cNvSpPr>
          <p:nvPr>
            <p:ph type="sldNum" sz="quarter" idx="10"/>
          </p:nvPr>
        </p:nvSpPr>
        <p:spPr/>
        <p:txBody>
          <a:bodyPr/>
          <a:lstStyle/>
          <a:p>
            <a:fld id="{94478EE4-FACB-4F14-AD02-D8190FD79606}" type="slidenum">
              <a:rPr lang="en-US" smtClean="0"/>
              <a:t>11</a:t>
            </a:fld>
            <a:endParaRPr lang="en-US"/>
          </a:p>
        </p:txBody>
      </p:sp>
    </p:spTree>
    <p:extLst>
      <p:ext uri="{BB962C8B-B14F-4D97-AF65-F5344CB8AC3E}">
        <p14:creationId xmlns:p14="http://schemas.microsoft.com/office/powerpoint/2010/main" val="42252305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smtClean="0"/>
              <a:t> </a:t>
            </a:r>
            <a:endParaRPr lang="en-US" dirty="0"/>
          </a:p>
        </p:txBody>
      </p:sp>
      <p:sp>
        <p:nvSpPr>
          <p:cNvPr id="4" name="Slide Number Placeholder 3"/>
          <p:cNvSpPr>
            <a:spLocks noGrp="1"/>
          </p:cNvSpPr>
          <p:nvPr>
            <p:ph type="sldNum" sz="quarter" idx="10"/>
          </p:nvPr>
        </p:nvSpPr>
        <p:spPr/>
        <p:txBody>
          <a:bodyPr/>
          <a:lstStyle/>
          <a:p>
            <a:fld id="{94478EE4-FACB-4F14-AD02-D8190FD79606}" type="slidenum">
              <a:rPr lang="en-US" smtClean="0"/>
              <a:t>12</a:t>
            </a:fld>
            <a:endParaRPr lang="en-US"/>
          </a:p>
        </p:txBody>
      </p:sp>
    </p:spTree>
    <p:extLst>
      <p:ext uri="{BB962C8B-B14F-4D97-AF65-F5344CB8AC3E}">
        <p14:creationId xmlns:p14="http://schemas.microsoft.com/office/powerpoint/2010/main" val="4845489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 </a:t>
            </a:r>
            <a:endParaRPr lang="en-US" dirty="0"/>
          </a:p>
        </p:txBody>
      </p:sp>
      <p:sp>
        <p:nvSpPr>
          <p:cNvPr id="4" name="Slide Number Placeholder 3"/>
          <p:cNvSpPr>
            <a:spLocks noGrp="1"/>
          </p:cNvSpPr>
          <p:nvPr>
            <p:ph type="sldNum" sz="quarter" idx="5"/>
          </p:nvPr>
        </p:nvSpPr>
        <p:spPr/>
        <p:txBody>
          <a:bodyPr/>
          <a:lstStyle/>
          <a:p>
            <a:fld id="{94478EE4-FACB-4F14-AD02-D8190FD79606}" type="slidenum">
              <a:rPr lang="en-US" smtClean="0"/>
              <a:t>13</a:t>
            </a:fld>
            <a:endParaRPr lang="en-US"/>
          </a:p>
        </p:txBody>
      </p:sp>
    </p:spTree>
    <p:extLst>
      <p:ext uri="{BB962C8B-B14F-4D97-AF65-F5344CB8AC3E}">
        <p14:creationId xmlns:p14="http://schemas.microsoft.com/office/powerpoint/2010/main" val="28073467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4478EE4-FACB-4F14-AD02-D8190FD79606}" type="slidenum">
              <a:rPr lang="en-US" smtClean="0"/>
              <a:t>14</a:t>
            </a:fld>
            <a:endParaRPr lang="en-US"/>
          </a:p>
        </p:txBody>
      </p:sp>
    </p:spTree>
    <p:extLst>
      <p:ext uri="{BB962C8B-B14F-4D97-AF65-F5344CB8AC3E}">
        <p14:creationId xmlns:p14="http://schemas.microsoft.com/office/powerpoint/2010/main" val="28278542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smtClean="0">
                <a:solidFill>
                  <a:schemeClr val="tx1"/>
                </a:solidFill>
                <a:effectLst/>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fld id="{94478EE4-FACB-4F14-AD02-D8190FD79606}" type="slidenum">
              <a:rPr lang="en-US" smtClean="0"/>
              <a:t>15</a:t>
            </a:fld>
            <a:endParaRPr lang="en-US"/>
          </a:p>
        </p:txBody>
      </p:sp>
    </p:spTree>
    <p:extLst>
      <p:ext uri="{BB962C8B-B14F-4D97-AF65-F5344CB8AC3E}">
        <p14:creationId xmlns:p14="http://schemas.microsoft.com/office/powerpoint/2010/main" val="11713692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smtClean="0"/>
              <a:t> </a:t>
            </a:r>
            <a:endParaRPr lang="en-US" dirty="0"/>
          </a:p>
        </p:txBody>
      </p:sp>
      <p:sp>
        <p:nvSpPr>
          <p:cNvPr id="4" name="Slide Number Placeholder 3"/>
          <p:cNvSpPr>
            <a:spLocks noGrp="1"/>
          </p:cNvSpPr>
          <p:nvPr>
            <p:ph type="sldNum" sz="quarter" idx="10"/>
          </p:nvPr>
        </p:nvSpPr>
        <p:spPr/>
        <p:txBody>
          <a:bodyPr/>
          <a:lstStyle/>
          <a:p>
            <a:fld id="{94478EE4-FACB-4F14-AD02-D8190FD79606}" type="slidenum">
              <a:rPr lang="en-US" smtClean="0"/>
              <a:t>16</a:t>
            </a:fld>
            <a:endParaRPr lang="en-US"/>
          </a:p>
        </p:txBody>
      </p:sp>
    </p:spTree>
    <p:extLst>
      <p:ext uri="{BB962C8B-B14F-4D97-AF65-F5344CB8AC3E}">
        <p14:creationId xmlns:p14="http://schemas.microsoft.com/office/powerpoint/2010/main" val="19482995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 </a:t>
            </a:r>
            <a:endParaRPr lang="en-US" dirty="0"/>
          </a:p>
        </p:txBody>
      </p:sp>
      <p:sp>
        <p:nvSpPr>
          <p:cNvPr id="4" name="Slide Number Placeholder 3"/>
          <p:cNvSpPr>
            <a:spLocks noGrp="1"/>
          </p:cNvSpPr>
          <p:nvPr>
            <p:ph type="sldNum" sz="quarter" idx="10"/>
          </p:nvPr>
        </p:nvSpPr>
        <p:spPr/>
        <p:txBody>
          <a:bodyPr/>
          <a:lstStyle/>
          <a:p>
            <a:fld id="{94478EE4-FACB-4F14-AD02-D8190FD79606}" type="slidenum">
              <a:rPr lang="en-US" smtClean="0"/>
              <a:t>17</a:t>
            </a:fld>
            <a:endParaRPr lang="en-US"/>
          </a:p>
        </p:txBody>
      </p:sp>
    </p:spTree>
    <p:extLst>
      <p:ext uri="{BB962C8B-B14F-4D97-AF65-F5344CB8AC3E}">
        <p14:creationId xmlns:p14="http://schemas.microsoft.com/office/powerpoint/2010/main" val="34162803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smtClean="0">
                <a:solidFill>
                  <a:schemeClr val="tx1"/>
                </a:solidFill>
                <a:latin typeface="Arial" panose="020B0604020202020204" pitchFamily="34" charset="0"/>
                <a:cs typeface="Arial" panose="020B0604020202020204" pitchFamily="34" charset="0"/>
              </a:rPr>
              <a:t> </a:t>
            </a:r>
            <a:endParaRPr lang="en-US" dirty="0"/>
          </a:p>
        </p:txBody>
      </p:sp>
      <p:sp>
        <p:nvSpPr>
          <p:cNvPr id="4" name="Slide Number Placeholder 3"/>
          <p:cNvSpPr>
            <a:spLocks noGrp="1"/>
          </p:cNvSpPr>
          <p:nvPr>
            <p:ph type="sldNum" sz="quarter" idx="10"/>
          </p:nvPr>
        </p:nvSpPr>
        <p:spPr/>
        <p:txBody>
          <a:bodyPr/>
          <a:lstStyle/>
          <a:p>
            <a:fld id="{94478EE4-FACB-4F14-AD02-D8190FD79606}" type="slidenum">
              <a:rPr lang="en-US" smtClean="0"/>
              <a:t>18</a:t>
            </a:fld>
            <a:endParaRPr lang="en-US"/>
          </a:p>
        </p:txBody>
      </p:sp>
    </p:spTree>
    <p:extLst>
      <p:ext uri="{BB962C8B-B14F-4D97-AF65-F5344CB8AC3E}">
        <p14:creationId xmlns:p14="http://schemas.microsoft.com/office/powerpoint/2010/main" val="10821696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sz="1200" dirty="0" smtClean="0"/>
              <a:t> </a:t>
            </a:r>
            <a:endParaRPr lang="en-US" dirty="0"/>
          </a:p>
        </p:txBody>
      </p:sp>
      <p:sp>
        <p:nvSpPr>
          <p:cNvPr id="4" name="Slide Number Placeholder 3"/>
          <p:cNvSpPr>
            <a:spLocks noGrp="1"/>
          </p:cNvSpPr>
          <p:nvPr>
            <p:ph type="sldNum" sz="quarter" idx="10"/>
          </p:nvPr>
        </p:nvSpPr>
        <p:spPr/>
        <p:txBody>
          <a:bodyPr/>
          <a:lstStyle/>
          <a:p>
            <a:fld id="{94478EE4-FACB-4F14-AD02-D8190FD79606}" type="slidenum">
              <a:rPr lang="en-US" smtClean="0"/>
              <a:t>19</a:t>
            </a:fld>
            <a:endParaRPr lang="en-US"/>
          </a:p>
        </p:txBody>
      </p:sp>
    </p:spTree>
    <p:extLst>
      <p:ext uri="{BB962C8B-B14F-4D97-AF65-F5344CB8AC3E}">
        <p14:creationId xmlns:p14="http://schemas.microsoft.com/office/powerpoint/2010/main" val="688865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b="1" dirty="0"/>
              <a:t> </a:t>
            </a:r>
            <a:endParaRPr lang="en-GB" dirty="0"/>
          </a:p>
          <a:p>
            <a:endParaRPr lang="en-US" dirty="0"/>
          </a:p>
        </p:txBody>
      </p:sp>
      <p:sp>
        <p:nvSpPr>
          <p:cNvPr id="4" name="Slide Number Placeholder 3"/>
          <p:cNvSpPr>
            <a:spLocks noGrp="1"/>
          </p:cNvSpPr>
          <p:nvPr>
            <p:ph type="sldNum" sz="quarter" idx="10"/>
          </p:nvPr>
        </p:nvSpPr>
        <p:spPr/>
        <p:txBody>
          <a:bodyPr/>
          <a:lstStyle/>
          <a:p>
            <a:fld id="{94478EE4-FACB-4F14-AD02-D8190FD79606}" type="slidenum">
              <a:rPr lang="en-US" smtClean="0"/>
              <a:t>20</a:t>
            </a:fld>
            <a:endParaRPr lang="en-US"/>
          </a:p>
        </p:txBody>
      </p:sp>
    </p:spTree>
    <p:extLst>
      <p:ext uri="{BB962C8B-B14F-4D97-AF65-F5344CB8AC3E}">
        <p14:creationId xmlns:p14="http://schemas.microsoft.com/office/powerpoint/2010/main" val="38325082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smtClean="0"/>
              <a:t> </a:t>
            </a:r>
            <a:endParaRPr lang="en-US" dirty="0"/>
          </a:p>
        </p:txBody>
      </p:sp>
      <p:sp>
        <p:nvSpPr>
          <p:cNvPr id="4" name="Slide Number Placeholder 3"/>
          <p:cNvSpPr>
            <a:spLocks noGrp="1"/>
          </p:cNvSpPr>
          <p:nvPr>
            <p:ph type="sldNum" sz="quarter" idx="10"/>
          </p:nvPr>
        </p:nvSpPr>
        <p:spPr/>
        <p:txBody>
          <a:bodyPr/>
          <a:lstStyle/>
          <a:p>
            <a:fld id="{94478EE4-FACB-4F14-AD02-D8190FD79606}" type="slidenum">
              <a:rPr lang="en-US" smtClean="0"/>
              <a:t>22</a:t>
            </a:fld>
            <a:endParaRPr lang="en-US"/>
          </a:p>
        </p:txBody>
      </p:sp>
    </p:spTree>
    <p:extLst>
      <p:ext uri="{BB962C8B-B14F-4D97-AF65-F5344CB8AC3E}">
        <p14:creationId xmlns:p14="http://schemas.microsoft.com/office/powerpoint/2010/main" val="7061610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a:solidFill>
                  <a:schemeClr val="tx1"/>
                </a:solidFill>
                <a:latin typeface="Arial" panose="020B0604020202020204" pitchFamily="34" charset="0"/>
                <a:cs typeface="Arial" panose="020B0604020202020204" pitchFamily="34" charset="0"/>
              </a:rPr>
              <a:t> </a:t>
            </a:r>
            <a:endParaRPr lang="en-US" dirty="0"/>
          </a:p>
        </p:txBody>
      </p:sp>
      <p:sp>
        <p:nvSpPr>
          <p:cNvPr id="4" name="Slide Number Placeholder 3"/>
          <p:cNvSpPr>
            <a:spLocks noGrp="1"/>
          </p:cNvSpPr>
          <p:nvPr>
            <p:ph type="sldNum" sz="quarter" idx="10"/>
          </p:nvPr>
        </p:nvSpPr>
        <p:spPr/>
        <p:txBody>
          <a:bodyPr/>
          <a:lstStyle/>
          <a:p>
            <a:fld id="{94478EE4-FACB-4F14-AD02-D8190FD79606}" type="slidenum">
              <a:rPr lang="en-US" smtClean="0"/>
              <a:t>27</a:t>
            </a:fld>
            <a:endParaRPr lang="en-US"/>
          </a:p>
        </p:txBody>
      </p:sp>
    </p:spTree>
    <p:extLst>
      <p:ext uri="{BB962C8B-B14F-4D97-AF65-F5344CB8AC3E}">
        <p14:creationId xmlns:p14="http://schemas.microsoft.com/office/powerpoint/2010/main" val="35928822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fld id="{94478EE4-FACB-4F14-AD02-D8190FD79606}" type="slidenum">
              <a:rPr lang="en-US" smtClean="0"/>
              <a:t>30</a:t>
            </a:fld>
            <a:endParaRPr lang="en-US"/>
          </a:p>
        </p:txBody>
      </p:sp>
    </p:spTree>
    <p:extLst>
      <p:ext uri="{BB962C8B-B14F-4D97-AF65-F5344CB8AC3E}">
        <p14:creationId xmlns:p14="http://schemas.microsoft.com/office/powerpoint/2010/main" val="39376298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4478EE4-FACB-4F14-AD02-D8190FD79606}" type="slidenum">
              <a:rPr lang="en-US" smtClean="0"/>
              <a:t>31</a:t>
            </a:fld>
            <a:endParaRPr lang="en-US"/>
          </a:p>
        </p:txBody>
      </p:sp>
    </p:spTree>
    <p:extLst>
      <p:ext uri="{BB962C8B-B14F-4D97-AF65-F5344CB8AC3E}">
        <p14:creationId xmlns:p14="http://schemas.microsoft.com/office/powerpoint/2010/main" val="12147076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indent="0">
              <a:buFont typeface="+mj-lt"/>
              <a:buNone/>
            </a:pPr>
            <a:r>
              <a:rPr lang="en-GB" dirty="0"/>
              <a:t>Answers</a:t>
            </a:r>
            <a:endParaRPr lang="en-US" dirty="0"/>
          </a:p>
          <a:p>
            <a:pPr marL="228600" indent="-228600">
              <a:buFont typeface="+mj-lt"/>
              <a:buAutoNum type="arabicPeriod"/>
            </a:pPr>
            <a:r>
              <a:rPr lang="en-US" dirty="0"/>
              <a:t>Inform</a:t>
            </a:r>
          </a:p>
          <a:p>
            <a:pPr marL="228600" indent="-228600">
              <a:buFont typeface="+mj-lt"/>
              <a:buAutoNum type="arabicPeriod"/>
            </a:pPr>
            <a:r>
              <a:rPr lang="en-US" dirty="0"/>
              <a:t>Persuade</a:t>
            </a:r>
          </a:p>
          <a:p>
            <a:pPr marL="228600" indent="-228600">
              <a:buFont typeface="+mj-lt"/>
              <a:buAutoNum type="arabicPeriod"/>
            </a:pPr>
            <a:r>
              <a:rPr lang="en-US" dirty="0"/>
              <a:t>Entertain</a:t>
            </a:r>
          </a:p>
          <a:p>
            <a:pPr marL="228600" indent="-228600">
              <a:buFont typeface="+mj-lt"/>
              <a:buAutoNum type="arabicPeriod"/>
            </a:pPr>
            <a:r>
              <a:rPr lang="en-GB" dirty="0"/>
              <a:t>Inform</a:t>
            </a:r>
          </a:p>
          <a:p>
            <a:r>
              <a:rPr lang="en-GB" dirty="0"/>
              <a:t>5. Persuade</a:t>
            </a:r>
          </a:p>
          <a:p>
            <a:r>
              <a:rPr lang="en-GB" dirty="0"/>
              <a:t>6.Entertain</a:t>
            </a:r>
            <a:endParaRPr lang="en-US" dirty="0"/>
          </a:p>
        </p:txBody>
      </p:sp>
      <p:sp>
        <p:nvSpPr>
          <p:cNvPr id="4" name="Slide Number Placeholder 3"/>
          <p:cNvSpPr>
            <a:spLocks noGrp="1"/>
          </p:cNvSpPr>
          <p:nvPr>
            <p:ph type="sldNum" sz="quarter" idx="10"/>
          </p:nvPr>
        </p:nvSpPr>
        <p:spPr/>
        <p:txBody>
          <a:bodyPr/>
          <a:lstStyle/>
          <a:p>
            <a:fld id="{94478EE4-FACB-4F14-AD02-D8190FD79606}" type="slidenum">
              <a:rPr lang="en-US" smtClean="0"/>
              <a:t>32</a:t>
            </a:fld>
            <a:endParaRPr lang="en-US"/>
          </a:p>
        </p:txBody>
      </p:sp>
    </p:spTree>
    <p:extLst>
      <p:ext uri="{BB962C8B-B14F-4D97-AF65-F5344CB8AC3E}">
        <p14:creationId xmlns:p14="http://schemas.microsoft.com/office/powerpoint/2010/main" val="192399364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4478EE4-FACB-4F14-AD02-D8190FD79606}" type="slidenum">
              <a:rPr lang="en-US" smtClean="0"/>
              <a:t>33</a:t>
            </a:fld>
            <a:endParaRPr lang="en-US"/>
          </a:p>
        </p:txBody>
      </p:sp>
    </p:spTree>
    <p:extLst>
      <p:ext uri="{BB962C8B-B14F-4D97-AF65-F5344CB8AC3E}">
        <p14:creationId xmlns:p14="http://schemas.microsoft.com/office/powerpoint/2010/main" val="23846215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dirty="0"/>
              <a:t>Answer . d</a:t>
            </a:r>
            <a:endParaRPr lang="en-US" dirty="0"/>
          </a:p>
        </p:txBody>
      </p:sp>
      <p:sp>
        <p:nvSpPr>
          <p:cNvPr id="4" name="Slide Number Placeholder 3"/>
          <p:cNvSpPr>
            <a:spLocks noGrp="1"/>
          </p:cNvSpPr>
          <p:nvPr>
            <p:ph type="sldNum" sz="quarter" idx="10"/>
          </p:nvPr>
        </p:nvSpPr>
        <p:spPr/>
        <p:txBody>
          <a:bodyPr/>
          <a:lstStyle/>
          <a:p>
            <a:fld id="{94478EE4-FACB-4F14-AD02-D8190FD79606}" type="slidenum">
              <a:rPr lang="en-US" smtClean="0"/>
              <a:t>34</a:t>
            </a:fld>
            <a:endParaRPr lang="en-US"/>
          </a:p>
        </p:txBody>
      </p:sp>
    </p:spTree>
    <p:extLst>
      <p:ext uri="{BB962C8B-B14F-4D97-AF65-F5344CB8AC3E}">
        <p14:creationId xmlns:p14="http://schemas.microsoft.com/office/powerpoint/2010/main" val="37851924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dirty="0"/>
              <a:t>Main ideas and supporting details are often organized in specific patterns, depending on the writer's purpose. For example, if the purpose is to show several effects of climate change, the writer will probably state the goal in the main idea sentence and outline the specific effects as supporting details. Certain words and phrases, including as a result of, causes, because, and due to, will point to the fact that the organizational pattern of this paragraph is cause-effect. The following are the most common organizational patterns used in academic writing. Often, a paragraph will have one central pattern, with elements of other patterns supporting it. </a:t>
            </a:r>
            <a:endParaRPr lang="en-US" dirty="0"/>
          </a:p>
        </p:txBody>
      </p:sp>
      <p:sp>
        <p:nvSpPr>
          <p:cNvPr id="4" name="Slide Number Placeholder 3"/>
          <p:cNvSpPr>
            <a:spLocks noGrp="1"/>
          </p:cNvSpPr>
          <p:nvPr>
            <p:ph type="sldNum" sz="quarter" idx="10"/>
          </p:nvPr>
        </p:nvSpPr>
        <p:spPr/>
        <p:txBody>
          <a:bodyPr/>
          <a:lstStyle/>
          <a:p>
            <a:fld id="{94478EE4-FACB-4F14-AD02-D8190FD79606}" type="slidenum">
              <a:rPr lang="en-US" smtClean="0"/>
              <a:t>36</a:t>
            </a:fld>
            <a:endParaRPr lang="en-US"/>
          </a:p>
        </p:txBody>
      </p:sp>
    </p:spTree>
    <p:extLst>
      <p:ext uri="{BB962C8B-B14F-4D97-AF65-F5344CB8AC3E}">
        <p14:creationId xmlns:p14="http://schemas.microsoft.com/office/powerpoint/2010/main" val="28606205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dirty="0"/>
              <a:t> </a:t>
            </a:r>
            <a:endParaRPr lang="en-US" dirty="0"/>
          </a:p>
        </p:txBody>
      </p:sp>
      <p:sp>
        <p:nvSpPr>
          <p:cNvPr id="4" name="Slide Number Placeholder 3"/>
          <p:cNvSpPr>
            <a:spLocks noGrp="1"/>
          </p:cNvSpPr>
          <p:nvPr>
            <p:ph type="sldNum" sz="quarter" idx="10"/>
          </p:nvPr>
        </p:nvSpPr>
        <p:spPr/>
        <p:txBody>
          <a:bodyPr/>
          <a:lstStyle/>
          <a:p>
            <a:fld id="{94478EE4-FACB-4F14-AD02-D8190FD79606}" type="slidenum">
              <a:rPr lang="en-US" smtClean="0"/>
              <a:t>37</a:t>
            </a:fld>
            <a:endParaRPr lang="en-US"/>
          </a:p>
        </p:txBody>
      </p:sp>
    </p:spTree>
    <p:extLst>
      <p:ext uri="{BB962C8B-B14F-4D97-AF65-F5344CB8AC3E}">
        <p14:creationId xmlns:p14="http://schemas.microsoft.com/office/powerpoint/2010/main" val="14462113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478EE4-FACB-4F14-AD02-D8190FD79606}" type="slidenum">
              <a:rPr lang="en-US" smtClean="0"/>
              <a:t>41</a:t>
            </a:fld>
            <a:endParaRPr lang="en-US"/>
          </a:p>
        </p:txBody>
      </p:sp>
    </p:spTree>
    <p:extLst>
      <p:ext uri="{BB962C8B-B14F-4D97-AF65-F5344CB8AC3E}">
        <p14:creationId xmlns:p14="http://schemas.microsoft.com/office/powerpoint/2010/main" val="206068405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sz="1200" dirty="0">
                <a:latin typeface="Arial" panose="020B0604020202020204" pitchFamily="34" charset="0"/>
                <a:cs typeface="Arial" panose="020B0604020202020204" pitchFamily="34" charset="0"/>
              </a:rPr>
              <a:t> </a:t>
            </a:r>
            <a:endParaRPr lang="en-US" dirty="0"/>
          </a:p>
        </p:txBody>
      </p:sp>
      <p:sp>
        <p:nvSpPr>
          <p:cNvPr id="4" name="Slide Number Placeholder 3"/>
          <p:cNvSpPr>
            <a:spLocks noGrp="1"/>
          </p:cNvSpPr>
          <p:nvPr>
            <p:ph type="sldNum" sz="quarter" idx="10"/>
          </p:nvPr>
        </p:nvSpPr>
        <p:spPr/>
        <p:txBody>
          <a:bodyPr/>
          <a:lstStyle/>
          <a:p>
            <a:fld id="{94478EE4-FACB-4F14-AD02-D8190FD79606}" type="slidenum">
              <a:rPr lang="en-US" smtClean="0"/>
              <a:t>45</a:t>
            </a:fld>
            <a:endParaRPr lang="en-US"/>
          </a:p>
        </p:txBody>
      </p:sp>
    </p:spTree>
    <p:extLst>
      <p:ext uri="{BB962C8B-B14F-4D97-AF65-F5344CB8AC3E}">
        <p14:creationId xmlns:p14="http://schemas.microsoft.com/office/powerpoint/2010/main" val="243268771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dirty="0"/>
              <a:t> </a:t>
            </a:r>
            <a:endParaRPr lang="en-US" dirty="0"/>
          </a:p>
        </p:txBody>
      </p:sp>
      <p:sp>
        <p:nvSpPr>
          <p:cNvPr id="4" name="Slide Number Placeholder 3"/>
          <p:cNvSpPr>
            <a:spLocks noGrp="1"/>
          </p:cNvSpPr>
          <p:nvPr>
            <p:ph type="sldNum" sz="quarter" idx="10"/>
          </p:nvPr>
        </p:nvSpPr>
        <p:spPr/>
        <p:txBody>
          <a:bodyPr/>
          <a:lstStyle/>
          <a:p>
            <a:fld id="{94478EE4-FACB-4F14-AD02-D8190FD79606}" type="slidenum">
              <a:rPr lang="en-US" smtClean="0"/>
              <a:t>49</a:t>
            </a:fld>
            <a:endParaRPr lang="en-US"/>
          </a:p>
        </p:txBody>
      </p:sp>
    </p:spTree>
    <p:extLst>
      <p:ext uri="{BB962C8B-B14F-4D97-AF65-F5344CB8AC3E}">
        <p14:creationId xmlns:p14="http://schemas.microsoft.com/office/powerpoint/2010/main" val="346853066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 </a:t>
            </a:r>
            <a:endParaRPr lang="en-US" dirty="0"/>
          </a:p>
        </p:txBody>
      </p:sp>
      <p:sp>
        <p:nvSpPr>
          <p:cNvPr id="4" name="Slide Number Placeholder 3"/>
          <p:cNvSpPr>
            <a:spLocks noGrp="1"/>
          </p:cNvSpPr>
          <p:nvPr>
            <p:ph type="sldNum" sz="quarter" idx="10"/>
          </p:nvPr>
        </p:nvSpPr>
        <p:spPr/>
        <p:txBody>
          <a:bodyPr/>
          <a:lstStyle/>
          <a:p>
            <a:fld id="{94478EE4-FACB-4F14-AD02-D8190FD79606}" type="slidenum">
              <a:rPr lang="en-US" smtClean="0"/>
              <a:t>51</a:t>
            </a:fld>
            <a:endParaRPr lang="en-US"/>
          </a:p>
        </p:txBody>
      </p:sp>
    </p:spTree>
    <p:extLst>
      <p:ext uri="{BB962C8B-B14F-4D97-AF65-F5344CB8AC3E}">
        <p14:creationId xmlns:p14="http://schemas.microsoft.com/office/powerpoint/2010/main" val="1321112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0A4FA0F-45D0-4139-B155-102B9FF6A513}"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13A864-B4C2-420E-85CC-064427EAB9DC}" type="slidenum">
              <a:rPr lang="en-US" smtClean="0"/>
              <a:t>‹#›</a:t>
            </a:fld>
            <a:endParaRPr lang="en-US"/>
          </a:p>
        </p:txBody>
      </p:sp>
    </p:spTree>
    <p:extLst>
      <p:ext uri="{BB962C8B-B14F-4D97-AF65-F5344CB8AC3E}">
        <p14:creationId xmlns:p14="http://schemas.microsoft.com/office/powerpoint/2010/main" val="20238542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A4FA0F-45D0-4139-B155-102B9FF6A513}"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13A864-B4C2-420E-85CC-064427EAB9DC}" type="slidenum">
              <a:rPr lang="en-US" smtClean="0"/>
              <a:t>‹#›</a:t>
            </a:fld>
            <a:endParaRPr lang="en-US"/>
          </a:p>
        </p:txBody>
      </p:sp>
    </p:spTree>
    <p:extLst>
      <p:ext uri="{BB962C8B-B14F-4D97-AF65-F5344CB8AC3E}">
        <p14:creationId xmlns:p14="http://schemas.microsoft.com/office/powerpoint/2010/main" val="18707541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A4FA0F-45D0-4139-B155-102B9FF6A513}"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13A864-B4C2-420E-85CC-064427EAB9DC}" type="slidenum">
              <a:rPr lang="en-US" smtClean="0"/>
              <a:t>‹#›</a:t>
            </a:fld>
            <a:endParaRPr lang="en-US"/>
          </a:p>
        </p:txBody>
      </p:sp>
    </p:spTree>
    <p:extLst>
      <p:ext uri="{BB962C8B-B14F-4D97-AF65-F5344CB8AC3E}">
        <p14:creationId xmlns:p14="http://schemas.microsoft.com/office/powerpoint/2010/main" val="781955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0A4FA0F-45D0-4139-B155-102B9FF6A513}" type="datetimeFigureOut">
              <a:rPr lang="en-US" smtClean="0"/>
              <a:t>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713A864-B4C2-420E-85CC-064427EAB9DC}" type="slidenum">
              <a:rPr lang="en-US" smtClean="0"/>
              <a:t>‹#›</a:t>
            </a:fld>
            <a:endParaRPr lang="en-US"/>
          </a:p>
        </p:txBody>
      </p:sp>
    </p:spTree>
    <p:extLst>
      <p:ext uri="{BB962C8B-B14F-4D97-AF65-F5344CB8AC3E}">
        <p14:creationId xmlns:p14="http://schemas.microsoft.com/office/powerpoint/2010/main" val="20730311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0A4FA0F-45D0-4139-B155-102B9FF6A513}" type="datetimeFigureOut">
              <a:rPr lang="en-US" smtClean="0"/>
              <a:t>2/12/2026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713A864-B4C2-420E-85CC-064427EAB9DC}" type="slidenum">
              <a:rPr lang="en-US" smtClean="0"/>
              <a:t>‹#›</a:t>
            </a:fld>
            <a:endParaRPr lang="en-US"/>
          </a:p>
        </p:txBody>
      </p:sp>
    </p:spTree>
    <p:extLst>
      <p:ext uri="{BB962C8B-B14F-4D97-AF65-F5344CB8AC3E}">
        <p14:creationId xmlns:p14="http://schemas.microsoft.com/office/powerpoint/2010/main" val="34485039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0A4FA0F-45D0-4139-B155-102B9FF6A513}" type="datetimeFigureOut">
              <a:rPr lang="en-US" smtClean="0"/>
              <a:t>2/12/2026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713A864-B4C2-420E-85CC-064427EAB9DC}" type="slidenum">
              <a:rPr lang="en-US" smtClean="0"/>
              <a:t>‹#›</a:t>
            </a:fld>
            <a:endParaRPr lang="en-US"/>
          </a:p>
        </p:txBody>
      </p:sp>
    </p:spTree>
    <p:extLst>
      <p:ext uri="{BB962C8B-B14F-4D97-AF65-F5344CB8AC3E}">
        <p14:creationId xmlns:p14="http://schemas.microsoft.com/office/powerpoint/2010/main" val="176369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A4FA0F-45D0-4139-B155-102B9FF6A513}" type="datetimeFigureOut">
              <a:rPr lang="en-US" smtClean="0"/>
              <a:t>2/12/2026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713A864-B4C2-420E-85CC-064427EAB9DC}" type="slidenum">
              <a:rPr lang="en-US" smtClean="0"/>
              <a:t>‹#›</a:t>
            </a:fld>
            <a:endParaRPr lang="en-US"/>
          </a:p>
        </p:txBody>
      </p:sp>
    </p:spTree>
    <p:extLst>
      <p:ext uri="{BB962C8B-B14F-4D97-AF65-F5344CB8AC3E}">
        <p14:creationId xmlns:p14="http://schemas.microsoft.com/office/powerpoint/2010/main" val="14864501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0A4FA0F-45D0-4139-B155-102B9FF6A513}" type="datetimeFigureOut">
              <a:rPr lang="en-US" smtClean="0"/>
              <a:t>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713A864-B4C2-420E-85CC-064427EAB9DC}" type="slidenum">
              <a:rPr lang="en-US" smtClean="0"/>
              <a:t>‹#›</a:t>
            </a:fld>
            <a:endParaRPr lang="en-US"/>
          </a:p>
        </p:txBody>
      </p:sp>
    </p:spTree>
    <p:extLst>
      <p:ext uri="{BB962C8B-B14F-4D97-AF65-F5344CB8AC3E}">
        <p14:creationId xmlns:p14="http://schemas.microsoft.com/office/powerpoint/2010/main" val="8771648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713A864-B4C2-420E-85CC-064427EAB9DC}" type="slidenum">
              <a:rPr lang="en-US" smtClean="0"/>
              <a:t>‹#›</a:t>
            </a:fld>
            <a:endParaRPr lang="en-US"/>
          </a:p>
        </p:txBody>
      </p:sp>
      <p:sp>
        <p:nvSpPr>
          <p:cNvPr id="5" name="Date Placeholder 4"/>
          <p:cNvSpPr>
            <a:spLocks noGrp="1"/>
          </p:cNvSpPr>
          <p:nvPr>
            <p:ph type="dt" sz="half" idx="10"/>
          </p:nvPr>
        </p:nvSpPr>
        <p:spPr/>
        <p:txBody>
          <a:bodyPr/>
          <a:lstStyle/>
          <a:p>
            <a:fld id="{B0A4FA0F-45D0-4139-B155-102B9FF6A513}" type="datetimeFigureOut">
              <a:rPr lang="en-US" smtClean="0"/>
              <a:t>2/12/2026</a:t>
            </a:fld>
            <a:endParaRPr lang="en-US"/>
          </a:p>
        </p:txBody>
      </p:sp>
    </p:spTree>
    <p:extLst>
      <p:ext uri="{BB962C8B-B14F-4D97-AF65-F5344CB8AC3E}">
        <p14:creationId xmlns:p14="http://schemas.microsoft.com/office/powerpoint/2010/main" val="39040710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A4FA0F-45D0-4139-B155-102B9FF6A513}"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13A864-B4C2-420E-85CC-064427EAB9DC}" type="slidenum">
              <a:rPr lang="en-US" smtClean="0"/>
              <a:t>‹#›</a:t>
            </a:fld>
            <a:endParaRPr lang="en-US"/>
          </a:p>
        </p:txBody>
      </p:sp>
    </p:spTree>
    <p:extLst>
      <p:ext uri="{BB962C8B-B14F-4D97-AF65-F5344CB8AC3E}">
        <p14:creationId xmlns:p14="http://schemas.microsoft.com/office/powerpoint/2010/main" val="14756192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A4FA0F-45D0-4139-B155-102B9FF6A513}"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13A864-B4C2-420E-85CC-064427EAB9DC}"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0257720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A4FA0F-45D0-4139-B155-102B9FF6A513}"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13A864-B4C2-420E-85CC-064427EAB9DC}" type="slidenum">
              <a:rPr lang="en-US" smtClean="0"/>
              <a:t>‹#›</a:t>
            </a:fld>
            <a:endParaRPr lang="en-US"/>
          </a:p>
        </p:txBody>
      </p:sp>
    </p:spTree>
    <p:extLst>
      <p:ext uri="{BB962C8B-B14F-4D97-AF65-F5344CB8AC3E}">
        <p14:creationId xmlns:p14="http://schemas.microsoft.com/office/powerpoint/2010/main" val="25706561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A4FA0F-45D0-4139-B155-102B9FF6A513}"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13A864-B4C2-420E-85CC-064427EAB9DC}"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6745525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A4FA0F-45D0-4139-B155-102B9FF6A513}"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13A864-B4C2-420E-85CC-064427EAB9DC}" type="slidenum">
              <a:rPr lang="en-US" smtClean="0"/>
              <a:t>‹#›</a:t>
            </a:fld>
            <a:endParaRPr lang="en-US"/>
          </a:p>
        </p:txBody>
      </p:sp>
    </p:spTree>
    <p:extLst>
      <p:ext uri="{BB962C8B-B14F-4D97-AF65-F5344CB8AC3E}">
        <p14:creationId xmlns:p14="http://schemas.microsoft.com/office/powerpoint/2010/main" val="33923483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A4FA0F-45D0-4139-B155-102B9FF6A513}"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13A864-B4C2-420E-85CC-064427EAB9DC}" type="slidenum">
              <a:rPr lang="en-US" smtClean="0"/>
              <a:t>‹#›</a:t>
            </a:fld>
            <a:endParaRPr lang="en-US"/>
          </a:p>
        </p:txBody>
      </p:sp>
    </p:spTree>
    <p:extLst>
      <p:ext uri="{BB962C8B-B14F-4D97-AF65-F5344CB8AC3E}">
        <p14:creationId xmlns:p14="http://schemas.microsoft.com/office/powerpoint/2010/main" val="13236781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A4FA0F-45D0-4139-B155-102B9FF6A513}"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13A864-B4C2-420E-85CC-064427EAB9DC}" type="slidenum">
              <a:rPr lang="en-US" smtClean="0"/>
              <a:t>‹#›</a:t>
            </a:fld>
            <a:endParaRPr lang="en-US"/>
          </a:p>
        </p:txBody>
      </p:sp>
    </p:spTree>
    <p:extLst>
      <p:ext uri="{BB962C8B-B14F-4D97-AF65-F5344CB8AC3E}">
        <p14:creationId xmlns:p14="http://schemas.microsoft.com/office/powerpoint/2010/main" val="11194861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0A4FA0F-45D0-4139-B155-102B9FF6A513}" type="datetimeFigureOut">
              <a:rPr lang="en-US" smtClean="0"/>
              <a:t>2/12/2026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7713A864-B4C2-420E-85CC-064427EAB9DC}" type="slidenum">
              <a:rPr lang="en-US" smtClean="0"/>
              <a:t>‹#›</a:t>
            </a:fld>
            <a:endParaRPr lang="en-US"/>
          </a:p>
        </p:txBody>
      </p:sp>
    </p:spTree>
    <p:extLst>
      <p:ext uri="{BB962C8B-B14F-4D97-AF65-F5344CB8AC3E}">
        <p14:creationId xmlns:p14="http://schemas.microsoft.com/office/powerpoint/2010/main" val="3553725402"/>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07067" y="1165609"/>
            <a:ext cx="7766936" cy="2885227"/>
          </a:xfrm>
        </p:spPr>
        <p:txBody>
          <a:bodyPr/>
          <a:lstStyle/>
          <a:p>
            <a:pPr algn="l"/>
            <a:r>
              <a:rPr lang="en-US" sz="3600" b="1" dirty="0">
                <a:solidFill>
                  <a:schemeClr val="tx1"/>
                </a:solidFill>
                <a:latin typeface="Arial" panose="020B0604020202020204" pitchFamily="34" charset="0"/>
                <a:cs typeface="Arial" panose="020B0604020202020204" pitchFamily="34" charset="0"/>
              </a:rPr>
              <a:t>EE</a:t>
            </a:r>
            <a:br>
              <a:rPr lang="en-US" sz="3600" b="1" dirty="0">
                <a:solidFill>
                  <a:schemeClr val="tx1"/>
                </a:solidFill>
                <a:latin typeface="Arial" panose="020B0604020202020204" pitchFamily="34" charset="0"/>
                <a:cs typeface="Arial" panose="020B0604020202020204" pitchFamily="34" charset="0"/>
              </a:rPr>
            </a:br>
            <a:r>
              <a:rPr lang="en-US" sz="3600" b="1" dirty="0">
                <a:solidFill>
                  <a:schemeClr val="tx1"/>
                </a:solidFill>
                <a:latin typeface="Arial" panose="020B0604020202020204" pitchFamily="34" charset="0"/>
                <a:cs typeface="Arial" panose="020B0604020202020204" pitchFamily="34" charset="0"/>
              </a:rPr>
              <a:t>Week 3</a:t>
            </a:r>
            <a:br>
              <a:rPr lang="en-US" sz="3600" b="1" dirty="0">
                <a:solidFill>
                  <a:schemeClr val="tx1"/>
                </a:solidFill>
                <a:latin typeface="Arial" panose="020B0604020202020204" pitchFamily="34" charset="0"/>
                <a:cs typeface="Arial" panose="020B0604020202020204" pitchFamily="34" charset="0"/>
              </a:rPr>
            </a:br>
            <a:r>
              <a:rPr lang="en-US" sz="3600" b="1" dirty="0">
                <a:solidFill>
                  <a:schemeClr val="tx1"/>
                </a:solidFill>
                <a:latin typeface="Arial" panose="020B0604020202020204" pitchFamily="34" charset="0"/>
                <a:cs typeface="Arial" panose="020B0604020202020204" pitchFamily="34" charset="0"/>
              </a:rPr>
              <a:t/>
            </a:r>
            <a:br>
              <a:rPr lang="en-US" sz="3600" b="1" dirty="0">
                <a:solidFill>
                  <a:schemeClr val="tx1"/>
                </a:solidFill>
                <a:latin typeface="Arial" panose="020B0604020202020204" pitchFamily="34" charset="0"/>
                <a:cs typeface="Arial" panose="020B0604020202020204" pitchFamily="34" charset="0"/>
              </a:rPr>
            </a:br>
            <a:r>
              <a:rPr lang="en-US" sz="3600" b="1" dirty="0">
                <a:solidFill>
                  <a:schemeClr val="tx1"/>
                </a:solidFill>
                <a:latin typeface="Arial" panose="020B0604020202020204" pitchFamily="34" charset="0"/>
                <a:cs typeface="Arial" panose="020B0604020202020204" pitchFamily="34" charset="0"/>
              </a:rPr>
              <a:t>Technical Communication Skills</a:t>
            </a:r>
            <a:br>
              <a:rPr lang="en-US" sz="3600" b="1" dirty="0">
                <a:solidFill>
                  <a:schemeClr val="tx1"/>
                </a:solidFill>
                <a:latin typeface="Arial" panose="020B0604020202020204" pitchFamily="34" charset="0"/>
                <a:cs typeface="Arial" panose="020B0604020202020204" pitchFamily="34" charset="0"/>
              </a:rPr>
            </a:br>
            <a:r>
              <a:rPr lang="en-US" sz="3600" b="1" dirty="0">
                <a:solidFill>
                  <a:schemeClr val="tx1"/>
                </a:solidFill>
                <a:latin typeface="Arial" panose="020B0604020202020204" pitchFamily="34" charset="0"/>
                <a:cs typeface="Arial" panose="020B0604020202020204" pitchFamily="34" charset="0"/>
              </a:rPr>
              <a:t>CLO-1</a:t>
            </a:r>
            <a:r>
              <a:rPr lang="en-GB" sz="3600" dirty="0">
                <a:solidFill>
                  <a:schemeClr val="tx1"/>
                </a:solidFill>
                <a:latin typeface="Arial" panose="020B0604020202020204" pitchFamily="34" charset="0"/>
                <a:cs typeface="Arial" panose="020B0604020202020204" pitchFamily="34" charset="0"/>
              </a:rPr>
              <a:t> </a:t>
            </a:r>
            <a:endParaRPr lang="en-US" sz="3600" dirty="0">
              <a:solidFill>
                <a:schemeClr val="tx1"/>
              </a:solidFill>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84412365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422031"/>
          </a:xfrm>
        </p:spPr>
        <p:txBody>
          <a:bodyPr>
            <a:normAutofit fontScale="90000"/>
          </a:bodyPr>
          <a:lstStyle/>
          <a:p>
            <a:endParaRPr lang="en-US"/>
          </a:p>
        </p:txBody>
      </p:sp>
      <p:sp>
        <p:nvSpPr>
          <p:cNvPr id="3" name="Content Placeholder 2"/>
          <p:cNvSpPr>
            <a:spLocks noGrp="1"/>
          </p:cNvSpPr>
          <p:nvPr>
            <p:ph idx="1"/>
          </p:nvPr>
        </p:nvSpPr>
        <p:spPr>
          <a:xfrm>
            <a:off x="199292" y="1301263"/>
            <a:ext cx="9074710" cy="4740100"/>
          </a:xfrm>
        </p:spPr>
        <p:style>
          <a:lnRef idx="2">
            <a:schemeClr val="dk1"/>
          </a:lnRef>
          <a:fillRef idx="1">
            <a:schemeClr val="lt1"/>
          </a:fillRef>
          <a:effectRef idx="0">
            <a:schemeClr val="dk1"/>
          </a:effectRef>
          <a:fontRef idx="minor">
            <a:schemeClr val="dk1"/>
          </a:fontRef>
        </p:style>
        <p:txBody>
          <a:bodyPr>
            <a:noAutofit/>
          </a:bodyPr>
          <a:lstStyle/>
          <a:p>
            <a:r>
              <a:rPr lang="en-GB" sz="2800" dirty="0">
                <a:latin typeface="Arial" panose="020B0604020202020204" pitchFamily="34" charset="0"/>
                <a:cs typeface="Arial" panose="020B0604020202020204" pitchFamily="34" charset="0"/>
              </a:rPr>
              <a:t>The modern Internet originated from ARPANET, a project launched in 1969 by the United States Department of </a:t>
            </a:r>
            <a:r>
              <a:rPr lang="en-GB" sz="2800" dirty="0" err="1">
                <a:latin typeface="Arial" panose="020B0604020202020204" pitchFamily="34" charset="0"/>
                <a:cs typeface="Arial" panose="020B0604020202020204" pitchFamily="34" charset="0"/>
              </a:rPr>
              <a:t>Defense</a:t>
            </a:r>
            <a:r>
              <a:rPr lang="en-GB" sz="2800" dirty="0">
                <a:latin typeface="Arial" panose="020B0604020202020204" pitchFamily="34" charset="0"/>
                <a:cs typeface="Arial" panose="020B0604020202020204" pitchFamily="34" charset="0"/>
              </a:rPr>
              <a:t>. In 1983, the adoption of the TCP/IP protocol standardized data communication across networks. The invention of the World Wide Web by Tim Berners-Lee in 1989 transformed the Internet into a global information system. By 2000, internet access had expanded rapidly, reshaping communication, commerce, and education worldwide.</a:t>
            </a:r>
            <a:endParaRPr 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0381950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GB" sz="2800" dirty="0">
                <a:latin typeface="Arial" panose="020B0604020202020204" pitchFamily="34" charset="0"/>
                <a:cs typeface="Arial" panose="020B0604020202020204" pitchFamily="34" charset="0"/>
              </a:rPr>
              <a:t>What is the text about?</a:t>
            </a:r>
          </a:p>
          <a:p>
            <a:r>
              <a:rPr lang="en-GB" sz="2800" dirty="0">
                <a:latin typeface="Arial" panose="020B0604020202020204" pitchFamily="34" charset="0"/>
                <a:cs typeface="Arial" panose="020B0604020202020204" pitchFamily="34" charset="0"/>
              </a:rPr>
              <a:t>Is it academic or informal?</a:t>
            </a:r>
          </a:p>
          <a:p>
            <a:r>
              <a:rPr lang="en-GB" sz="2800" dirty="0">
                <a:latin typeface="Arial" panose="020B0604020202020204" pitchFamily="34" charset="0"/>
                <a:cs typeface="Arial" panose="020B0604020202020204" pitchFamily="34" charset="0"/>
              </a:rPr>
              <a:t>Would this text help for an assignment?</a:t>
            </a:r>
          </a:p>
          <a:p>
            <a:endParaRPr 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7800331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1636333"/>
            <a:ext cx="9515178" cy="2813747"/>
          </a:xfrm>
        </p:spPr>
        <p:txBody>
          <a:bodyPr>
            <a:normAutofit/>
          </a:bodyPr>
          <a:lstStyle/>
          <a:p>
            <a:pPr marL="0" indent="0">
              <a:buNone/>
            </a:pPr>
            <a:r>
              <a:rPr lang="en-GB" sz="2800" b="1" dirty="0">
                <a:solidFill>
                  <a:schemeClr val="tx1"/>
                </a:solidFill>
                <a:latin typeface="Arial" panose="020B0604020202020204" pitchFamily="34" charset="0"/>
                <a:cs typeface="Arial" panose="020B0604020202020204" pitchFamily="34" charset="0"/>
              </a:rPr>
              <a:t>By the end of this session, you will be able to:</a:t>
            </a:r>
          </a:p>
          <a:p>
            <a:r>
              <a:rPr lang="en-GB" sz="2800" dirty="0">
                <a:solidFill>
                  <a:schemeClr val="tx1"/>
                </a:solidFill>
                <a:latin typeface="Arial" panose="020B0604020202020204" pitchFamily="34" charset="0"/>
                <a:cs typeface="Arial" panose="020B0604020202020204" pitchFamily="34" charset="0"/>
              </a:rPr>
              <a:t>Skim a text to get the main idea quickly</a:t>
            </a:r>
          </a:p>
          <a:p>
            <a:r>
              <a:rPr lang="en-GB" sz="2800" dirty="0">
                <a:solidFill>
                  <a:schemeClr val="tx1"/>
                </a:solidFill>
                <a:latin typeface="Arial" panose="020B0604020202020204" pitchFamily="34" charset="0"/>
                <a:cs typeface="Arial" panose="020B0604020202020204" pitchFamily="34" charset="0"/>
              </a:rPr>
              <a:t>Scan a text to find specific information fast</a:t>
            </a:r>
          </a:p>
          <a:p>
            <a:r>
              <a:rPr lang="en-GB" sz="2800" dirty="0">
                <a:solidFill>
                  <a:schemeClr val="tx1"/>
                </a:solidFill>
                <a:latin typeface="Arial" panose="020B0604020202020204" pitchFamily="34" charset="0"/>
                <a:cs typeface="Arial" panose="020B0604020202020204" pitchFamily="34" charset="0"/>
              </a:rPr>
              <a:t>Read critically to question, analyze, and evaluate ideas</a:t>
            </a:r>
          </a:p>
          <a:p>
            <a:r>
              <a:rPr lang="en-GB" sz="2800" dirty="0">
                <a:solidFill>
                  <a:schemeClr val="tx1"/>
                </a:solidFill>
                <a:latin typeface="Arial" panose="020B0604020202020204" pitchFamily="34" charset="0"/>
                <a:cs typeface="Arial" panose="020B0604020202020204" pitchFamily="34" charset="0"/>
              </a:rPr>
              <a:t>Build new vocabulary </a:t>
            </a:r>
            <a:r>
              <a:rPr lang="en-GB" sz="2800" i="1" dirty="0">
                <a:solidFill>
                  <a:schemeClr val="tx1"/>
                </a:solidFill>
                <a:latin typeface="Arial" panose="020B0604020202020204" pitchFamily="34" charset="0"/>
                <a:cs typeface="Arial" panose="020B0604020202020204" pitchFamily="34" charset="0"/>
              </a:rPr>
              <a:t>(the bonus </a:t>
            </a:r>
            <a:r>
              <a:rPr lang="en-GB" sz="2800" i="1" dirty="0">
                <a:solidFill>
                  <a:schemeClr val="tx1"/>
                </a:solidFill>
                <a:latin typeface="Arial" panose="020B0604020202020204" pitchFamily="34" charset="0"/>
                <a:cs typeface="Arial" panose="020B0604020202020204" pitchFamily="34" charset="0"/>
                <a:sym typeface="Wingdings" panose="05000000000000000000" pitchFamily="2" charset="2"/>
              </a:rPr>
              <a:t>of reading </a:t>
            </a:r>
            <a:r>
              <a:rPr lang="en-GB" sz="2800" b="1" dirty="0">
                <a:solidFill>
                  <a:schemeClr val="tx1"/>
                </a:solidFill>
                <a:latin typeface="Arial" panose="020B0604020202020204" pitchFamily="34" charset="0"/>
                <a:cs typeface="Arial" panose="020B0604020202020204" pitchFamily="34" charset="0"/>
                <a:sym typeface="Wingdings" panose="05000000000000000000" pitchFamily="2" charset="2"/>
              </a:rPr>
              <a:t></a:t>
            </a:r>
            <a:r>
              <a:rPr lang="en-GB" sz="2800" i="1" dirty="0">
                <a:solidFill>
                  <a:schemeClr val="tx1"/>
                </a:solidFill>
                <a:latin typeface="Arial" panose="020B0604020202020204" pitchFamily="34" charset="0"/>
                <a:cs typeface="Arial" panose="020B0604020202020204" pitchFamily="34" charset="0"/>
              </a:rPr>
              <a:t>)</a:t>
            </a:r>
          </a:p>
        </p:txBody>
      </p:sp>
      <p:sp>
        <p:nvSpPr>
          <p:cNvPr id="5" name="Title 4">
            <a:extLst>
              <a:ext uri="{FF2B5EF4-FFF2-40B4-BE49-F238E27FC236}">
                <a16:creationId xmlns:a16="http://schemas.microsoft.com/office/drawing/2014/main" xmlns="" id="{3CBF27B9-D166-1AA5-03B6-1638FB273727}"/>
              </a:ext>
            </a:extLst>
          </p:cNvPr>
          <p:cNvSpPr>
            <a:spLocks noGrp="1"/>
          </p:cNvSpPr>
          <p:nvPr>
            <p:ph type="title"/>
          </p:nvPr>
        </p:nvSpPr>
        <p:spPr>
          <a:xfrm>
            <a:off x="677334" y="609600"/>
            <a:ext cx="8596668" cy="865632"/>
          </a:xfrm>
        </p:spPr>
        <p:txBody>
          <a:bodyPr>
            <a:normAutofit/>
          </a:bodyPr>
          <a:lstStyle/>
          <a:p>
            <a:r>
              <a:rPr lang="en-US" sz="3200" b="1" dirty="0">
                <a:solidFill>
                  <a:schemeClr val="tx1"/>
                </a:solidFill>
                <a:latin typeface="Arial" panose="020B0604020202020204" pitchFamily="34" charset="0"/>
                <a:cs typeface="Arial" panose="020B0604020202020204" pitchFamily="34" charset="0"/>
              </a:rPr>
              <a:t>Learning Objectives:</a:t>
            </a:r>
          </a:p>
        </p:txBody>
      </p:sp>
      <p:pic>
        <p:nvPicPr>
          <p:cNvPr id="2" name="Picture 1"/>
          <p:cNvPicPr>
            <a:picLocks noChangeAspect="1"/>
          </p:cNvPicPr>
          <p:nvPr/>
        </p:nvPicPr>
        <p:blipFill>
          <a:blip r:embed="rId3"/>
          <a:stretch>
            <a:fillRect/>
          </a:stretch>
        </p:blipFill>
        <p:spPr>
          <a:xfrm>
            <a:off x="8663355" y="0"/>
            <a:ext cx="3235568" cy="2672861"/>
          </a:xfrm>
          <a:prstGeom prst="rect">
            <a:avLst/>
          </a:prstGeom>
          <a:solidFill>
            <a:srgbClr val="0070C0"/>
          </a:solidFill>
          <a:ln>
            <a:solidFill>
              <a:schemeClr val="accent1"/>
            </a:solidFill>
          </a:ln>
        </p:spPr>
      </p:pic>
    </p:spTree>
    <p:extLst>
      <p:ext uri="{BB962C8B-B14F-4D97-AF65-F5344CB8AC3E}">
        <p14:creationId xmlns:p14="http://schemas.microsoft.com/office/powerpoint/2010/main" val="377701535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489" y="139485"/>
            <a:ext cx="10120392" cy="3890074"/>
          </a:xfrm>
        </p:spPr>
        <p:txBody>
          <a:bodyPr>
            <a:normAutofit/>
          </a:bodyPr>
          <a:lstStyle/>
          <a:p>
            <a:r>
              <a:rPr lang="en-GB" dirty="0">
                <a:solidFill>
                  <a:schemeClr val="tx1"/>
                </a:solidFill>
                <a:latin typeface="Arial" panose="020B0604020202020204" pitchFamily="34" charset="0"/>
                <a:cs typeface="Arial" panose="020B0604020202020204" pitchFamily="34" charset="0"/>
              </a:rPr>
              <a:t/>
            </a:r>
            <a:br>
              <a:rPr lang="en-GB" dirty="0">
                <a:solidFill>
                  <a:schemeClr val="tx1"/>
                </a:solidFill>
                <a:latin typeface="Arial" panose="020B0604020202020204" pitchFamily="34" charset="0"/>
                <a:cs typeface="Arial" panose="020B0604020202020204" pitchFamily="34" charset="0"/>
              </a:rPr>
            </a:br>
            <a:r>
              <a:rPr lang="en-GB" dirty="0">
                <a:solidFill>
                  <a:schemeClr val="tx1"/>
                </a:solidFill>
                <a:latin typeface="Arial" panose="020B0604020202020204" pitchFamily="34" charset="0"/>
                <a:cs typeface="Arial" panose="020B0604020202020204" pitchFamily="34" charset="0"/>
              </a:rPr>
              <a:t/>
            </a:r>
            <a:br>
              <a:rPr lang="en-GB" dirty="0">
                <a:solidFill>
                  <a:schemeClr val="tx1"/>
                </a:solidFill>
                <a:latin typeface="Arial" panose="020B0604020202020204" pitchFamily="34" charset="0"/>
                <a:cs typeface="Arial" panose="020B0604020202020204" pitchFamily="34" charset="0"/>
              </a:rPr>
            </a:br>
            <a:r>
              <a:rPr lang="en-GB" dirty="0">
                <a:solidFill>
                  <a:schemeClr val="tx1"/>
                </a:solidFill>
                <a:latin typeface="Arial" panose="020B0604020202020204" pitchFamily="34" charset="0"/>
                <a:cs typeface="Arial" panose="020B0604020202020204" pitchFamily="34" charset="0"/>
              </a:rPr>
              <a:t/>
            </a:r>
            <a:br>
              <a:rPr lang="en-GB" dirty="0">
                <a:solidFill>
                  <a:schemeClr val="tx1"/>
                </a:solidFill>
                <a:latin typeface="Arial" panose="020B0604020202020204" pitchFamily="34" charset="0"/>
                <a:cs typeface="Arial" panose="020B0604020202020204" pitchFamily="34" charset="0"/>
              </a:rPr>
            </a:br>
            <a:r>
              <a:rPr lang="en-GB" b="1" dirty="0">
                <a:solidFill>
                  <a:schemeClr val="tx1"/>
                </a:solidFill>
                <a:latin typeface="Arial" panose="020B0604020202020204" pitchFamily="34" charset="0"/>
                <a:cs typeface="Arial" panose="020B0604020202020204" pitchFamily="34" charset="0"/>
              </a:rPr>
              <a:t> </a:t>
            </a:r>
            <a:endParaRPr lang="en-US" dirty="0">
              <a:solidFill>
                <a:schemeClr val="tx1"/>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263471" y="3471621"/>
            <a:ext cx="10414861" cy="4572000"/>
          </a:xfrm>
        </p:spPr>
        <p:txBody>
          <a:bodyPr>
            <a:noAutofit/>
          </a:bodyPr>
          <a:lstStyle/>
          <a:p>
            <a:endParaRPr lang="en-GB" sz="2800" dirty="0">
              <a:solidFill>
                <a:schemeClr val="tx1"/>
              </a:solidFill>
              <a:latin typeface="Arial" panose="020B0604020202020204" pitchFamily="34" charset="0"/>
              <a:cs typeface="Arial" panose="020B0604020202020204" pitchFamily="34" charset="0"/>
            </a:endParaRPr>
          </a:p>
          <a:p>
            <a:endParaRPr lang="en-GB" sz="2800" dirty="0">
              <a:solidFill>
                <a:schemeClr val="tx1"/>
              </a:solidFill>
              <a:latin typeface="Arial" panose="020B0604020202020204" pitchFamily="34" charset="0"/>
              <a:cs typeface="Arial" panose="020B0604020202020204" pitchFamily="34" charset="0"/>
            </a:endParaRPr>
          </a:p>
          <a:p>
            <a:pPr marL="0" indent="0">
              <a:buNone/>
            </a:pPr>
            <a:r>
              <a:rPr lang="en-GB" sz="2800" dirty="0">
                <a:solidFill>
                  <a:schemeClr val="tx1"/>
                </a:solidFill>
                <a:latin typeface="Arial" panose="020B0604020202020204" pitchFamily="34" charset="0"/>
                <a:cs typeface="Arial" panose="020B0604020202020204" pitchFamily="34" charset="0"/>
              </a:rPr>
              <a:t/>
            </a:r>
            <a:br>
              <a:rPr lang="en-GB" sz="2800" dirty="0">
                <a:solidFill>
                  <a:schemeClr val="tx1"/>
                </a:solidFill>
                <a:latin typeface="Arial" panose="020B0604020202020204" pitchFamily="34" charset="0"/>
                <a:cs typeface="Arial" panose="020B0604020202020204" pitchFamily="34" charset="0"/>
              </a:rPr>
            </a:br>
            <a:r>
              <a:rPr lang="en-GB" sz="2800" dirty="0">
                <a:solidFill>
                  <a:schemeClr val="tx1"/>
                </a:solidFill>
                <a:latin typeface="Arial" panose="020B0604020202020204" pitchFamily="34" charset="0"/>
                <a:cs typeface="Arial" panose="020B0604020202020204" pitchFamily="34" charset="0"/>
              </a:rPr>
              <a:t/>
            </a:r>
            <a:br>
              <a:rPr lang="en-GB" sz="2800" dirty="0">
                <a:solidFill>
                  <a:schemeClr val="tx1"/>
                </a:solidFill>
                <a:latin typeface="Arial" panose="020B0604020202020204" pitchFamily="34" charset="0"/>
                <a:cs typeface="Arial" panose="020B0604020202020204" pitchFamily="34" charset="0"/>
              </a:rPr>
            </a:br>
            <a:r>
              <a:rPr lang="en-GB" sz="2800" dirty="0">
                <a:solidFill>
                  <a:schemeClr val="tx1"/>
                </a:solidFill>
                <a:latin typeface="Arial" panose="020B0604020202020204" pitchFamily="34" charset="0"/>
                <a:cs typeface="Arial" panose="020B0604020202020204" pitchFamily="34" charset="0"/>
              </a:rPr>
              <a:t>  </a:t>
            </a:r>
            <a:r>
              <a:rPr lang="en-GB" sz="2800" b="1" dirty="0">
                <a:solidFill>
                  <a:schemeClr val="tx1"/>
                </a:solidFill>
                <a:latin typeface="Arial" panose="020B0604020202020204" pitchFamily="34" charset="0"/>
                <a:cs typeface="Arial" panose="020B0604020202020204" pitchFamily="34" charset="0"/>
              </a:rPr>
              <a:t>Skimming</a:t>
            </a:r>
            <a:r>
              <a:rPr lang="en-GB" sz="2800" dirty="0">
                <a:solidFill>
                  <a:schemeClr val="tx1"/>
                </a:solidFill>
                <a:latin typeface="Arial" panose="020B0604020202020204" pitchFamily="34" charset="0"/>
                <a:cs typeface="Arial" panose="020B0604020202020204" pitchFamily="34" charset="0"/>
              </a:rPr>
              <a:t> is a fast-reading technique used to get the general    </a:t>
            </a:r>
          </a:p>
          <a:p>
            <a:pPr marL="0" indent="0">
              <a:buNone/>
            </a:pPr>
            <a:r>
              <a:rPr lang="en-GB" sz="2800" dirty="0">
                <a:solidFill>
                  <a:schemeClr val="tx1"/>
                </a:solidFill>
                <a:latin typeface="Arial" panose="020B0604020202020204" pitchFamily="34" charset="0"/>
                <a:cs typeface="Arial" panose="020B0604020202020204" pitchFamily="34" charset="0"/>
              </a:rPr>
              <a:t>  idea of a text without reading every word. </a:t>
            </a:r>
            <a:br>
              <a:rPr lang="en-GB" sz="2800" dirty="0">
                <a:solidFill>
                  <a:schemeClr val="tx1"/>
                </a:solidFill>
                <a:latin typeface="Arial" panose="020B0604020202020204" pitchFamily="34" charset="0"/>
                <a:cs typeface="Arial" panose="020B0604020202020204" pitchFamily="34" charset="0"/>
              </a:rPr>
            </a:br>
            <a:endParaRPr lang="en-GB" sz="2800" dirty="0">
              <a:solidFill>
                <a:schemeClr val="tx1"/>
              </a:solidFill>
              <a:latin typeface="Arial" panose="020B0604020202020204" pitchFamily="34" charset="0"/>
              <a:cs typeface="Arial" panose="020B0604020202020204" pitchFamily="34" charset="0"/>
            </a:endParaRPr>
          </a:p>
          <a:p>
            <a:endParaRPr lang="en-GB" sz="2800" dirty="0">
              <a:solidFill>
                <a:schemeClr val="tx1"/>
              </a:solidFill>
              <a:latin typeface="Arial" panose="020B0604020202020204" pitchFamily="34" charset="0"/>
              <a:cs typeface="Arial" panose="020B0604020202020204" pitchFamily="34" charset="0"/>
            </a:endParaRPr>
          </a:p>
          <a:p>
            <a:endParaRPr lang="en-GB" sz="2800" dirty="0">
              <a:solidFill>
                <a:schemeClr val="tx1"/>
              </a:solidFill>
              <a:latin typeface="Arial" panose="020B0604020202020204" pitchFamily="34" charset="0"/>
              <a:cs typeface="Arial" panose="020B0604020202020204" pitchFamily="34" charset="0"/>
            </a:endParaRPr>
          </a:p>
          <a:p>
            <a:endParaRPr lang="en-GB" sz="2800" dirty="0">
              <a:solidFill>
                <a:schemeClr val="tx1"/>
              </a:solidFill>
              <a:latin typeface="Arial" panose="020B0604020202020204" pitchFamily="34" charset="0"/>
              <a:cs typeface="Arial" panose="020B0604020202020204" pitchFamily="34" charset="0"/>
            </a:endParaRPr>
          </a:p>
          <a:p>
            <a:endParaRPr lang="en-GB" sz="2800" dirty="0">
              <a:solidFill>
                <a:schemeClr val="tx1"/>
              </a:solidFill>
              <a:latin typeface="Arial" panose="020B0604020202020204" pitchFamily="34" charset="0"/>
              <a:cs typeface="Arial" panose="020B0604020202020204" pitchFamily="34" charset="0"/>
            </a:endParaRPr>
          </a:p>
          <a:p>
            <a:endParaRPr lang="en-GB" sz="2800" dirty="0">
              <a:solidFill>
                <a:schemeClr val="tx1"/>
              </a:solidFill>
              <a:latin typeface="Arial" panose="020B0604020202020204" pitchFamily="34" charset="0"/>
              <a:cs typeface="Arial" panose="020B0604020202020204" pitchFamily="34" charset="0"/>
            </a:endParaRPr>
          </a:p>
          <a:p>
            <a:endParaRPr lang="en-GB" sz="2800" dirty="0">
              <a:solidFill>
                <a:schemeClr val="tx1"/>
              </a:solidFill>
              <a:latin typeface="Arial" panose="020B0604020202020204" pitchFamily="34" charset="0"/>
              <a:cs typeface="Arial" panose="020B0604020202020204" pitchFamily="34" charset="0"/>
            </a:endParaRPr>
          </a:p>
          <a:p>
            <a:endParaRPr lang="en-GB" sz="2800" dirty="0">
              <a:solidFill>
                <a:schemeClr val="tx1"/>
              </a:solidFill>
              <a:latin typeface="Arial" panose="020B0604020202020204" pitchFamily="34" charset="0"/>
              <a:cs typeface="Arial" panose="020B0604020202020204" pitchFamily="34" charset="0"/>
            </a:endParaRPr>
          </a:p>
          <a:p>
            <a:endParaRPr lang="en-GB" sz="2800" dirty="0">
              <a:solidFill>
                <a:schemeClr val="tx1"/>
              </a:solidFill>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3"/>
          <a:stretch>
            <a:fillRect/>
          </a:stretch>
        </p:blipFill>
        <p:spPr>
          <a:xfrm>
            <a:off x="5956513" y="0"/>
            <a:ext cx="6106332" cy="5083446"/>
          </a:xfrm>
          <a:prstGeom prst="rect">
            <a:avLst/>
          </a:prstGeom>
        </p:spPr>
      </p:pic>
      <p:pic>
        <p:nvPicPr>
          <p:cNvPr id="7" name="Picture 6"/>
          <p:cNvPicPr>
            <a:picLocks noChangeAspect="1"/>
          </p:cNvPicPr>
          <p:nvPr/>
        </p:nvPicPr>
        <p:blipFill>
          <a:blip r:embed="rId4"/>
          <a:stretch>
            <a:fillRect/>
          </a:stretch>
        </p:blipFill>
        <p:spPr>
          <a:xfrm>
            <a:off x="594101" y="0"/>
            <a:ext cx="4876800" cy="5083446"/>
          </a:xfrm>
          <a:prstGeom prst="rect">
            <a:avLst/>
          </a:prstGeom>
        </p:spPr>
      </p:pic>
    </p:spTree>
    <p:extLst>
      <p:ext uri="{BB962C8B-B14F-4D97-AF65-F5344CB8AC3E}">
        <p14:creationId xmlns:p14="http://schemas.microsoft.com/office/powerpoint/2010/main" val="2705207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A92CE877-0194-6E88-D58F-AF9D5C341C4F}"/>
              </a:ext>
            </a:extLst>
          </p:cNvPr>
          <p:cNvSpPr>
            <a:spLocks noGrp="1"/>
          </p:cNvSpPr>
          <p:nvPr>
            <p:ph idx="1"/>
          </p:nvPr>
        </p:nvSpPr>
        <p:spPr>
          <a:xfrm>
            <a:off x="1603926" y="1999488"/>
            <a:ext cx="5857578" cy="2252915"/>
          </a:xfrm>
        </p:spPr>
        <p:txBody>
          <a:bodyPr>
            <a:normAutofit/>
          </a:bodyPr>
          <a:lstStyle/>
          <a:p>
            <a:r>
              <a:rPr lang="en-GB" sz="2800" b="1" dirty="0">
                <a:solidFill>
                  <a:schemeClr val="tx1"/>
                </a:solidFill>
                <a:latin typeface="Arial" panose="020B0604020202020204" pitchFamily="34" charset="0"/>
                <a:cs typeface="Arial" panose="020B0604020202020204" pitchFamily="34" charset="0"/>
              </a:rPr>
              <a:t>Skimming</a:t>
            </a:r>
          </a:p>
          <a:p>
            <a:r>
              <a:rPr lang="en-GB" sz="2800" b="1" dirty="0">
                <a:solidFill>
                  <a:schemeClr val="tx1"/>
                </a:solidFill>
                <a:latin typeface="Arial" panose="020B0604020202020204" pitchFamily="34" charset="0"/>
                <a:cs typeface="Arial" panose="020B0604020202020204" pitchFamily="34" charset="0"/>
              </a:rPr>
              <a:t>Scanning</a:t>
            </a:r>
          </a:p>
          <a:p>
            <a:r>
              <a:rPr lang="en-GB" sz="2800" b="1" dirty="0">
                <a:solidFill>
                  <a:schemeClr val="tx1"/>
                </a:solidFill>
                <a:latin typeface="Arial" panose="020B0604020202020204" pitchFamily="34" charset="0"/>
                <a:cs typeface="Arial" panose="020B0604020202020204" pitchFamily="34" charset="0"/>
              </a:rPr>
              <a:t>Critical Reading</a:t>
            </a:r>
            <a:endParaRPr lang="en-US" sz="2800" dirty="0"/>
          </a:p>
        </p:txBody>
      </p:sp>
      <p:sp>
        <p:nvSpPr>
          <p:cNvPr id="4" name="Title 1"/>
          <p:cNvSpPr txBox="1">
            <a:spLocks/>
          </p:cNvSpPr>
          <p:nvPr/>
        </p:nvSpPr>
        <p:spPr>
          <a:xfrm>
            <a:off x="1603926" y="901982"/>
            <a:ext cx="5756994" cy="1097506"/>
          </a:xfrm>
          <a:prstGeom prst="rect">
            <a:avLst/>
          </a:prstGeom>
        </p:spPr>
        <p:txBody>
          <a:bodyPr vert="horz" lIns="91440" tIns="45720" rIns="91440" bIns="45720" rtlCol="0" anchor="t">
            <a:normAutofit lnSpcReduction="1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b="1" dirty="0">
                <a:solidFill>
                  <a:schemeClr val="tx1"/>
                </a:solidFill>
                <a:latin typeface="Arial" panose="020B0604020202020204" pitchFamily="34" charset="0"/>
                <a:cs typeface="Arial" panose="020B0604020202020204" pitchFamily="34" charset="0"/>
              </a:rPr>
              <a:t>Reading Skills :</a:t>
            </a:r>
            <a:br>
              <a:rPr lang="en-GB" b="1" dirty="0">
                <a:solidFill>
                  <a:schemeClr val="tx1"/>
                </a:solidFill>
                <a:latin typeface="Arial" panose="020B0604020202020204" pitchFamily="34" charset="0"/>
                <a:cs typeface="Arial" panose="020B0604020202020204" pitchFamily="34" charset="0"/>
              </a:rPr>
            </a:br>
            <a:endParaRPr lang="en-GB"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401510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75744" y="260992"/>
            <a:ext cx="4185623" cy="755904"/>
          </a:xfrm>
        </p:spPr>
        <p:txBody>
          <a:bodyPr/>
          <a:lstStyle/>
          <a:p>
            <a:r>
              <a:rPr lang="en-GB" sz="2800" b="1" dirty="0">
                <a:solidFill>
                  <a:schemeClr val="tx1"/>
                </a:solidFill>
                <a:latin typeface="Arial" panose="020B0604020202020204" pitchFamily="34" charset="0"/>
                <a:cs typeface="Arial" panose="020B0604020202020204" pitchFamily="34" charset="0"/>
              </a:rPr>
              <a:t>Skimming</a:t>
            </a:r>
            <a:r>
              <a:rPr lang="en-GB" sz="2800" dirty="0">
                <a:solidFill>
                  <a:schemeClr val="tx1"/>
                </a:solidFill>
                <a:latin typeface="Arial" panose="020B0604020202020204" pitchFamily="34" charset="0"/>
                <a:cs typeface="Arial" panose="020B0604020202020204" pitchFamily="34" charset="0"/>
              </a:rPr>
              <a:t> helps you to</a:t>
            </a:r>
            <a:r>
              <a:rPr lang="en-GB" dirty="0">
                <a:solidFill>
                  <a:schemeClr val="tx1"/>
                </a:solidFill>
                <a:latin typeface="Arial" panose="020B0604020202020204" pitchFamily="34" charset="0"/>
                <a:cs typeface="Arial" panose="020B0604020202020204" pitchFamily="34" charset="0"/>
              </a:rPr>
              <a:t>:</a:t>
            </a:r>
          </a:p>
        </p:txBody>
      </p:sp>
      <p:sp>
        <p:nvSpPr>
          <p:cNvPr id="4" name="Content Placeholder 3"/>
          <p:cNvSpPr>
            <a:spLocks noGrp="1"/>
          </p:cNvSpPr>
          <p:nvPr>
            <p:ph sz="half" idx="2"/>
          </p:nvPr>
        </p:nvSpPr>
        <p:spPr>
          <a:xfrm>
            <a:off x="675744" y="1611825"/>
            <a:ext cx="4185623" cy="4928460"/>
          </a:xfrm>
        </p:spPr>
        <p:txBody>
          <a:bodyPr>
            <a:normAutofit/>
          </a:bodyPr>
          <a:lstStyle/>
          <a:p>
            <a:r>
              <a:rPr lang="en-GB" sz="2800" dirty="0">
                <a:solidFill>
                  <a:schemeClr val="tx1"/>
                </a:solidFill>
                <a:latin typeface="Arial" panose="020B0604020202020204" pitchFamily="34" charset="0"/>
                <a:cs typeface="Arial" panose="020B0604020202020204" pitchFamily="34" charset="0"/>
              </a:rPr>
              <a:t>Understand the main topic</a:t>
            </a:r>
          </a:p>
          <a:p>
            <a:r>
              <a:rPr lang="en-GB" sz="2800" dirty="0">
                <a:solidFill>
                  <a:schemeClr val="tx1"/>
                </a:solidFill>
                <a:latin typeface="Arial" panose="020B0604020202020204" pitchFamily="34" charset="0"/>
                <a:cs typeface="Arial" panose="020B0604020202020204" pitchFamily="34" charset="0"/>
              </a:rPr>
              <a:t>Identify the overall structure</a:t>
            </a:r>
          </a:p>
          <a:p>
            <a:r>
              <a:rPr lang="en-GB" sz="2800" dirty="0">
                <a:solidFill>
                  <a:schemeClr val="tx1"/>
                </a:solidFill>
                <a:latin typeface="Arial" panose="020B0604020202020204" pitchFamily="34" charset="0"/>
                <a:cs typeface="Arial" panose="020B0604020202020204" pitchFamily="34" charset="0"/>
              </a:rPr>
              <a:t>Decide if the text is useful or relevant</a:t>
            </a:r>
          </a:p>
          <a:p>
            <a:r>
              <a:rPr lang="en-GB" sz="2800" dirty="0">
                <a:solidFill>
                  <a:schemeClr val="tx1"/>
                </a:solidFill>
                <a:latin typeface="Arial" panose="020B0604020202020204" pitchFamily="34" charset="0"/>
                <a:cs typeface="Arial" panose="020B0604020202020204" pitchFamily="34" charset="0"/>
              </a:rPr>
              <a:t>Save time when reading long materials</a:t>
            </a:r>
          </a:p>
        </p:txBody>
      </p:sp>
      <p:sp>
        <p:nvSpPr>
          <p:cNvPr id="5" name="Text Placeholder 4"/>
          <p:cNvSpPr>
            <a:spLocks noGrp="1"/>
          </p:cNvSpPr>
          <p:nvPr>
            <p:ph type="body" sz="quarter" idx="3"/>
          </p:nvPr>
        </p:nvSpPr>
        <p:spPr>
          <a:xfrm>
            <a:off x="4990847" y="458958"/>
            <a:ext cx="4909057" cy="557938"/>
          </a:xfrm>
        </p:spPr>
        <p:txBody>
          <a:bodyPr/>
          <a:lstStyle/>
          <a:p>
            <a:r>
              <a:rPr lang="en-GB" sz="2800" b="1" dirty="0">
                <a:solidFill>
                  <a:schemeClr val="tx1"/>
                </a:solidFill>
                <a:latin typeface="Arial" panose="020B0604020202020204" pitchFamily="34" charset="0"/>
                <a:cs typeface="Arial" panose="020B0604020202020204" pitchFamily="34" charset="0"/>
              </a:rPr>
              <a:t>When skimming</a:t>
            </a:r>
            <a:r>
              <a:rPr lang="en-GB" sz="2800" dirty="0">
                <a:solidFill>
                  <a:schemeClr val="tx1"/>
                </a:solidFill>
                <a:latin typeface="Arial" panose="020B0604020202020204" pitchFamily="34" charset="0"/>
                <a:cs typeface="Arial" panose="020B0604020202020204" pitchFamily="34" charset="0"/>
              </a:rPr>
              <a:t>, you read:</a:t>
            </a:r>
          </a:p>
        </p:txBody>
      </p:sp>
      <p:sp>
        <p:nvSpPr>
          <p:cNvPr id="6" name="Content Placeholder 5"/>
          <p:cNvSpPr>
            <a:spLocks noGrp="1"/>
          </p:cNvSpPr>
          <p:nvPr>
            <p:ph sz="quarter" idx="4"/>
          </p:nvPr>
        </p:nvSpPr>
        <p:spPr>
          <a:xfrm>
            <a:off x="4861367" y="1611825"/>
            <a:ext cx="4773477" cy="4401519"/>
          </a:xfrm>
        </p:spPr>
        <p:txBody>
          <a:bodyPr>
            <a:noAutofit/>
          </a:bodyPr>
          <a:lstStyle/>
          <a:p>
            <a:r>
              <a:rPr lang="en-GB" sz="2800" dirty="0">
                <a:solidFill>
                  <a:schemeClr val="tx1"/>
                </a:solidFill>
                <a:latin typeface="Arial" panose="020B0604020202020204" pitchFamily="34" charset="0"/>
                <a:cs typeface="Arial" panose="020B0604020202020204" pitchFamily="34" charset="0"/>
              </a:rPr>
              <a:t>Title and subtitles</a:t>
            </a:r>
          </a:p>
          <a:p>
            <a:r>
              <a:rPr lang="en-GB" sz="2800" dirty="0">
                <a:solidFill>
                  <a:schemeClr val="tx1"/>
                </a:solidFill>
                <a:latin typeface="Arial" panose="020B0604020202020204" pitchFamily="34" charset="0"/>
                <a:cs typeface="Arial" panose="020B0604020202020204" pitchFamily="34" charset="0"/>
              </a:rPr>
              <a:t>Introduction and conclusion</a:t>
            </a:r>
          </a:p>
          <a:p>
            <a:r>
              <a:rPr lang="en-GB" sz="2800" dirty="0">
                <a:solidFill>
                  <a:schemeClr val="tx1"/>
                </a:solidFill>
                <a:latin typeface="Arial" panose="020B0604020202020204" pitchFamily="34" charset="0"/>
                <a:cs typeface="Arial" panose="020B0604020202020204" pitchFamily="34" charset="0"/>
              </a:rPr>
              <a:t>First and last sentences of paragraphs</a:t>
            </a:r>
          </a:p>
          <a:p>
            <a:r>
              <a:rPr lang="en-GB" sz="2800" dirty="0">
                <a:solidFill>
                  <a:schemeClr val="tx1"/>
                </a:solidFill>
                <a:latin typeface="Arial" panose="020B0604020202020204" pitchFamily="34" charset="0"/>
                <a:cs typeface="Arial" panose="020B0604020202020204" pitchFamily="34" charset="0"/>
              </a:rPr>
              <a:t>Highlighted words, bold terms, or italics</a:t>
            </a:r>
          </a:p>
          <a:p>
            <a:r>
              <a:rPr lang="en-GB" sz="2800" dirty="0">
                <a:solidFill>
                  <a:schemeClr val="tx1"/>
                </a:solidFill>
                <a:latin typeface="Arial" panose="020B0604020202020204" pitchFamily="34" charset="0"/>
                <a:cs typeface="Arial" panose="020B0604020202020204" pitchFamily="34" charset="0"/>
              </a:rPr>
              <a:t>Graphs, charts, or images</a:t>
            </a:r>
          </a:p>
        </p:txBody>
      </p:sp>
    </p:spTree>
    <p:extLst>
      <p:ext uri="{BB962C8B-B14F-4D97-AF65-F5344CB8AC3E}">
        <p14:creationId xmlns:p14="http://schemas.microsoft.com/office/powerpoint/2010/main" val="2393232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 calcmode="lin" valueType="num">
                                      <p:cBhvr additive="base">
                                        <p:cTn id="13"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 calcmode="lin" valueType="num">
                                      <p:cBhvr additive="base">
                                        <p:cTn id="19"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anim calcmode="lin" valueType="num">
                                      <p:cBhvr additive="base">
                                        <p:cTn id="25"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
                                            <p:txEl>
                                              <p:pRg st="3" end="3"/>
                                            </p:txEl>
                                          </p:spTgt>
                                        </p:tgtEl>
                                        <p:attrNameLst>
                                          <p:attrName>style.visibility</p:attrName>
                                        </p:attrNameLst>
                                      </p:cBhvr>
                                      <p:to>
                                        <p:strVal val="visible"/>
                                      </p:to>
                                    </p:set>
                                    <p:anim calcmode="lin" valueType="num">
                                      <p:cBhvr additive="base">
                                        <p:cTn id="31"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xEl>
                                              <p:pRg st="0" end="0"/>
                                            </p:txEl>
                                          </p:spTgt>
                                        </p:tgtEl>
                                        <p:attrNameLst>
                                          <p:attrName>style.visibility</p:attrName>
                                        </p:attrNameLst>
                                      </p:cBhvr>
                                      <p:to>
                                        <p:strVal val="visible"/>
                                      </p:to>
                                    </p:set>
                                    <p:anim calcmode="lin" valueType="num">
                                      <p:cBhvr additive="base">
                                        <p:cTn id="3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6">
                                            <p:txEl>
                                              <p:pRg st="0" end="0"/>
                                            </p:txEl>
                                          </p:spTgt>
                                        </p:tgtEl>
                                        <p:attrNameLst>
                                          <p:attrName>style.visibility</p:attrName>
                                        </p:attrNameLst>
                                      </p:cBhvr>
                                      <p:to>
                                        <p:strVal val="visible"/>
                                      </p:to>
                                    </p:set>
                                    <p:anim calcmode="lin" valueType="num">
                                      <p:cBhvr additive="base">
                                        <p:cTn id="43"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6">
                                            <p:txEl>
                                              <p:pRg st="1" end="1"/>
                                            </p:txEl>
                                          </p:spTgt>
                                        </p:tgtEl>
                                        <p:attrNameLst>
                                          <p:attrName>style.visibility</p:attrName>
                                        </p:attrNameLst>
                                      </p:cBhvr>
                                      <p:to>
                                        <p:strVal val="visible"/>
                                      </p:to>
                                    </p:set>
                                    <p:anim calcmode="lin" valueType="num">
                                      <p:cBhvr additive="base">
                                        <p:cTn id="49"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6">
                                            <p:txEl>
                                              <p:pRg st="2" end="2"/>
                                            </p:txEl>
                                          </p:spTgt>
                                        </p:tgtEl>
                                        <p:attrNameLst>
                                          <p:attrName>style.visibility</p:attrName>
                                        </p:attrNameLst>
                                      </p:cBhvr>
                                      <p:to>
                                        <p:strVal val="visible"/>
                                      </p:to>
                                    </p:set>
                                    <p:anim calcmode="lin" valueType="num">
                                      <p:cBhvr additive="base">
                                        <p:cTn id="55"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6">
                                            <p:txEl>
                                              <p:pRg st="3" end="3"/>
                                            </p:txEl>
                                          </p:spTgt>
                                        </p:tgtEl>
                                        <p:attrNameLst>
                                          <p:attrName>style.visibility</p:attrName>
                                        </p:attrNameLst>
                                      </p:cBhvr>
                                      <p:to>
                                        <p:strVal val="visible"/>
                                      </p:to>
                                    </p:set>
                                    <p:anim calcmode="lin" valueType="num">
                                      <p:cBhvr additive="base">
                                        <p:cTn id="61"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6">
                                            <p:txEl>
                                              <p:pRg st="4" end="4"/>
                                            </p:txEl>
                                          </p:spTgt>
                                        </p:tgtEl>
                                        <p:attrNameLst>
                                          <p:attrName>style.visibility</p:attrName>
                                        </p:attrNameLst>
                                      </p:cBhvr>
                                      <p:to>
                                        <p:strVal val="visible"/>
                                      </p:to>
                                    </p:set>
                                    <p:anim calcmode="lin" valueType="num">
                                      <p:cBhvr additive="base">
                                        <p:cTn id="67"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6"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33805" y="396482"/>
            <a:ext cx="4768381" cy="5338304"/>
          </a:xfrm>
        </p:spPr>
        <p:txBody>
          <a:bodyPr>
            <a:noAutofit/>
          </a:bodyPr>
          <a:lstStyle/>
          <a:p>
            <a:pPr marL="0" indent="0">
              <a:buNone/>
            </a:pPr>
            <a:r>
              <a:rPr lang="en-GB" sz="2800" b="1" dirty="0" smtClean="0">
                <a:latin typeface="Arial" panose="020B0604020202020204" pitchFamily="34" charset="0"/>
                <a:cs typeface="Arial" panose="020B0604020202020204" pitchFamily="34" charset="0"/>
              </a:rPr>
              <a:t>When </a:t>
            </a:r>
            <a:r>
              <a:rPr lang="en-GB" sz="2800" b="1" dirty="0">
                <a:latin typeface="Arial" panose="020B0604020202020204" pitchFamily="34" charset="0"/>
                <a:cs typeface="Arial" panose="020B0604020202020204" pitchFamily="34" charset="0"/>
              </a:rPr>
              <a:t>Do We Use Skimming?</a:t>
            </a:r>
          </a:p>
          <a:p>
            <a:r>
              <a:rPr lang="en-GB" sz="2800" dirty="0">
                <a:latin typeface="Arial" panose="020B0604020202020204" pitchFamily="34" charset="0"/>
                <a:cs typeface="Arial" panose="020B0604020202020204" pitchFamily="34" charset="0"/>
              </a:rPr>
              <a:t>Before reading an article in detail</a:t>
            </a:r>
          </a:p>
          <a:p>
            <a:r>
              <a:rPr lang="en-GB" sz="2800" dirty="0">
                <a:latin typeface="Arial" panose="020B0604020202020204" pitchFamily="34" charset="0"/>
                <a:cs typeface="Arial" panose="020B0604020202020204" pitchFamily="34" charset="0"/>
              </a:rPr>
              <a:t>When previewing a chapter before class</a:t>
            </a:r>
          </a:p>
          <a:p>
            <a:r>
              <a:rPr lang="en-GB" sz="2800" dirty="0">
                <a:latin typeface="Arial" panose="020B0604020202020204" pitchFamily="34" charset="0"/>
                <a:cs typeface="Arial" panose="020B0604020202020204" pitchFamily="34" charset="0"/>
              </a:rPr>
              <a:t>During exams to understand questions quickly</a:t>
            </a:r>
          </a:p>
          <a:p>
            <a:r>
              <a:rPr lang="en-GB" sz="2800" dirty="0">
                <a:latin typeface="Arial" panose="020B0604020202020204" pitchFamily="34" charset="0"/>
                <a:cs typeface="Arial" panose="020B0604020202020204" pitchFamily="34" charset="0"/>
              </a:rPr>
              <a:t>When checking if a source is worth reading</a:t>
            </a:r>
          </a:p>
        </p:txBody>
      </p:sp>
      <p:sp>
        <p:nvSpPr>
          <p:cNvPr id="4" name="Content Placeholder 3"/>
          <p:cNvSpPr>
            <a:spLocks noGrp="1"/>
          </p:cNvSpPr>
          <p:nvPr>
            <p:ph sz="half" idx="2"/>
          </p:nvPr>
        </p:nvSpPr>
        <p:spPr>
          <a:xfrm>
            <a:off x="5465528" y="893072"/>
            <a:ext cx="3942588" cy="5071856"/>
          </a:xfrm>
        </p:spPr>
        <p:txBody>
          <a:bodyPr>
            <a:noAutofit/>
          </a:bodyPr>
          <a:lstStyle/>
          <a:p>
            <a:pPr marL="0" indent="0">
              <a:buNone/>
            </a:pPr>
            <a:r>
              <a:rPr lang="en-GB" sz="2800" b="1" dirty="0" smtClean="0">
                <a:latin typeface="Arial" panose="020B0604020202020204" pitchFamily="34" charset="0"/>
                <a:cs typeface="Arial" panose="020B0604020202020204" pitchFamily="34" charset="0"/>
              </a:rPr>
              <a:t>Scanning </a:t>
            </a:r>
            <a:r>
              <a:rPr lang="en-GB" sz="2800" b="1" dirty="0">
                <a:latin typeface="Arial" panose="020B0604020202020204" pitchFamily="34" charset="0"/>
                <a:cs typeface="Arial" panose="020B0604020202020204" pitchFamily="34" charset="0"/>
              </a:rPr>
              <a:t>lets you understand:</a:t>
            </a:r>
          </a:p>
          <a:p>
            <a:pPr lvl="1">
              <a:buFont typeface="Wingdings" panose="05000000000000000000" pitchFamily="2" charset="2"/>
              <a:buChar char="Ø"/>
            </a:pPr>
            <a:r>
              <a:rPr lang="en-GB" sz="2800" dirty="0">
                <a:latin typeface="Arial" panose="020B0604020202020204" pitchFamily="34" charset="0"/>
                <a:cs typeface="Arial" panose="020B0604020202020204" pitchFamily="34" charset="0"/>
              </a:rPr>
              <a:t>The topic</a:t>
            </a:r>
          </a:p>
          <a:p>
            <a:pPr lvl="1">
              <a:buFont typeface="Wingdings" panose="05000000000000000000" pitchFamily="2" charset="2"/>
              <a:buChar char="Ø"/>
            </a:pPr>
            <a:r>
              <a:rPr lang="en-GB" sz="2800" dirty="0">
                <a:latin typeface="Arial" panose="020B0604020202020204" pitchFamily="34" charset="0"/>
                <a:cs typeface="Arial" panose="020B0604020202020204" pitchFamily="34" charset="0"/>
              </a:rPr>
              <a:t>The author’s main argument</a:t>
            </a:r>
          </a:p>
          <a:p>
            <a:pPr lvl="1">
              <a:buFont typeface="Wingdings" panose="05000000000000000000" pitchFamily="2" charset="2"/>
              <a:buChar char="Ø"/>
            </a:pPr>
            <a:r>
              <a:rPr lang="en-GB" sz="2800" dirty="0">
                <a:latin typeface="Arial" panose="020B0604020202020204" pitchFamily="34" charset="0"/>
                <a:cs typeface="Arial" panose="020B0604020202020204" pitchFamily="34" charset="0"/>
              </a:rPr>
              <a:t>The organization of ideas</a:t>
            </a:r>
          </a:p>
          <a:p>
            <a:pPr>
              <a:buFont typeface="Wingdings" panose="05000000000000000000" pitchFamily="2" charset="2"/>
              <a:buChar char="Ø"/>
            </a:pPr>
            <a:endParaRPr lang="en-GB" sz="2800" dirty="0">
              <a:latin typeface="Arial" panose="020B0604020202020204" pitchFamily="34" charset="0"/>
              <a:cs typeface="Arial" panose="020B0604020202020204" pitchFamily="34" charset="0"/>
            </a:endParaRPr>
          </a:p>
          <a:p>
            <a:pPr>
              <a:buFont typeface="Wingdings" panose="05000000000000000000" pitchFamily="2" charset="2"/>
              <a:buChar char="Ø"/>
            </a:pPr>
            <a:endParaRPr lang="en-GB"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1405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156309" y="-35169"/>
            <a:ext cx="11250243" cy="5439508"/>
          </a:xfrm>
          <a:prstGeom prst="rect">
            <a:avLst/>
          </a:prstGeom>
          <a:solidFill>
            <a:schemeClr val="accent6">
              <a:lumMod val="40000"/>
              <a:lumOff val="60000"/>
            </a:schemeClr>
          </a:solidFill>
        </p:spPr>
      </p:pic>
      <p:pic>
        <p:nvPicPr>
          <p:cNvPr id="6" name="Picture 5"/>
          <p:cNvPicPr>
            <a:picLocks noChangeAspect="1"/>
          </p:cNvPicPr>
          <p:nvPr/>
        </p:nvPicPr>
        <p:blipFill>
          <a:blip r:embed="rId4"/>
          <a:stretch>
            <a:fillRect/>
          </a:stretch>
        </p:blipFill>
        <p:spPr>
          <a:xfrm>
            <a:off x="1946031" y="574431"/>
            <a:ext cx="8780583" cy="5877332"/>
          </a:xfrm>
          <a:prstGeom prst="rect">
            <a:avLst/>
          </a:prstGeom>
          <a:solidFill>
            <a:schemeClr val="accent6">
              <a:lumMod val="40000"/>
              <a:lumOff val="60000"/>
            </a:schemeClr>
          </a:solidFill>
        </p:spPr>
      </p:pic>
    </p:spTree>
    <p:extLst>
      <p:ext uri="{BB962C8B-B14F-4D97-AF65-F5344CB8AC3E}">
        <p14:creationId xmlns:p14="http://schemas.microsoft.com/office/powerpoint/2010/main" val="3310488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a:t> </a:t>
            </a:r>
            <a:endParaRPr lang="en-GB" dirty="0"/>
          </a:p>
        </p:txBody>
      </p:sp>
      <p:sp>
        <p:nvSpPr>
          <p:cNvPr id="3" name="Content Placeholder 2"/>
          <p:cNvSpPr>
            <a:spLocks noGrp="1"/>
          </p:cNvSpPr>
          <p:nvPr>
            <p:ph idx="1"/>
          </p:nvPr>
        </p:nvSpPr>
        <p:spPr>
          <a:xfrm>
            <a:off x="832317" y="0"/>
            <a:ext cx="8596668" cy="7160217"/>
          </a:xfrm>
        </p:spPr>
        <p:txBody>
          <a:bodyPr>
            <a:noAutofit/>
          </a:bodyPr>
          <a:lstStyle/>
          <a:p>
            <a:r>
              <a:rPr lang="en-GB" sz="2800" b="1" dirty="0">
                <a:solidFill>
                  <a:schemeClr val="tx1"/>
                </a:solidFill>
                <a:latin typeface="Arial" panose="020B0604020202020204" pitchFamily="34" charset="0"/>
                <a:cs typeface="Arial" panose="020B0604020202020204" pitchFamily="34" charset="0"/>
              </a:rPr>
              <a:t>Scanning</a:t>
            </a:r>
            <a:r>
              <a:rPr lang="en-GB" sz="2800" dirty="0">
                <a:solidFill>
                  <a:schemeClr val="tx1"/>
                </a:solidFill>
                <a:latin typeface="Arial" panose="020B0604020202020204" pitchFamily="34" charset="0"/>
                <a:cs typeface="Arial" panose="020B0604020202020204" pitchFamily="34" charset="0"/>
              </a:rPr>
              <a:t> is a fast-reading technique used to find specific information in a text without reading everything.</a:t>
            </a:r>
          </a:p>
          <a:p>
            <a:r>
              <a:rPr lang="en-GB" sz="2800" b="1" dirty="0">
                <a:solidFill>
                  <a:schemeClr val="tx1"/>
                </a:solidFill>
                <a:latin typeface="Arial" panose="020B0604020202020204" pitchFamily="34" charset="0"/>
                <a:cs typeface="Arial" panose="020B0604020202020204" pitchFamily="34" charset="0"/>
              </a:rPr>
              <a:t> When scanning, you: </a:t>
            </a:r>
          </a:p>
          <a:p>
            <a:r>
              <a:rPr lang="en-GB" sz="2800" dirty="0">
                <a:solidFill>
                  <a:schemeClr val="tx1"/>
                </a:solidFill>
                <a:latin typeface="Arial" panose="020B0604020202020204" pitchFamily="34" charset="0"/>
                <a:cs typeface="Arial" panose="020B0604020202020204" pitchFamily="34" charset="0"/>
              </a:rPr>
              <a:t>Decide what information you need first (a date, name, number, keyword)</a:t>
            </a:r>
          </a:p>
          <a:p>
            <a:r>
              <a:rPr lang="en-GB" sz="2800" dirty="0">
                <a:solidFill>
                  <a:schemeClr val="tx1"/>
                </a:solidFill>
                <a:latin typeface="Arial" panose="020B0604020202020204" pitchFamily="34" charset="0"/>
                <a:cs typeface="Arial" panose="020B0604020202020204" pitchFamily="34" charset="0"/>
              </a:rPr>
              <a:t>Move your eyes quickly down the page</a:t>
            </a:r>
          </a:p>
          <a:p>
            <a:r>
              <a:rPr lang="en-GB" sz="2800" b="1" dirty="0">
                <a:solidFill>
                  <a:schemeClr val="tx1"/>
                </a:solidFill>
                <a:latin typeface="Arial" panose="020B0604020202020204" pitchFamily="34" charset="0"/>
                <a:cs typeface="Arial" panose="020B0604020202020204" pitchFamily="34" charset="0"/>
              </a:rPr>
              <a:t>Focus on:</a:t>
            </a:r>
          </a:p>
          <a:p>
            <a:r>
              <a:rPr lang="en-GB" sz="2800" dirty="0">
                <a:solidFill>
                  <a:schemeClr val="tx1"/>
                </a:solidFill>
                <a:latin typeface="Arial" panose="020B0604020202020204" pitchFamily="34" charset="0"/>
                <a:cs typeface="Arial" panose="020B0604020202020204" pitchFamily="34" charset="0"/>
              </a:rPr>
              <a:t>Numbers</a:t>
            </a:r>
          </a:p>
          <a:p>
            <a:r>
              <a:rPr lang="en-GB" sz="2800" dirty="0">
                <a:solidFill>
                  <a:schemeClr val="tx1"/>
                </a:solidFill>
                <a:latin typeface="Arial" panose="020B0604020202020204" pitchFamily="34" charset="0"/>
                <a:cs typeface="Arial" panose="020B0604020202020204" pitchFamily="34" charset="0"/>
              </a:rPr>
              <a:t>Capital letters</a:t>
            </a:r>
          </a:p>
          <a:p>
            <a:r>
              <a:rPr lang="en-GB" sz="2800" dirty="0">
                <a:solidFill>
                  <a:schemeClr val="tx1"/>
                </a:solidFill>
                <a:latin typeface="Arial" panose="020B0604020202020204" pitchFamily="34" charset="0"/>
                <a:cs typeface="Arial" panose="020B0604020202020204" pitchFamily="34" charset="0"/>
              </a:rPr>
              <a:t>Keywords</a:t>
            </a:r>
          </a:p>
          <a:p>
            <a:r>
              <a:rPr lang="en-GB" sz="2800" dirty="0">
                <a:solidFill>
                  <a:schemeClr val="tx1"/>
                </a:solidFill>
                <a:latin typeface="Arial" panose="020B0604020202020204" pitchFamily="34" charset="0"/>
                <a:cs typeface="Arial" panose="020B0604020202020204" pitchFamily="34" charset="0"/>
              </a:rPr>
              <a:t>Headings, tables, lists</a:t>
            </a:r>
          </a:p>
          <a:p>
            <a:endParaRPr lang="en-GB" sz="2800" dirty="0">
              <a:solidFill>
                <a:schemeClr val="tx1"/>
              </a:solidFill>
              <a:latin typeface="Arial" panose="020B0604020202020204" pitchFamily="34" charset="0"/>
              <a:cs typeface="Arial" panose="020B0604020202020204" pitchFamily="34" charset="0"/>
            </a:endParaRPr>
          </a:p>
          <a:p>
            <a:endParaRPr lang="en-GB" sz="2800" dirty="0">
              <a:solidFill>
                <a:schemeClr val="tx1"/>
              </a:solidFill>
              <a:latin typeface="Arial" panose="020B0604020202020204" pitchFamily="34" charset="0"/>
              <a:cs typeface="Arial" panose="020B0604020202020204" pitchFamily="34" charset="0"/>
            </a:endParaRPr>
          </a:p>
          <a:p>
            <a:endParaRPr lang="en-GB" sz="2800" dirty="0">
              <a:solidFill>
                <a:schemeClr val="tx1"/>
              </a:solidFill>
              <a:latin typeface="Arial" panose="020B0604020202020204" pitchFamily="34" charset="0"/>
              <a:cs typeface="Arial" panose="020B0604020202020204" pitchFamily="34" charset="0"/>
            </a:endParaRPr>
          </a:p>
          <a:p>
            <a:endParaRPr lang="en-US" sz="28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286752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7830520" y="21823"/>
            <a:ext cx="4361480" cy="4277532"/>
          </a:xfrm>
          <a:prstGeom prst="rect">
            <a:avLst/>
          </a:prstGeom>
        </p:spPr>
      </p:pic>
      <p:sp>
        <p:nvSpPr>
          <p:cNvPr id="2" name="Title 1"/>
          <p:cNvSpPr>
            <a:spLocks noGrp="1"/>
          </p:cNvSpPr>
          <p:nvPr>
            <p:ph type="title"/>
          </p:nvPr>
        </p:nvSpPr>
        <p:spPr>
          <a:xfrm>
            <a:off x="487842" y="206632"/>
            <a:ext cx="8596668" cy="786431"/>
          </a:xfrm>
        </p:spPr>
        <p:txBody>
          <a:bodyPr/>
          <a:lstStyle/>
          <a:p>
            <a:r>
              <a:rPr lang="en-GB" b="1" dirty="0">
                <a:solidFill>
                  <a:schemeClr val="tx1"/>
                </a:solidFill>
                <a:latin typeface="Arial" panose="020B0604020202020204" pitchFamily="34" charset="0"/>
                <a:cs typeface="Arial" panose="020B0604020202020204" pitchFamily="34" charset="0"/>
              </a:rPr>
              <a:t>When Do We Use Scanning?</a:t>
            </a:r>
            <a:endParaRPr lang="en-US" dirty="0">
              <a:solidFill>
                <a:schemeClr val="tx1"/>
              </a:solidFill>
            </a:endParaRPr>
          </a:p>
        </p:txBody>
      </p:sp>
      <p:sp>
        <p:nvSpPr>
          <p:cNvPr id="3" name="Content Placeholder 2"/>
          <p:cNvSpPr>
            <a:spLocks noGrp="1"/>
          </p:cNvSpPr>
          <p:nvPr>
            <p:ph idx="1"/>
          </p:nvPr>
        </p:nvSpPr>
        <p:spPr>
          <a:xfrm>
            <a:off x="340963" y="1177872"/>
            <a:ext cx="7888637" cy="5331416"/>
          </a:xfrm>
        </p:spPr>
        <p:txBody>
          <a:bodyPr>
            <a:noAutofit/>
          </a:bodyPr>
          <a:lstStyle/>
          <a:p>
            <a:r>
              <a:rPr lang="en-GB" sz="2800" dirty="0">
                <a:solidFill>
                  <a:schemeClr val="tx1"/>
                </a:solidFill>
                <a:latin typeface="Arial" panose="020B0604020202020204" pitchFamily="34" charset="0"/>
                <a:cs typeface="Arial" panose="020B0604020202020204" pitchFamily="34" charset="0"/>
              </a:rPr>
              <a:t>Looking for a </a:t>
            </a:r>
            <a:r>
              <a:rPr lang="en-GB" sz="2800" b="1" dirty="0">
                <a:solidFill>
                  <a:schemeClr val="tx1"/>
                </a:solidFill>
                <a:latin typeface="Arial" panose="020B0604020202020204" pitchFamily="34" charset="0"/>
                <a:cs typeface="Arial" panose="020B0604020202020204" pitchFamily="34" charset="0"/>
              </a:rPr>
              <a:t>date</a:t>
            </a:r>
            <a:r>
              <a:rPr lang="en-GB" sz="2800" dirty="0">
                <a:solidFill>
                  <a:schemeClr val="tx1"/>
                </a:solidFill>
                <a:latin typeface="Arial" panose="020B0604020202020204" pitchFamily="34" charset="0"/>
                <a:cs typeface="Arial" panose="020B0604020202020204" pitchFamily="34" charset="0"/>
              </a:rPr>
              <a:t> in a history text</a:t>
            </a:r>
          </a:p>
          <a:p>
            <a:r>
              <a:rPr lang="en-GB" sz="2800" dirty="0">
                <a:solidFill>
                  <a:schemeClr val="tx1"/>
                </a:solidFill>
                <a:latin typeface="Arial" panose="020B0604020202020204" pitchFamily="34" charset="0"/>
                <a:cs typeface="Arial" panose="020B0604020202020204" pitchFamily="34" charset="0"/>
              </a:rPr>
              <a:t>Finding a </a:t>
            </a:r>
            <a:r>
              <a:rPr lang="en-GB" sz="2800" b="1" dirty="0">
                <a:solidFill>
                  <a:schemeClr val="tx1"/>
                </a:solidFill>
                <a:latin typeface="Arial" panose="020B0604020202020204" pitchFamily="34" charset="0"/>
                <a:cs typeface="Arial" panose="020B0604020202020204" pitchFamily="34" charset="0"/>
              </a:rPr>
              <a:t>definition</a:t>
            </a:r>
            <a:r>
              <a:rPr lang="en-GB" sz="2800" dirty="0">
                <a:solidFill>
                  <a:schemeClr val="tx1"/>
                </a:solidFill>
                <a:latin typeface="Arial" panose="020B0604020202020204" pitchFamily="34" charset="0"/>
                <a:cs typeface="Arial" panose="020B0604020202020204" pitchFamily="34" charset="0"/>
              </a:rPr>
              <a:t> in a textbook</a:t>
            </a:r>
          </a:p>
          <a:p>
            <a:r>
              <a:rPr lang="en-GB" sz="2800" dirty="0">
                <a:solidFill>
                  <a:schemeClr val="tx1"/>
                </a:solidFill>
                <a:latin typeface="Arial" panose="020B0604020202020204" pitchFamily="34" charset="0"/>
                <a:cs typeface="Arial" panose="020B0604020202020204" pitchFamily="34" charset="0"/>
              </a:rPr>
              <a:t>Checking a </a:t>
            </a:r>
            <a:r>
              <a:rPr lang="en-GB" sz="2800" b="1" dirty="0">
                <a:solidFill>
                  <a:schemeClr val="tx1"/>
                </a:solidFill>
                <a:latin typeface="Arial" panose="020B0604020202020204" pitchFamily="34" charset="0"/>
                <a:cs typeface="Arial" panose="020B0604020202020204" pitchFamily="34" charset="0"/>
              </a:rPr>
              <a:t>price</a:t>
            </a:r>
            <a:r>
              <a:rPr lang="en-GB" sz="2800" dirty="0">
                <a:solidFill>
                  <a:schemeClr val="tx1"/>
                </a:solidFill>
                <a:latin typeface="Arial" panose="020B0604020202020204" pitchFamily="34" charset="0"/>
                <a:cs typeface="Arial" panose="020B0604020202020204" pitchFamily="34" charset="0"/>
              </a:rPr>
              <a:t> or </a:t>
            </a:r>
            <a:r>
              <a:rPr lang="en-GB" sz="2800" b="1" dirty="0">
                <a:solidFill>
                  <a:schemeClr val="tx1"/>
                </a:solidFill>
                <a:latin typeface="Arial" panose="020B0604020202020204" pitchFamily="34" charset="0"/>
                <a:cs typeface="Arial" panose="020B0604020202020204" pitchFamily="34" charset="0"/>
              </a:rPr>
              <a:t>time</a:t>
            </a:r>
            <a:r>
              <a:rPr lang="en-GB" sz="2800" dirty="0">
                <a:solidFill>
                  <a:schemeClr val="tx1"/>
                </a:solidFill>
                <a:latin typeface="Arial" panose="020B0604020202020204" pitchFamily="34" charset="0"/>
                <a:cs typeface="Arial" panose="020B0604020202020204" pitchFamily="34" charset="0"/>
              </a:rPr>
              <a:t> in a schedule</a:t>
            </a:r>
          </a:p>
          <a:p>
            <a:r>
              <a:rPr lang="en-GB" sz="2800" dirty="0">
                <a:solidFill>
                  <a:schemeClr val="tx1"/>
                </a:solidFill>
                <a:latin typeface="Arial" panose="020B0604020202020204" pitchFamily="34" charset="0"/>
                <a:cs typeface="Arial" panose="020B0604020202020204" pitchFamily="34" charset="0"/>
              </a:rPr>
              <a:t>Answering </a:t>
            </a:r>
            <a:r>
              <a:rPr lang="en-GB" sz="2800" b="1" dirty="0">
                <a:solidFill>
                  <a:schemeClr val="tx1"/>
                </a:solidFill>
                <a:latin typeface="Arial" panose="020B0604020202020204" pitchFamily="34" charset="0"/>
                <a:cs typeface="Arial" panose="020B0604020202020204" pitchFamily="34" charset="0"/>
              </a:rPr>
              <a:t>exam questions</a:t>
            </a:r>
            <a:endParaRPr lang="en-GB" sz="2800" dirty="0">
              <a:solidFill>
                <a:schemeClr val="tx1"/>
              </a:solidFill>
              <a:latin typeface="Arial" panose="020B0604020202020204" pitchFamily="34" charset="0"/>
              <a:cs typeface="Arial" panose="020B0604020202020204" pitchFamily="34" charset="0"/>
            </a:endParaRPr>
          </a:p>
          <a:p>
            <a:r>
              <a:rPr lang="en-GB" sz="2800" dirty="0">
                <a:solidFill>
                  <a:schemeClr val="tx1"/>
                </a:solidFill>
                <a:latin typeface="Arial" panose="020B0604020202020204" pitchFamily="34" charset="0"/>
                <a:cs typeface="Arial" panose="020B0604020202020204" pitchFamily="34" charset="0"/>
              </a:rPr>
              <a:t>Searching for a </a:t>
            </a:r>
            <a:r>
              <a:rPr lang="en-GB" sz="2800" b="1" dirty="0">
                <a:solidFill>
                  <a:schemeClr val="tx1"/>
                </a:solidFill>
                <a:latin typeface="Arial" panose="020B0604020202020204" pitchFamily="34" charset="0"/>
                <a:cs typeface="Arial" panose="020B0604020202020204" pitchFamily="34" charset="0"/>
              </a:rPr>
              <a:t>keyword</a:t>
            </a:r>
            <a:r>
              <a:rPr lang="en-GB" sz="2800" dirty="0">
                <a:solidFill>
                  <a:schemeClr val="tx1"/>
                </a:solidFill>
                <a:latin typeface="Arial" panose="020B0604020202020204" pitchFamily="34" charset="0"/>
                <a:cs typeface="Arial" panose="020B0604020202020204" pitchFamily="34" charset="0"/>
              </a:rPr>
              <a:t> in an article</a:t>
            </a:r>
          </a:p>
          <a:p>
            <a:pPr marL="0" indent="0">
              <a:buNone/>
            </a:pPr>
            <a:endParaRPr lang="en-GB" sz="2800" dirty="0">
              <a:solidFill>
                <a:schemeClr val="tx1"/>
              </a:solidFill>
              <a:latin typeface="Arial" panose="020B0604020202020204" pitchFamily="34" charset="0"/>
              <a:cs typeface="Arial" panose="020B0604020202020204" pitchFamily="34" charset="0"/>
            </a:endParaRPr>
          </a:p>
          <a:p>
            <a:pPr>
              <a:buFont typeface="Wingdings" panose="05000000000000000000" pitchFamily="2" charset="2"/>
              <a:buChar char="Ø"/>
            </a:pPr>
            <a:r>
              <a:rPr lang="en-GB" sz="2800" dirty="0">
                <a:solidFill>
                  <a:schemeClr val="tx1"/>
                </a:solidFill>
                <a:latin typeface="Arial" panose="020B0604020202020204" pitchFamily="34" charset="0"/>
                <a:cs typeface="Arial" panose="020B0604020202020204" pitchFamily="34" charset="0"/>
              </a:rPr>
              <a:t>Scanning is a reading strategy used to quickly locate specific information in a text.</a:t>
            </a:r>
          </a:p>
        </p:txBody>
      </p:sp>
    </p:spTree>
    <p:extLst>
      <p:ext uri="{BB962C8B-B14F-4D97-AF65-F5344CB8AC3E}">
        <p14:creationId xmlns:p14="http://schemas.microsoft.com/office/powerpoint/2010/main" val="133169243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7062" y="219456"/>
            <a:ext cx="8596668" cy="816864"/>
          </a:xfrm>
        </p:spPr>
        <p:txBody>
          <a:bodyPr/>
          <a:lstStyle/>
          <a:p>
            <a:r>
              <a:rPr lang="en-US" b="1" dirty="0">
                <a:solidFill>
                  <a:schemeClr val="tx1"/>
                </a:solidFill>
                <a:latin typeface="Arial" panose="020B0604020202020204" pitchFamily="34" charset="0"/>
                <a:cs typeface="Arial" panose="020B0604020202020204" pitchFamily="34" charset="0"/>
              </a:rPr>
              <a:t>Reading Strategies</a:t>
            </a:r>
            <a:endParaRPr lang="en-US" dirty="0">
              <a:solidFill>
                <a:schemeClr val="tx1"/>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677334" y="1317357"/>
            <a:ext cx="9272578" cy="4724006"/>
          </a:xfrm>
        </p:spPr>
        <p:txBody>
          <a:bodyPr>
            <a:noAutofit/>
          </a:bodyPr>
          <a:lstStyle/>
          <a:p>
            <a:r>
              <a:rPr lang="en-US" sz="2800" dirty="0">
                <a:solidFill>
                  <a:schemeClr val="tx1"/>
                </a:solidFill>
                <a:latin typeface="Arial" panose="020B0604020202020204" pitchFamily="34" charset="0"/>
                <a:cs typeface="Arial" panose="020B0604020202020204" pitchFamily="34" charset="0"/>
              </a:rPr>
              <a:t>Preview ➔ Plan ➔ Annotate ➔ Summarize important information</a:t>
            </a:r>
          </a:p>
          <a:p>
            <a:endParaRPr lang="en-US" sz="2800" dirty="0">
              <a:solidFill>
                <a:schemeClr val="tx1"/>
              </a:solidFill>
              <a:latin typeface="Arial" panose="020B0604020202020204" pitchFamily="34" charset="0"/>
              <a:cs typeface="Arial" panose="020B0604020202020204" pitchFamily="34" charset="0"/>
            </a:endParaRPr>
          </a:p>
          <a:p>
            <a:r>
              <a:rPr lang="en-US" sz="2800" dirty="0">
                <a:solidFill>
                  <a:schemeClr val="tx1"/>
                </a:solidFill>
                <a:latin typeface="Arial" panose="020B0604020202020204" pitchFamily="34" charset="0"/>
                <a:cs typeface="Arial" panose="020B0604020202020204" pitchFamily="34" charset="0"/>
              </a:rPr>
              <a:t>Find ➔ WHO, WHAT, WHEN, WHERE, WHY, HOW</a:t>
            </a:r>
          </a:p>
          <a:p>
            <a:endParaRPr lang="en-US" sz="2800" dirty="0">
              <a:solidFill>
                <a:schemeClr val="tx1"/>
              </a:solidFill>
              <a:latin typeface="Arial" panose="020B0604020202020204" pitchFamily="34" charset="0"/>
              <a:cs typeface="Arial" panose="020B0604020202020204" pitchFamily="34" charset="0"/>
            </a:endParaRPr>
          </a:p>
          <a:p>
            <a:r>
              <a:rPr lang="en-US" sz="2800" dirty="0">
                <a:solidFill>
                  <a:schemeClr val="tx1"/>
                </a:solidFill>
                <a:latin typeface="Arial" panose="020B0604020202020204" pitchFamily="34" charset="0"/>
                <a:cs typeface="Arial" panose="020B0604020202020204" pitchFamily="34" charset="0"/>
              </a:rPr>
              <a:t>Ask Qs. ➔ Define New Words ➔ Know-Want to Know</a:t>
            </a:r>
          </a:p>
          <a:p>
            <a:endParaRPr lang="en-US" sz="2800" dirty="0">
              <a:solidFill>
                <a:schemeClr val="tx1"/>
              </a:solidFill>
              <a:latin typeface="Arial" panose="020B0604020202020204" pitchFamily="34" charset="0"/>
              <a:cs typeface="Arial" panose="020B0604020202020204" pitchFamily="34" charset="0"/>
            </a:endParaRPr>
          </a:p>
          <a:p>
            <a:r>
              <a:rPr lang="en-US" sz="2800" dirty="0">
                <a:solidFill>
                  <a:schemeClr val="tx1"/>
                </a:solidFill>
                <a:latin typeface="Arial" panose="020B0604020202020204" pitchFamily="34" charset="0"/>
                <a:cs typeface="Arial" panose="020B0604020202020204" pitchFamily="34" charset="0"/>
              </a:rPr>
              <a:t> Connect to : ◆ Self ◆ World ◆ Other Texts </a:t>
            </a:r>
          </a:p>
        </p:txBody>
      </p:sp>
    </p:spTree>
    <p:extLst>
      <p:ext uri="{BB962C8B-B14F-4D97-AF65-F5344CB8AC3E}">
        <p14:creationId xmlns:p14="http://schemas.microsoft.com/office/powerpoint/2010/main" val="194863045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7486" y="274749"/>
            <a:ext cx="8596668" cy="847241"/>
          </a:xfrm>
        </p:spPr>
        <p:txBody>
          <a:bodyPr>
            <a:normAutofit/>
          </a:bodyPr>
          <a:lstStyle/>
          <a:p>
            <a:r>
              <a:rPr lang="en-GB" sz="3200" b="1" dirty="0">
                <a:solidFill>
                  <a:schemeClr val="tx1"/>
                </a:solidFill>
                <a:latin typeface="Arial" panose="020B0604020202020204" pitchFamily="34" charset="0"/>
                <a:cs typeface="Arial" panose="020B0604020202020204" pitchFamily="34" charset="0"/>
              </a:rPr>
              <a:t>Annotating the text with Marginal Notes</a:t>
            </a:r>
            <a:endParaRPr lang="en-US" sz="3200" dirty="0">
              <a:solidFill>
                <a:schemeClr val="tx1"/>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677334" y="1121991"/>
            <a:ext cx="8596668" cy="4919372"/>
          </a:xfrm>
        </p:spPr>
        <p:txBody>
          <a:bodyPr>
            <a:noAutofit/>
          </a:bodyPr>
          <a:lstStyle/>
          <a:p>
            <a:r>
              <a:rPr lang="en-GB" sz="2800" b="1" dirty="0">
                <a:solidFill>
                  <a:schemeClr val="tx1"/>
                </a:solidFill>
                <a:latin typeface="Arial" panose="020B0604020202020204" pitchFamily="34" charset="0"/>
                <a:cs typeface="Arial" panose="020B0604020202020204" pitchFamily="34" charset="0"/>
              </a:rPr>
              <a:t>What to annotate in a </a:t>
            </a:r>
            <a:r>
              <a:rPr lang="en-GB" sz="2800" b="1" dirty="0" smtClean="0">
                <a:solidFill>
                  <a:schemeClr val="tx1"/>
                </a:solidFill>
                <a:latin typeface="Arial" panose="020B0604020202020204" pitchFamily="34" charset="0"/>
                <a:cs typeface="Arial" panose="020B0604020202020204" pitchFamily="34" charset="0"/>
              </a:rPr>
              <a:t>text for skimming</a:t>
            </a:r>
            <a:endParaRPr lang="en-GB" sz="2800" b="1" dirty="0">
              <a:solidFill>
                <a:schemeClr val="tx1"/>
              </a:solidFill>
              <a:latin typeface="Arial" panose="020B0604020202020204" pitchFamily="34" charset="0"/>
              <a:cs typeface="Arial" panose="020B0604020202020204" pitchFamily="34" charset="0"/>
            </a:endParaRPr>
          </a:p>
          <a:p>
            <a:pPr marL="457200" indent="-457200">
              <a:buClr>
                <a:srgbClr val="0070C0"/>
              </a:buClr>
              <a:buFont typeface="+mj-lt"/>
              <a:buAutoNum type="alphaLcPeriod"/>
            </a:pPr>
            <a:r>
              <a:rPr lang="en-GB" sz="2800" dirty="0">
                <a:solidFill>
                  <a:schemeClr val="tx1"/>
                </a:solidFill>
                <a:latin typeface="Arial" panose="020B0604020202020204" pitchFamily="34" charset="0"/>
                <a:cs typeface="Arial" panose="020B0604020202020204" pitchFamily="34" charset="0"/>
              </a:rPr>
              <a:t>Memorable statements or important points</a:t>
            </a:r>
          </a:p>
          <a:p>
            <a:pPr marL="457200" indent="-457200">
              <a:buFont typeface="+mj-lt"/>
              <a:buAutoNum type="alphaLcPeriod"/>
            </a:pPr>
            <a:r>
              <a:rPr lang="en-GB" sz="2800" dirty="0" smtClean="0">
                <a:solidFill>
                  <a:schemeClr val="tx1"/>
                </a:solidFill>
                <a:latin typeface="Arial" panose="020B0604020202020204" pitchFamily="34" charset="0"/>
                <a:cs typeface="Arial" panose="020B0604020202020204" pitchFamily="34" charset="0"/>
              </a:rPr>
              <a:t>Central issues or themes</a:t>
            </a:r>
          </a:p>
          <a:p>
            <a:pPr marL="457200" indent="-457200">
              <a:buFont typeface="+mj-lt"/>
              <a:buAutoNum type="alphaLcPeriod"/>
            </a:pPr>
            <a:r>
              <a:rPr lang="en-GB" sz="2800" dirty="0">
                <a:solidFill>
                  <a:schemeClr val="tx1"/>
                </a:solidFill>
                <a:latin typeface="Arial" panose="020B0604020202020204" pitchFamily="34" charset="0"/>
                <a:cs typeface="Arial" panose="020B0604020202020204" pitchFamily="34" charset="0"/>
              </a:rPr>
              <a:t>Your response to a specific point or passage</a:t>
            </a:r>
          </a:p>
          <a:p>
            <a:pPr marL="457200" indent="-457200">
              <a:buFont typeface="+mj-lt"/>
              <a:buAutoNum type="alphaLcPeriod"/>
            </a:pPr>
            <a:r>
              <a:rPr lang="en-GB" sz="2800" dirty="0" smtClean="0">
                <a:solidFill>
                  <a:schemeClr val="tx1"/>
                </a:solidFill>
                <a:latin typeface="Arial" panose="020B0604020202020204" pitchFamily="34" charset="0"/>
                <a:cs typeface="Arial" panose="020B0604020202020204" pitchFamily="34" charset="0"/>
              </a:rPr>
              <a:t>Examples that support a main point</a:t>
            </a:r>
          </a:p>
          <a:p>
            <a:r>
              <a:rPr lang="en-GB" sz="2800" dirty="0" smtClean="0">
                <a:solidFill>
                  <a:schemeClr val="tx1"/>
                </a:solidFill>
                <a:latin typeface="Arial" panose="020B0604020202020204" pitchFamily="34" charset="0"/>
                <a:cs typeface="Arial" panose="020B0604020202020204" pitchFamily="34" charset="0"/>
              </a:rPr>
              <a:t>For Scanning</a:t>
            </a:r>
          </a:p>
          <a:p>
            <a:pPr marL="457200" indent="-457200">
              <a:buFont typeface="+mj-lt"/>
              <a:buAutoNum type="alphaLcPeriod"/>
            </a:pPr>
            <a:r>
              <a:rPr lang="en-GB" sz="2800" dirty="0" smtClean="0">
                <a:solidFill>
                  <a:schemeClr val="tx1"/>
                </a:solidFill>
                <a:latin typeface="Arial" panose="020B0604020202020204" pitchFamily="34" charset="0"/>
                <a:cs typeface="Arial" panose="020B0604020202020204" pitchFamily="34" charset="0"/>
              </a:rPr>
              <a:t>Unfamiliar </a:t>
            </a:r>
            <a:r>
              <a:rPr lang="en-GB" sz="2800" dirty="0">
                <a:solidFill>
                  <a:schemeClr val="tx1"/>
                </a:solidFill>
                <a:latin typeface="Arial" panose="020B0604020202020204" pitchFamily="34" charset="0"/>
                <a:cs typeface="Arial" panose="020B0604020202020204" pitchFamily="34" charset="0"/>
              </a:rPr>
              <a:t>words</a:t>
            </a:r>
          </a:p>
          <a:p>
            <a:pPr marL="457200" indent="-457200">
              <a:buFont typeface="+mj-lt"/>
              <a:buAutoNum type="alphaLcPeriod"/>
            </a:pPr>
            <a:r>
              <a:rPr lang="en-GB" sz="2800" dirty="0">
                <a:solidFill>
                  <a:schemeClr val="tx1"/>
                </a:solidFill>
                <a:latin typeface="Arial" panose="020B0604020202020204" pitchFamily="34" charset="0"/>
                <a:cs typeface="Arial" panose="020B0604020202020204" pitchFamily="34" charset="0"/>
              </a:rPr>
              <a:t>Questions about a point or passage</a:t>
            </a:r>
          </a:p>
          <a:p>
            <a:pPr marL="457200" indent="-457200">
              <a:buFont typeface="+mj-lt"/>
              <a:buAutoNum type="alphaLcPeriod"/>
            </a:pPr>
            <a:r>
              <a:rPr lang="en-GB" sz="2800" dirty="0" smtClean="0">
                <a:solidFill>
                  <a:schemeClr val="tx1"/>
                </a:solidFill>
                <a:latin typeface="Arial" panose="020B0604020202020204" pitchFamily="34" charset="0"/>
                <a:cs typeface="Arial" panose="020B0604020202020204" pitchFamily="34" charset="0"/>
              </a:rPr>
              <a:t> Key </a:t>
            </a:r>
            <a:r>
              <a:rPr lang="en-GB" sz="2800" dirty="0">
                <a:solidFill>
                  <a:schemeClr val="tx1"/>
                </a:solidFill>
                <a:latin typeface="Arial" panose="020B0604020202020204" pitchFamily="34" charset="0"/>
                <a:cs typeface="Arial" panose="020B0604020202020204" pitchFamily="34" charset="0"/>
              </a:rPr>
              <a:t>terms or concepts</a:t>
            </a:r>
          </a:p>
          <a:p>
            <a:pPr marL="457200" indent="-457200">
              <a:buFont typeface="+mj-lt"/>
              <a:buAutoNum type="alphaLcPeriod"/>
            </a:pPr>
            <a:endParaRPr lang="en-GB" sz="2800" dirty="0">
              <a:solidFill>
                <a:schemeClr val="tx1"/>
              </a:solidFill>
              <a:latin typeface="Arial" panose="020B0604020202020204" pitchFamily="34" charset="0"/>
              <a:cs typeface="Arial" panose="020B0604020202020204" pitchFamily="34" charset="0"/>
            </a:endParaRPr>
          </a:p>
          <a:p>
            <a:pPr marL="457200" indent="-457200">
              <a:buFont typeface="+mj-lt"/>
              <a:buAutoNum type="alphaLcPeriod"/>
            </a:pPr>
            <a:endParaRPr lang="en-GB" sz="28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4574527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1" y="187569"/>
            <a:ext cx="8899642" cy="1524000"/>
          </a:xfrm>
        </p:spPr>
        <p:txBody>
          <a:bodyPr>
            <a:normAutofit fontScale="90000"/>
          </a:bodyPr>
          <a:lstStyle/>
          <a:p>
            <a:r>
              <a:rPr lang="en-GB" b="1" dirty="0">
                <a:solidFill>
                  <a:schemeClr val="tx1"/>
                </a:solidFill>
                <a:latin typeface="Arial" panose="020B0604020202020204" pitchFamily="34" charset="0"/>
                <a:cs typeface="Arial" panose="020B0604020202020204" pitchFamily="34" charset="0"/>
              </a:rPr>
              <a:t>Which event mentioned in the paragraph happened first, and what was its significance in relation to later </a:t>
            </a:r>
            <a:r>
              <a:rPr lang="en-GB" b="1" dirty="0" smtClean="0">
                <a:solidFill>
                  <a:schemeClr val="tx1"/>
                </a:solidFill>
                <a:latin typeface="Arial" panose="020B0604020202020204" pitchFamily="34" charset="0"/>
                <a:cs typeface="Arial" panose="020B0604020202020204" pitchFamily="34" charset="0"/>
              </a:rPr>
              <a:t>developments and also provide title?</a:t>
            </a:r>
            <a:endParaRPr lang="en-US" b="1" dirty="0">
              <a:solidFill>
                <a:schemeClr val="tx1"/>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609601" y="2403231"/>
            <a:ext cx="9906000" cy="4067907"/>
          </a:xfrm>
          <a:solidFill>
            <a:schemeClr val="accent1">
              <a:lumMod val="20000"/>
              <a:lumOff val="80000"/>
            </a:schemeClr>
          </a:solidFill>
        </p:spPr>
        <p:txBody>
          <a:bodyPr>
            <a:noAutofit/>
          </a:bodyPr>
          <a:lstStyle/>
          <a:p>
            <a:r>
              <a:rPr lang="en-GB" sz="2800" dirty="0" smtClean="0">
                <a:latin typeface="Arial" panose="020B0604020202020204" pitchFamily="34" charset="0"/>
                <a:cs typeface="Arial" panose="020B0604020202020204" pitchFamily="34" charset="0"/>
              </a:rPr>
              <a:t>Between </a:t>
            </a:r>
            <a:r>
              <a:rPr lang="en-GB" sz="2800" dirty="0">
                <a:latin typeface="Arial" panose="020B0604020202020204" pitchFamily="34" charset="0"/>
                <a:cs typeface="Arial" panose="020B0604020202020204" pitchFamily="34" charset="0"/>
              </a:rPr>
              <a:t>2016 and 2024, global </a:t>
            </a:r>
            <a:r>
              <a:rPr lang="en-GB" sz="2800" dirty="0" err="1">
                <a:latin typeface="Arial" panose="020B0604020202020204" pitchFamily="34" charset="0"/>
                <a:cs typeface="Arial" panose="020B0604020202020204" pitchFamily="34" charset="0"/>
              </a:rPr>
              <a:t>cybersecurity</a:t>
            </a:r>
            <a:r>
              <a:rPr lang="en-GB" sz="2800" dirty="0">
                <a:latin typeface="Arial" panose="020B0604020202020204" pitchFamily="34" charset="0"/>
                <a:cs typeface="Arial" panose="020B0604020202020204" pitchFamily="34" charset="0"/>
              </a:rPr>
              <a:t> incidents increased by 62 percent, according to 2023 industry reports. A 2019 EU data regulation strengthened privacy compliance, while 2021 </a:t>
            </a:r>
            <a:r>
              <a:rPr lang="en-GB" sz="2800" dirty="0" err="1">
                <a:latin typeface="Arial" panose="020B0604020202020204" pitchFamily="34" charset="0"/>
                <a:cs typeface="Arial" panose="020B0604020202020204" pitchFamily="34" charset="0"/>
              </a:rPr>
              <a:t>ransomware</a:t>
            </a:r>
            <a:r>
              <a:rPr lang="en-GB" sz="2800" dirty="0">
                <a:latin typeface="Arial" panose="020B0604020202020204" pitchFamily="34" charset="0"/>
                <a:cs typeface="Arial" panose="020B0604020202020204" pitchFamily="34" charset="0"/>
              </a:rPr>
              <a:t> attacks disrupted healthcare systems worldwide. By 2022, organizations invested heavily in zero-trust architecture, and 2024 forecasts predict AI-driven threat detection will redefine digital risk management strategies globally.</a:t>
            </a:r>
          </a:p>
          <a:p>
            <a:endParaRPr 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902932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1" dirty="0">
                <a:solidFill>
                  <a:schemeClr val="tx1"/>
                </a:solidFill>
                <a:latin typeface="Arial" panose="020B0604020202020204" pitchFamily="34" charset="0"/>
                <a:cs typeface="Arial" panose="020B0604020202020204" pitchFamily="34" charset="0"/>
              </a:rPr>
              <a:t>Global </a:t>
            </a:r>
            <a:r>
              <a:rPr lang="en-GB" sz="3200" b="1" dirty="0" smtClean="0">
                <a:solidFill>
                  <a:schemeClr val="tx1"/>
                </a:solidFill>
                <a:latin typeface="Arial" panose="020B0604020202020204" pitchFamily="34" charset="0"/>
                <a:cs typeface="Arial" panose="020B0604020202020204" pitchFamily="34" charset="0"/>
              </a:rPr>
              <a:t>Cyber security </a:t>
            </a:r>
            <a:r>
              <a:rPr lang="en-GB" sz="3200" b="1" dirty="0">
                <a:solidFill>
                  <a:schemeClr val="tx1"/>
                </a:solidFill>
                <a:latin typeface="Arial" panose="020B0604020202020204" pitchFamily="34" charset="0"/>
                <a:cs typeface="Arial" panose="020B0604020202020204" pitchFamily="34" charset="0"/>
              </a:rPr>
              <a:t>Developments and Policy Shifts (2016–2024)</a:t>
            </a:r>
            <a:endParaRPr lang="en-US" sz="3200" b="1" dirty="0">
              <a:solidFill>
                <a:schemeClr val="tx1"/>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314442" y="2184035"/>
            <a:ext cx="9322451" cy="4439503"/>
          </a:xfrm>
          <a:solidFill>
            <a:schemeClr val="accent1">
              <a:lumMod val="20000"/>
              <a:lumOff val="80000"/>
            </a:schemeClr>
          </a:solidFill>
        </p:spPr>
        <p:txBody>
          <a:bodyPr>
            <a:noAutofit/>
          </a:bodyPr>
          <a:lstStyle/>
          <a:p>
            <a:r>
              <a:rPr lang="en-GB" sz="2800" dirty="0" smtClean="0">
                <a:latin typeface="Arial" panose="020B0604020202020204" pitchFamily="34" charset="0"/>
                <a:cs typeface="Arial" panose="020B0604020202020204" pitchFamily="34" charset="0"/>
              </a:rPr>
              <a:t>The </a:t>
            </a:r>
            <a:r>
              <a:rPr lang="en-GB" sz="2800" dirty="0">
                <a:latin typeface="Arial" panose="020B0604020202020204" pitchFamily="34" charset="0"/>
                <a:cs typeface="Arial" panose="020B0604020202020204" pitchFamily="34" charset="0"/>
              </a:rPr>
              <a:t>earliest event mentioned was in </a:t>
            </a:r>
            <a:r>
              <a:rPr lang="en-GB" sz="2800" dirty="0" smtClean="0">
                <a:latin typeface="Arial" panose="020B0604020202020204" pitchFamily="34" charset="0"/>
                <a:cs typeface="Arial" panose="020B0604020202020204" pitchFamily="34" charset="0"/>
              </a:rPr>
              <a:t>2016, </a:t>
            </a:r>
            <a:r>
              <a:rPr lang="en-GB" sz="2800" dirty="0">
                <a:latin typeface="Arial" panose="020B0604020202020204" pitchFamily="34" charset="0"/>
                <a:cs typeface="Arial" panose="020B0604020202020204" pitchFamily="34" charset="0"/>
              </a:rPr>
              <a:t>when global </a:t>
            </a:r>
            <a:r>
              <a:rPr lang="en-GB" sz="2800" dirty="0" smtClean="0">
                <a:latin typeface="Arial" panose="020B0604020202020204" pitchFamily="34" charset="0"/>
                <a:cs typeface="Arial" panose="020B0604020202020204" pitchFamily="34" charset="0"/>
              </a:rPr>
              <a:t>cyber security </a:t>
            </a:r>
            <a:r>
              <a:rPr lang="en-GB" sz="2800" dirty="0">
                <a:latin typeface="Arial" panose="020B0604020202020204" pitchFamily="34" charset="0"/>
                <a:cs typeface="Arial" panose="020B0604020202020204" pitchFamily="34" charset="0"/>
              </a:rPr>
              <a:t>incidents began rising significantly. This increase was significant because it set the stage for later developments, including the 2019 EU data regulation, the 2021 </a:t>
            </a:r>
            <a:r>
              <a:rPr lang="en-GB" sz="2800" dirty="0" err="1" smtClean="0">
                <a:latin typeface="Arial" panose="020B0604020202020204" pitchFamily="34" charset="0"/>
                <a:cs typeface="Arial" panose="020B0604020202020204" pitchFamily="34" charset="0"/>
              </a:rPr>
              <a:t>ransomware</a:t>
            </a:r>
            <a:r>
              <a:rPr lang="en-GB" sz="2800" dirty="0" smtClean="0">
                <a:latin typeface="Arial" panose="020B0604020202020204" pitchFamily="34" charset="0"/>
                <a:cs typeface="Arial" panose="020B0604020202020204" pitchFamily="34" charset="0"/>
              </a:rPr>
              <a:t> </a:t>
            </a:r>
            <a:r>
              <a:rPr lang="en-GB" sz="2800" dirty="0">
                <a:latin typeface="Arial" panose="020B0604020202020204" pitchFamily="34" charset="0"/>
                <a:cs typeface="Arial" panose="020B0604020202020204" pitchFamily="34" charset="0"/>
              </a:rPr>
              <a:t>attacks, and the 2022 shift toward zero-trust architecture. The growing threat landscape pushed organizations to strengthen security strategies and adopt advanced protection measures.</a:t>
            </a:r>
          </a:p>
          <a:p>
            <a:endParaRPr 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4881670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678" y="245906"/>
            <a:ext cx="8596668" cy="692651"/>
          </a:xfrm>
        </p:spPr>
        <p:txBody>
          <a:bodyPr>
            <a:normAutofit fontScale="90000"/>
          </a:bodyPr>
          <a:lstStyle/>
          <a:p>
            <a:r>
              <a:rPr lang="en-GB" sz="3200" b="1" dirty="0">
                <a:solidFill>
                  <a:schemeClr val="tx1"/>
                </a:solidFill>
                <a:latin typeface="Arial" panose="020B0604020202020204" pitchFamily="34" charset="0"/>
                <a:cs typeface="Arial" panose="020B0604020202020204" pitchFamily="34" charset="0"/>
              </a:rPr>
              <a:t>Analysis and Evaluation of the text with Qs</a:t>
            </a:r>
            <a:r>
              <a:rPr lang="en-GB" sz="3200" b="1" dirty="0" smtClean="0">
                <a:solidFill>
                  <a:schemeClr val="tx1"/>
                </a:solidFill>
                <a:latin typeface="Arial" panose="020B0604020202020204" pitchFamily="34" charset="0"/>
                <a:cs typeface="Arial" panose="020B0604020202020204" pitchFamily="34" charset="0"/>
              </a:rPr>
              <a:t>.</a:t>
            </a:r>
            <a:br>
              <a:rPr lang="en-GB" sz="3200" b="1" dirty="0" smtClean="0">
                <a:solidFill>
                  <a:schemeClr val="tx1"/>
                </a:solidFill>
                <a:latin typeface="Arial" panose="020B0604020202020204" pitchFamily="34" charset="0"/>
                <a:cs typeface="Arial" panose="020B0604020202020204" pitchFamily="34" charset="0"/>
              </a:rPr>
            </a:br>
            <a:r>
              <a:rPr lang="en-GB" sz="3200" b="1" dirty="0" smtClean="0">
                <a:solidFill>
                  <a:schemeClr val="tx1"/>
                </a:solidFill>
                <a:latin typeface="Arial" panose="020B0604020202020204" pitchFamily="34" charset="0"/>
                <a:cs typeface="Arial" panose="020B0604020202020204" pitchFamily="34" charset="0"/>
              </a:rPr>
              <a:t>For Skimming:</a:t>
            </a:r>
            <a:endParaRPr lang="en-US" sz="3200" dirty="0">
              <a:solidFill>
                <a:schemeClr val="tx1"/>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677334" y="1085088"/>
            <a:ext cx="9307914" cy="4956275"/>
          </a:xfrm>
        </p:spPr>
        <p:txBody>
          <a:bodyPr>
            <a:noAutofit/>
          </a:bodyPr>
          <a:lstStyle/>
          <a:p>
            <a:r>
              <a:rPr lang="en-GB" sz="2800" dirty="0" smtClean="0">
                <a:solidFill>
                  <a:schemeClr val="tx1"/>
                </a:solidFill>
                <a:latin typeface="Arial" panose="020B0604020202020204" pitchFamily="34" charset="0"/>
                <a:cs typeface="Arial" panose="020B0604020202020204" pitchFamily="34" charset="0"/>
              </a:rPr>
              <a:t>What is the main point or thesis of the text?</a:t>
            </a:r>
          </a:p>
          <a:p>
            <a:r>
              <a:rPr lang="en-GB" sz="2800" dirty="0" smtClean="0">
                <a:solidFill>
                  <a:schemeClr val="tx1"/>
                </a:solidFill>
                <a:latin typeface="Arial" panose="020B0604020202020204" pitchFamily="34" charset="0"/>
                <a:cs typeface="Arial" panose="020B0604020202020204" pitchFamily="34" charset="0"/>
              </a:rPr>
              <a:t>What is the author’s purpose or why does the writer want to make this point?</a:t>
            </a:r>
          </a:p>
          <a:p>
            <a:r>
              <a:rPr lang="en-GB" sz="2800" dirty="0" smtClean="0">
                <a:solidFill>
                  <a:schemeClr val="tx1"/>
                </a:solidFill>
                <a:latin typeface="Arial" panose="020B0604020202020204" pitchFamily="34" charset="0"/>
                <a:cs typeface="Arial" panose="020B0604020202020204" pitchFamily="34" charset="0"/>
              </a:rPr>
              <a:t>Does the writer take a position on the subject and adequately support it?</a:t>
            </a:r>
          </a:p>
          <a:p>
            <a:r>
              <a:rPr lang="en-GB" sz="2800" dirty="0" smtClean="0">
                <a:solidFill>
                  <a:schemeClr val="tx1"/>
                </a:solidFill>
                <a:latin typeface="Arial" panose="020B0604020202020204" pitchFamily="34" charset="0"/>
                <a:cs typeface="Arial" panose="020B0604020202020204" pitchFamily="34" charset="0"/>
              </a:rPr>
              <a:t>Patterns of organization used by the author?</a:t>
            </a:r>
          </a:p>
          <a:p>
            <a:r>
              <a:rPr lang="en-GB" sz="2800" dirty="0" smtClean="0">
                <a:solidFill>
                  <a:schemeClr val="tx1"/>
                </a:solidFill>
                <a:latin typeface="Arial" panose="020B0604020202020204" pitchFamily="34" charset="0"/>
                <a:cs typeface="Arial" panose="020B0604020202020204" pitchFamily="34" charset="0"/>
              </a:rPr>
              <a:t>How does the pattern/s of development suit the subject and purpose of the writing?</a:t>
            </a:r>
          </a:p>
          <a:p>
            <a:r>
              <a:rPr lang="en-GB" sz="2800" dirty="0" smtClean="0">
                <a:solidFill>
                  <a:schemeClr val="tx1"/>
                </a:solidFill>
                <a:latin typeface="Arial" panose="020B0604020202020204" pitchFamily="34" charset="0"/>
                <a:cs typeface="Arial" panose="020B0604020202020204" pitchFamily="34" charset="0"/>
              </a:rPr>
              <a:t>Anything noteworthy in the pattern/s of development?</a:t>
            </a:r>
          </a:p>
          <a:p>
            <a:r>
              <a:rPr lang="en-GB" sz="2800" dirty="0" smtClean="0">
                <a:solidFill>
                  <a:schemeClr val="tx1"/>
                </a:solidFill>
                <a:latin typeface="Arial" panose="020B0604020202020204" pitchFamily="34" charset="0"/>
                <a:cs typeface="Arial" panose="020B0604020202020204" pitchFamily="34" charset="0"/>
              </a:rPr>
              <a:t>Clarity and Effectiveness of the essay?</a:t>
            </a:r>
            <a:endParaRPr lang="en-GB" sz="28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223177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1" dirty="0" smtClean="0">
                <a:solidFill>
                  <a:schemeClr val="tx1"/>
                </a:solidFill>
                <a:latin typeface="Arial" panose="020B0604020202020204" pitchFamily="34" charset="0"/>
                <a:cs typeface="Arial" panose="020B0604020202020204" pitchFamily="34" charset="0"/>
              </a:rPr>
              <a:t>For Scanning</a:t>
            </a:r>
            <a:endParaRPr lang="en-US" sz="3200" b="1" dirty="0">
              <a:solidFill>
                <a:schemeClr val="tx1"/>
              </a:solidFill>
              <a:latin typeface="Arial" panose="020B0604020202020204" pitchFamily="34" charset="0"/>
              <a:cs typeface="Arial" panose="020B0604020202020204" pitchFamily="34" charset="0"/>
            </a:endParaRPr>
          </a:p>
        </p:txBody>
      </p:sp>
      <p:sp>
        <p:nvSpPr>
          <p:cNvPr id="4" name="Rectangle 1"/>
          <p:cNvSpPr>
            <a:spLocks noGrp="1" noChangeArrowheads="1"/>
          </p:cNvSpPr>
          <p:nvPr>
            <p:ph idx="1"/>
          </p:nvPr>
        </p:nvSpPr>
        <p:spPr bwMode="auto">
          <a:xfrm>
            <a:off x="720336" y="2088948"/>
            <a:ext cx="8510663"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800" b="0" i="0" u="none" strike="noStrike" cap="none" normalizeH="0" baseline="0" dirty="0" smtClean="0">
                <a:ln>
                  <a:noFill/>
                </a:ln>
                <a:solidFill>
                  <a:schemeClr val="tx1"/>
                </a:solidFill>
                <a:effectLst/>
                <a:latin typeface="Arial" panose="020B0604020202020204" pitchFamily="34" charset="0"/>
              </a:rPr>
              <a:t>Where is the thesis statement located?</a:t>
            </a:r>
          </a:p>
          <a:p>
            <a:pPr marL="0" marR="0" lvl="0" indent="0" algn="l" defTabSz="914400" rtl="0" eaLnBrk="0" fontAlgn="base" latinLnBrk="0" hangingPunct="0">
              <a:lnSpc>
                <a:spcPct val="100000"/>
              </a:lnSpc>
              <a:spcBef>
                <a:spcPct val="0"/>
              </a:spcBef>
              <a:spcAft>
                <a:spcPct val="0"/>
              </a:spcAft>
              <a:buClrTx/>
              <a:buSzTx/>
              <a:buNone/>
              <a:tabLst/>
            </a:pPr>
            <a:endParaRPr kumimoji="0" lang="en-US" sz="2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800" b="0" i="0" u="none" strike="noStrike" cap="none" normalizeH="0" baseline="0" dirty="0" smtClean="0">
                <a:ln>
                  <a:noFill/>
                </a:ln>
                <a:solidFill>
                  <a:schemeClr val="tx1"/>
                </a:solidFill>
                <a:effectLst/>
                <a:latin typeface="Arial" panose="020B0604020202020204" pitchFamily="34" charset="0"/>
              </a:rPr>
              <a:t>What example does the author use in paragraph 3?</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sz="2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800" b="0" i="0" u="none" strike="noStrike" cap="none" normalizeH="0" baseline="0" dirty="0" smtClean="0">
                <a:ln>
                  <a:noFill/>
                </a:ln>
                <a:solidFill>
                  <a:schemeClr val="tx1"/>
                </a:solidFill>
                <a:effectLst/>
                <a:latin typeface="Arial" panose="020B0604020202020204" pitchFamily="34" charset="0"/>
              </a:rPr>
              <a:t>Which term is defined in the introduction?</a:t>
            </a:r>
          </a:p>
        </p:txBody>
      </p:sp>
    </p:spTree>
    <p:extLst>
      <p:ext uri="{BB962C8B-B14F-4D97-AF65-F5344CB8AC3E}">
        <p14:creationId xmlns:p14="http://schemas.microsoft.com/office/powerpoint/2010/main" val="425621886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01478"/>
            <a:ext cx="8596668" cy="1119322"/>
          </a:xfrm>
        </p:spPr>
        <p:txBody>
          <a:bodyPr/>
          <a:lstStyle/>
          <a:p>
            <a:r>
              <a:rPr lang="en-GB" b="1" dirty="0">
                <a:solidFill>
                  <a:schemeClr val="tx1"/>
                </a:solidFill>
                <a:latin typeface="Arial" panose="020B0604020202020204" pitchFamily="34" charset="0"/>
                <a:cs typeface="Arial" panose="020B0604020202020204" pitchFamily="34" charset="0"/>
              </a:rPr>
              <a:t>Critical reading</a:t>
            </a:r>
            <a:endParaRPr lang="en-US" b="1" dirty="0">
              <a:solidFill>
                <a:schemeClr val="tx1"/>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677334" y="914400"/>
            <a:ext cx="9320106" cy="5535168"/>
          </a:xfrm>
        </p:spPr>
        <p:txBody>
          <a:bodyPr>
            <a:noAutofit/>
          </a:bodyPr>
          <a:lstStyle/>
          <a:p>
            <a:r>
              <a:rPr lang="en-GB" sz="2800" dirty="0">
                <a:solidFill>
                  <a:schemeClr val="tx1"/>
                </a:solidFill>
                <a:latin typeface="Arial" panose="020B0604020202020204" pitchFamily="34" charset="0"/>
                <a:cs typeface="Arial" panose="020B0604020202020204" pitchFamily="34" charset="0"/>
              </a:rPr>
              <a:t>It is an active and thoughtful way of reading in which the reader goes beyond understanding the words on the page to analyze, question, and evaluate a text.</a:t>
            </a:r>
          </a:p>
          <a:p>
            <a:pPr marL="0" indent="0">
              <a:buNone/>
            </a:pPr>
            <a:r>
              <a:rPr lang="en-GB" sz="2800" b="1" dirty="0" smtClean="0">
                <a:solidFill>
                  <a:schemeClr val="tx1"/>
                </a:solidFill>
                <a:latin typeface="Arial" panose="020B0604020202020204" pitchFamily="34" charset="0"/>
                <a:cs typeface="Arial" panose="020B0604020202020204" pitchFamily="34" charset="0"/>
              </a:rPr>
              <a:t> Critical </a:t>
            </a:r>
            <a:r>
              <a:rPr lang="en-GB" sz="2800" b="1" dirty="0">
                <a:solidFill>
                  <a:schemeClr val="tx1"/>
                </a:solidFill>
                <a:latin typeface="Arial" panose="020B0604020202020204" pitchFamily="34" charset="0"/>
                <a:cs typeface="Arial" panose="020B0604020202020204" pitchFamily="34" charset="0"/>
              </a:rPr>
              <a:t>reading helps students to:</a:t>
            </a:r>
          </a:p>
          <a:p>
            <a:r>
              <a:rPr lang="en-GB" sz="2800" dirty="0">
                <a:solidFill>
                  <a:schemeClr val="tx1"/>
                </a:solidFill>
                <a:latin typeface="Arial" panose="020B0604020202020204" pitchFamily="34" charset="0"/>
                <a:cs typeface="Arial" panose="020B0604020202020204" pitchFamily="34" charset="0"/>
              </a:rPr>
              <a:t>Succeed in academic reading and </a:t>
            </a:r>
            <a:r>
              <a:rPr lang="en-GB" sz="2800" dirty="0" smtClean="0">
                <a:solidFill>
                  <a:schemeClr val="tx1"/>
                </a:solidFill>
                <a:latin typeface="Arial" panose="020B0604020202020204" pitchFamily="34" charset="0"/>
                <a:cs typeface="Arial" panose="020B0604020202020204" pitchFamily="34" charset="0"/>
              </a:rPr>
              <a:t>writing</a:t>
            </a:r>
          </a:p>
          <a:p>
            <a:r>
              <a:rPr lang="en-GB" sz="2800" dirty="0" smtClean="0">
                <a:solidFill>
                  <a:schemeClr val="tx1"/>
                </a:solidFill>
                <a:latin typeface="Arial" panose="020B0604020202020204" pitchFamily="34" charset="0"/>
                <a:cs typeface="Arial" panose="020B0604020202020204" pitchFamily="34" charset="0"/>
              </a:rPr>
              <a:t>Think independently</a:t>
            </a:r>
          </a:p>
          <a:p>
            <a:r>
              <a:rPr lang="en-GB" sz="2800" dirty="0" smtClean="0">
                <a:solidFill>
                  <a:schemeClr val="tx1"/>
                </a:solidFill>
                <a:latin typeface="Arial" panose="020B0604020202020204" pitchFamily="34" charset="0"/>
                <a:cs typeface="Arial" panose="020B0604020202020204" pitchFamily="34" charset="0"/>
              </a:rPr>
              <a:t>Avoid misinformation</a:t>
            </a:r>
          </a:p>
          <a:p>
            <a:r>
              <a:rPr lang="en-GB" sz="2800" dirty="0" smtClean="0">
                <a:solidFill>
                  <a:schemeClr val="tx1"/>
                </a:solidFill>
                <a:latin typeface="Arial" panose="020B0604020202020204" pitchFamily="34" charset="0"/>
                <a:cs typeface="Arial" panose="020B0604020202020204" pitchFamily="34" charset="0"/>
              </a:rPr>
              <a:t>Make </a:t>
            </a:r>
            <a:r>
              <a:rPr lang="en-GB" sz="2800" dirty="0">
                <a:solidFill>
                  <a:schemeClr val="tx1"/>
                </a:solidFill>
                <a:latin typeface="Arial" panose="020B0604020202020204" pitchFamily="34" charset="0"/>
                <a:cs typeface="Arial" panose="020B0604020202020204" pitchFamily="34" charset="0"/>
              </a:rPr>
              <a:t>informed </a:t>
            </a:r>
            <a:r>
              <a:rPr lang="en-GB" sz="2800" dirty="0" smtClean="0">
                <a:solidFill>
                  <a:schemeClr val="tx1"/>
                </a:solidFill>
                <a:latin typeface="Arial" panose="020B0604020202020204" pitchFamily="34" charset="0"/>
                <a:cs typeface="Arial" panose="020B0604020202020204" pitchFamily="34" charset="0"/>
              </a:rPr>
              <a:t>decisions</a:t>
            </a:r>
          </a:p>
          <a:p>
            <a:r>
              <a:rPr lang="en-GB" sz="2800" dirty="0" smtClean="0">
                <a:solidFill>
                  <a:schemeClr val="tx1"/>
                </a:solidFill>
                <a:latin typeface="Arial" panose="020B0604020202020204" pitchFamily="34" charset="0"/>
                <a:cs typeface="Arial" panose="020B0604020202020204" pitchFamily="34" charset="0"/>
              </a:rPr>
              <a:t>Develop </a:t>
            </a:r>
            <a:r>
              <a:rPr lang="en-GB" sz="2800" dirty="0">
                <a:solidFill>
                  <a:schemeClr val="tx1"/>
                </a:solidFill>
                <a:latin typeface="Arial" panose="020B0604020202020204" pitchFamily="34" charset="0"/>
                <a:cs typeface="Arial" panose="020B0604020202020204" pitchFamily="34" charset="0"/>
              </a:rPr>
              <a:t>strong analytical and reasoning skills</a:t>
            </a:r>
            <a:endParaRPr lang="en-US" sz="28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27298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additive="base">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anim calcmode="lin" valueType="num">
                                      <p:cBhvr additive="base">
                                        <p:cTn id="4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 calcmode="lin" valueType="num">
                                      <p:cBhvr additive="base">
                                        <p:cTn id="4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3"/>
          <a:stretch>
            <a:fillRect/>
          </a:stretch>
        </p:blipFill>
        <p:spPr>
          <a:xfrm>
            <a:off x="1687695" y="-1547630"/>
            <a:ext cx="8053755" cy="10058583"/>
          </a:xfrm>
          <a:prstGeom prst="rect">
            <a:avLst/>
          </a:prstGeom>
        </p:spPr>
      </p:pic>
      <p:sp>
        <p:nvSpPr>
          <p:cNvPr id="3" name="Rectangle 2"/>
          <p:cNvSpPr/>
          <p:nvPr/>
        </p:nvSpPr>
        <p:spPr>
          <a:xfrm>
            <a:off x="3402383" y="0"/>
            <a:ext cx="5628464" cy="584775"/>
          </a:xfrm>
          <a:prstGeom prst="rect">
            <a:avLst/>
          </a:prstGeom>
        </p:spPr>
        <p:txBody>
          <a:bodyPr wrap="none">
            <a:spAutoFit/>
          </a:bodyPr>
          <a:lstStyle/>
          <a:p>
            <a:r>
              <a:rPr lang="en-US" sz="3200" b="1" dirty="0"/>
              <a:t>The Critical Reading </a:t>
            </a:r>
            <a:r>
              <a:rPr lang="en-US" sz="3200" b="1" dirty="0" smtClean="0"/>
              <a:t>Process</a:t>
            </a:r>
            <a:endParaRPr lang="en-US" sz="3200" b="1" dirty="0"/>
          </a:p>
        </p:txBody>
      </p:sp>
    </p:spTree>
    <p:extLst>
      <p:ext uri="{BB962C8B-B14F-4D97-AF65-F5344CB8AC3E}">
        <p14:creationId xmlns:p14="http://schemas.microsoft.com/office/powerpoint/2010/main" val="2435816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0"/>
            <a:ext cx="8596668" cy="1115878"/>
          </a:xfrm>
        </p:spPr>
        <p:txBody>
          <a:bodyPr>
            <a:normAutofit/>
          </a:bodyPr>
          <a:lstStyle/>
          <a:p>
            <a:r>
              <a:rPr lang="en-GB" b="1" dirty="0">
                <a:solidFill>
                  <a:schemeClr val="tx1"/>
                </a:solidFill>
                <a:latin typeface="Arial" panose="020B0604020202020204" pitchFamily="34" charset="0"/>
                <a:cs typeface="Arial" panose="020B0604020202020204" pitchFamily="34" charset="0"/>
              </a:rPr>
              <a:t>Purpose of Critical Reading is to: </a:t>
            </a:r>
            <a:endParaRPr lang="en-US" b="1" dirty="0">
              <a:solidFill>
                <a:schemeClr val="tx1"/>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185980" y="805912"/>
            <a:ext cx="12006020" cy="5889355"/>
          </a:xfrm>
        </p:spPr>
        <p:txBody>
          <a:bodyPr>
            <a:noAutofit/>
          </a:bodyPr>
          <a:lstStyle/>
          <a:p>
            <a:r>
              <a:rPr lang="en-GB" sz="2800" b="1" dirty="0">
                <a:solidFill>
                  <a:schemeClr val="tx1"/>
                </a:solidFill>
                <a:latin typeface="Arial" panose="020B0604020202020204" pitchFamily="34" charset="0"/>
                <a:cs typeface="Arial" panose="020B0604020202020204" pitchFamily="34" charset="0"/>
              </a:rPr>
              <a:t>  Remember</a:t>
            </a:r>
          </a:p>
          <a:p>
            <a:pPr marL="0" indent="0">
              <a:buNone/>
            </a:pPr>
            <a:r>
              <a:rPr lang="en-GB" sz="2800" dirty="0">
                <a:solidFill>
                  <a:schemeClr val="tx1"/>
                </a:solidFill>
                <a:latin typeface="Arial" panose="020B0604020202020204" pitchFamily="34" charset="0"/>
                <a:cs typeface="Arial" panose="020B0604020202020204" pitchFamily="34" charset="0"/>
              </a:rPr>
              <a:t>      Retain key information from the text</a:t>
            </a:r>
          </a:p>
          <a:p>
            <a:pPr marL="0" indent="0">
              <a:buNone/>
            </a:pPr>
            <a:r>
              <a:rPr lang="en-GB" sz="2800" dirty="0">
                <a:solidFill>
                  <a:schemeClr val="tx1"/>
                </a:solidFill>
                <a:latin typeface="Arial" panose="020B0604020202020204" pitchFamily="34" charset="0"/>
                <a:cs typeface="Arial" panose="020B0604020202020204" pitchFamily="34" charset="0"/>
              </a:rPr>
              <a:t>      Recall important ideas and details</a:t>
            </a:r>
          </a:p>
          <a:p>
            <a:r>
              <a:rPr lang="en-GB" sz="2800" dirty="0">
                <a:solidFill>
                  <a:schemeClr val="tx1"/>
                </a:solidFill>
                <a:latin typeface="Arial" panose="020B0604020202020204" pitchFamily="34" charset="0"/>
                <a:cs typeface="Arial" panose="020B0604020202020204" pitchFamily="34" charset="0"/>
              </a:rPr>
              <a:t> </a:t>
            </a:r>
            <a:r>
              <a:rPr lang="en-GB" sz="2800" b="1" dirty="0">
                <a:solidFill>
                  <a:schemeClr val="tx1"/>
                </a:solidFill>
                <a:latin typeface="Arial" panose="020B0604020202020204" pitchFamily="34" charset="0"/>
                <a:cs typeface="Arial" panose="020B0604020202020204" pitchFamily="34" charset="0"/>
              </a:rPr>
              <a:t>Understand</a:t>
            </a:r>
          </a:p>
          <a:p>
            <a:pPr marL="0" indent="0">
              <a:buNone/>
            </a:pPr>
            <a:r>
              <a:rPr lang="en-GB" sz="2800" dirty="0">
                <a:solidFill>
                  <a:schemeClr val="tx1"/>
                </a:solidFill>
                <a:latin typeface="Arial" panose="020B0604020202020204" pitchFamily="34" charset="0"/>
                <a:cs typeface="Arial" panose="020B0604020202020204" pitchFamily="34" charset="0"/>
              </a:rPr>
              <a:t>      Stay focused while reading the text</a:t>
            </a:r>
          </a:p>
          <a:p>
            <a:pPr marL="0" indent="0">
              <a:buNone/>
            </a:pPr>
            <a:r>
              <a:rPr lang="en-GB" sz="2800" dirty="0">
                <a:solidFill>
                  <a:schemeClr val="tx1"/>
                </a:solidFill>
                <a:latin typeface="Arial" panose="020B0604020202020204" pitchFamily="34" charset="0"/>
                <a:cs typeface="Arial" panose="020B0604020202020204" pitchFamily="34" charset="0"/>
              </a:rPr>
              <a:t>      Identify the main idea or central argument</a:t>
            </a:r>
          </a:p>
          <a:p>
            <a:pPr marL="0" indent="0">
              <a:buNone/>
            </a:pPr>
            <a:r>
              <a:rPr lang="en-GB" sz="2800" dirty="0">
                <a:solidFill>
                  <a:schemeClr val="tx1"/>
                </a:solidFill>
                <a:latin typeface="Arial" panose="020B0604020202020204" pitchFamily="34" charset="0"/>
                <a:cs typeface="Arial" panose="020B0604020202020204" pitchFamily="34" charset="0"/>
              </a:rPr>
              <a:t>      Understand the overall structure and organization of the text</a:t>
            </a:r>
          </a:p>
          <a:p>
            <a:pPr>
              <a:buFont typeface="Wingdings" panose="05000000000000000000" pitchFamily="2" charset="2"/>
              <a:buChar char="Ø"/>
            </a:pPr>
            <a:r>
              <a:rPr lang="en-GB" sz="2800" dirty="0">
                <a:solidFill>
                  <a:schemeClr val="tx1"/>
                </a:solidFill>
                <a:latin typeface="Arial" panose="020B0604020202020204" pitchFamily="34" charset="0"/>
                <a:cs typeface="Arial" panose="020B0604020202020204" pitchFamily="34" charset="0"/>
              </a:rPr>
              <a:t> </a:t>
            </a:r>
            <a:r>
              <a:rPr lang="en-GB" sz="2800" b="1" dirty="0">
                <a:solidFill>
                  <a:schemeClr val="tx1"/>
                </a:solidFill>
                <a:latin typeface="Arial" panose="020B0604020202020204" pitchFamily="34" charset="0"/>
                <a:cs typeface="Arial" panose="020B0604020202020204" pitchFamily="34" charset="0"/>
              </a:rPr>
              <a:t>Apply</a:t>
            </a:r>
          </a:p>
          <a:p>
            <a:pPr marL="0" indent="0">
              <a:buNone/>
            </a:pPr>
            <a:r>
              <a:rPr lang="en-GB" sz="2800" dirty="0">
                <a:solidFill>
                  <a:schemeClr val="tx1"/>
                </a:solidFill>
                <a:latin typeface="Arial" panose="020B0604020202020204" pitchFamily="34" charset="0"/>
                <a:cs typeface="Arial" panose="020B0604020202020204" pitchFamily="34" charset="0"/>
              </a:rPr>
              <a:t>     Use reading strategies to remain engaged with the text</a:t>
            </a:r>
          </a:p>
          <a:p>
            <a:pPr marL="0" indent="0">
              <a:buNone/>
            </a:pPr>
            <a:r>
              <a:rPr lang="en-GB" sz="2800" dirty="0">
                <a:solidFill>
                  <a:schemeClr val="tx1"/>
                </a:solidFill>
                <a:latin typeface="Arial" panose="020B0604020202020204" pitchFamily="34" charset="0"/>
                <a:cs typeface="Arial" panose="020B0604020202020204" pitchFamily="34" charset="0"/>
              </a:rPr>
              <a:t>     Apply understanding of structure to follow the </a:t>
            </a:r>
          </a:p>
          <a:p>
            <a:pPr marL="0" indent="0">
              <a:buNone/>
            </a:pPr>
            <a:r>
              <a:rPr lang="en-GB" sz="2800" dirty="0">
                <a:solidFill>
                  <a:schemeClr val="tx1"/>
                </a:solidFill>
                <a:latin typeface="Arial" panose="020B0604020202020204" pitchFamily="34" charset="0"/>
                <a:cs typeface="Arial" panose="020B0604020202020204" pitchFamily="34" charset="0"/>
              </a:rPr>
              <a:t>     author’s ideas</a:t>
            </a:r>
          </a:p>
          <a:p>
            <a:pPr marL="0" indent="0">
              <a:buNone/>
            </a:pPr>
            <a:r>
              <a:rPr lang="en-GB" sz="2800" dirty="0">
                <a:solidFill>
                  <a:schemeClr val="tx1"/>
                </a:solidFill>
                <a:latin typeface="Arial" panose="020B0604020202020204" pitchFamily="34" charset="0"/>
                <a:cs typeface="Arial" panose="020B0604020202020204" pitchFamily="34" charset="0"/>
              </a:rPr>
              <a:t>  </a:t>
            </a:r>
            <a:endParaRPr lang="en-US" sz="28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23792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3">
                                            <p:txEl>
                                              <p:pRg st="11" end="11"/>
                                            </p:txEl>
                                          </p:spTgt>
                                        </p:tgtEl>
                                        <p:attrNameLst>
                                          <p:attrName>style.visibility</p:attrName>
                                        </p:attrNameLst>
                                      </p:cBhvr>
                                      <p:to>
                                        <p:strVal val="visible"/>
                                      </p:to>
                                    </p:set>
                                    <p:anim calcmode="lin" valueType="num">
                                      <p:cBhvr additive="base">
                                        <p:cTn id="7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94468"/>
            <a:ext cx="8596668" cy="681925"/>
          </a:xfrm>
        </p:spPr>
        <p:txBody>
          <a:bodyPr>
            <a:normAutofit fontScale="90000"/>
          </a:bodyPr>
          <a:lstStyle/>
          <a:p>
            <a:r>
              <a:rPr lang="en-GB" b="1" i="1" dirty="0">
                <a:solidFill>
                  <a:schemeClr val="tx1"/>
                </a:solidFill>
                <a:latin typeface="Arial" panose="020B0604020202020204" pitchFamily="34" charset="0"/>
                <a:cs typeface="Arial" panose="020B0604020202020204" pitchFamily="34" charset="0"/>
              </a:rPr>
              <a:t>(Cont’d )</a:t>
            </a:r>
            <a:r>
              <a:rPr lang="en-GB" b="1" dirty="0">
                <a:solidFill>
                  <a:schemeClr val="tx1"/>
                </a:solidFill>
                <a:latin typeface="Arial" panose="020B0604020202020204" pitchFamily="34" charset="0"/>
                <a:cs typeface="Arial" panose="020B0604020202020204" pitchFamily="34" charset="0"/>
              </a:rPr>
              <a:t>Purpose of Critical Reading is to: </a:t>
            </a:r>
            <a:endParaRPr lang="en-US" b="1" dirty="0"/>
          </a:p>
        </p:txBody>
      </p:sp>
      <p:sp>
        <p:nvSpPr>
          <p:cNvPr id="3" name="Content Placeholder 2"/>
          <p:cNvSpPr>
            <a:spLocks noGrp="1"/>
          </p:cNvSpPr>
          <p:nvPr>
            <p:ph idx="1"/>
          </p:nvPr>
        </p:nvSpPr>
        <p:spPr>
          <a:xfrm>
            <a:off x="495946" y="1255363"/>
            <a:ext cx="10684118" cy="4785999"/>
          </a:xfrm>
        </p:spPr>
        <p:txBody>
          <a:bodyPr>
            <a:noAutofit/>
          </a:bodyPr>
          <a:lstStyle/>
          <a:p>
            <a:pPr>
              <a:buFont typeface="Wingdings" panose="05000000000000000000" pitchFamily="2" charset="2"/>
              <a:buChar char="Ø"/>
            </a:pPr>
            <a:r>
              <a:rPr lang="en-GB" sz="2800" b="1" dirty="0">
                <a:solidFill>
                  <a:schemeClr val="tx1"/>
                </a:solidFill>
                <a:latin typeface="Arial" panose="020B0604020202020204" pitchFamily="34" charset="0"/>
                <a:cs typeface="Arial" panose="020B0604020202020204" pitchFamily="34" charset="0"/>
              </a:rPr>
              <a:t>Analyze</a:t>
            </a:r>
          </a:p>
          <a:p>
            <a:pPr marL="0" indent="0">
              <a:buNone/>
            </a:pPr>
            <a:r>
              <a:rPr lang="en-GB" sz="2800" dirty="0">
                <a:solidFill>
                  <a:schemeClr val="tx1"/>
                </a:solidFill>
                <a:latin typeface="Arial" panose="020B0604020202020204" pitchFamily="34" charset="0"/>
                <a:cs typeface="Arial" panose="020B0604020202020204" pitchFamily="34" charset="0"/>
              </a:rPr>
              <a:t>     Examine how ideas are developed and organized</a:t>
            </a:r>
          </a:p>
          <a:p>
            <a:pPr marL="0" indent="0">
              <a:buNone/>
            </a:pPr>
            <a:r>
              <a:rPr lang="en-GB" sz="2800" dirty="0">
                <a:solidFill>
                  <a:schemeClr val="tx1"/>
                </a:solidFill>
                <a:latin typeface="Arial" panose="020B0604020202020204" pitchFamily="34" charset="0"/>
                <a:cs typeface="Arial" panose="020B0604020202020204" pitchFamily="34" charset="0"/>
              </a:rPr>
              <a:t>     Identify main ideas and supporting details</a:t>
            </a:r>
          </a:p>
          <a:p>
            <a:pPr>
              <a:buFont typeface="Wingdings" panose="05000000000000000000" pitchFamily="2" charset="2"/>
              <a:buChar char="Ø"/>
            </a:pPr>
            <a:r>
              <a:rPr lang="en-GB" sz="2800" b="1" dirty="0">
                <a:solidFill>
                  <a:schemeClr val="tx1"/>
                </a:solidFill>
                <a:latin typeface="Arial" panose="020B0604020202020204" pitchFamily="34" charset="0"/>
                <a:cs typeface="Arial" panose="020B0604020202020204" pitchFamily="34" charset="0"/>
              </a:rPr>
              <a:t>Evaluate</a:t>
            </a:r>
          </a:p>
          <a:p>
            <a:pPr marL="0" indent="0">
              <a:buNone/>
            </a:pPr>
            <a:r>
              <a:rPr lang="en-GB" sz="2800" dirty="0">
                <a:solidFill>
                  <a:schemeClr val="tx1"/>
                </a:solidFill>
                <a:latin typeface="Arial" panose="020B0604020202020204" pitchFamily="34" charset="0"/>
                <a:cs typeface="Arial" panose="020B0604020202020204" pitchFamily="34" charset="0"/>
              </a:rPr>
              <a:t>    Pose informed and thoughtful questions about the text </a:t>
            </a:r>
          </a:p>
          <a:p>
            <a:pPr marL="0" indent="0">
              <a:buNone/>
            </a:pPr>
            <a:r>
              <a:rPr lang="en-GB" sz="2800" dirty="0">
                <a:solidFill>
                  <a:schemeClr val="tx1"/>
                </a:solidFill>
                <a:latin typeface="Arial" panose="020B0604020202020204" pitchFamily="34" charset="0"/>
                <a:cs typeface="Arial" panose="020B0604020202020204" pitchFamily="34" charset="0"/>
              </a:rPr>
              <a:t>    Evaluate the effectiveness and strength of the </a:t>
            </a:r>
          </a:p>
          <a:p>
            <a:pPr marL="0" indent="0">
              <a:buNone/>
            </a:pPr>
            <a:r>
              <a:rPr lang="en-GB" sz="2800" dirty="0">
                <a:solidFill>
                  <a:schemeClr val="tx1"/>
                </a:solidFill>
                <a:latin typeface="Arial" panose="020B0604020202020204" pitchFamily="34" charset="0"/>
                <a:cs typeface="Arial" panose="020B0604020202020204" pitchFamily="34" charset="0"/>
              </a:rPr>
              <a:t>    author’s ideas</a:t>
            </a:r>
            <a:endParaRPr lang="en-US" sz="28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2534309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314817"/>
            <a:ext cx="9395158" cy="1320800"/>
          </a:xfrm>
        </p:spPr>
        <p:txBody>
          <a:bodyPr/>
          <a:lstStyle/>
          <a:p>
            <a:r>
              <a:rPr lang="en-GB" b="1" dirty="0" smtClean="0">
                <a:solidFill>
                  <a:schemeClr val="tx1"/>
                </a:solidFill>
                <a:latin typeface="Arial" panose="020B0604020202020204" pitchFamily="34" charset="0"/>
                <a:cs typeface="Arial" panose="020B0604020202020204" pitchFamily="34" charset="0"/>
              </a:rPr>
              <a:t>   Charity </a:t>
            </a:r>
            <a:r>
              <a:rPr lang="en-GB" b="1" dirty="0">
                <a:solidFill>
                  <a:schemeClr val="tx1"/>
                </a:solidFill>
                <a:latin typeface="Arial" panose="020B0604020202020204" pitchFamily="34" charset="0"/>
                <a:cs typeface="Arial" panose="020B0604020202020204" pitchFamily="34" charset="0"/>
              </a:rPr>
              <a:t>and Social Responsibility</a:t>
            </a:r>
            <a:endParaRPr lang="en-GB" dirty="0">
              <a:solidFill>
                <a:schemeClr val="tx1"/>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689056" y="1004552"/>
            <a:ext cx="10386775" cy="5550794"/>
          </a:xfrm>
        </p:spPr>
        <p:txBody>
          <a:bodyPr>
            <a:noAutofit/>
          </a:bodyPr>
          <a:lstStyle/>
          <a:p>
            <a:r>
              <a:rPr lang="en-GB" sz="2800" dirty="0" smtClean="0">
                <a:solidFill>
                  <a:schemeClr val="tx1"/>
                </a:solidFill>
                <a:latin typeface="Arial" panose="020B0604020202020204" pitchFamily="34" charset="0"/>
                <a:cs typeface="Arial" panose="020B0604020202020204" pitchFamily="34" charset="0"/>
              </a:rPr>
              <a:t>Charity </a:t>
            </a:r>
            <a:r>
              <a:rPr lang="en-GB" sz="2800" dirty="0">
                <a:solidFill>
                  <a:schemeClr val="tx1"/>
                </a:solidFill>
                <a:latin typeface="Arial" panose="020B0604020202020204" pitchFamily="34" charset="0"/>
                <a:cs typeface="Arial" panose="020B0604020202020204" pitchFamily="34" charset="0"/>
              </a:rPr>
              <a:t>occupies a complex position within modern social welfare systems. While charitable organizations provide immediate relief through donations and humanitarian aid, critics argue that such interventions often fail to address structural causes of inequality. Overreliance on charity may obscure the responsibility of governments to implement sustainable social policies. Nevertheless, when integrated with institutional reform and community engagement, charity can play a meaningful role in promoting social justice and collective responsibility.</a:t>
            </a:r>
          </a:p>
        </p:txBody>
      </p:sp>
    </p:spTree>
    <p:extLst>
      <p:ext uri="{BB962C8B-B14F-4D97-AF65-F5344CB8AC3E}">
        <p14:creationId xmlns:p14="http://schemas.microsoft.com/office/powerpoint/2010/main" val="208907060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34462"/>
            <a:ext cx="8596668" cy="539262"/>
          </a:xfrm>
        </p:spPr>
        <p:txBody>
          <a:bodyPr>
            <a:normAutofit fontScale="90000"/>
          </a:bodyPr>
          <a:lstStyle/>
          <a:p>
            <a:r>
              <a:rPr lang="en-GB" b="1" dirty="0" smtClean="0">
                <a:solidFill>
                  <a:schemeClr val="tx1"/>
                </a:solidFill>
                <a:latin typeface="Arial" panose="020B0604020202020204" pitchFamily="34" charset="0"/>
                <a:cs typeface="Arial" panose="020B0604020202020204" pitchFamily="34" charset="0"/>
              </a:rPr>
              <a:t>Questions</a:t>
            </a:r>
            <a:endParaRPr lang="en-US" b="1" dirty="0">
              <a:solidFill>
                <a:schemeClr val="tx1"/>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677333" y="773725"/>
            <a:ext cx="10998851" cy="5744306"/>
          </a:xfrm>
          <a:solidFill>
            <a:schemeClr val="bg1"/>
          </a:solidFill>
        </p:spPr>
        <p:txBody>
          <a:bodyPr>
            <a:noAutofit/>
          </a:bodyPr>
          <a:lstStyle/>
          <a:p>
            <a:r>
              <a:rPr lang="en-GB" sz="2800" dirty="0">
                <a:solidFill>
                  <a:schemeClr val="tx1"/>
                </a:solidFill>
              </a:rPr>
              <a:t>Q1. What kind of help do charitable organizations provide according to the </a:t>
            </a:r>
            <a:r>
              <a:rPr lang="en-GB" sz="2800" dirty="0" smtClean="0">
                <a:solidFill>
                  <a:schemeClr val="tx1"/>
                </a:solidFill>
              </a:rPr>
              <a:t>text?</a:t>
            </a:r>
          </a:p>
          <a:p>
            <a:r>
              <a:rPr lang="en-GB" sz="2800" dirty="0" smtClean="0">
                <a:solidFill>
                  <a:schemeClr val="tx1"/>
                </a:solidFill>
              </a:rPr>
              <a:t>Q2</a:t>
            </a:r>
            <a:r>
              <a:rPr lang="en-GB" sz="2800" dirty="0">
                <a:solidFill>
                  <a:schemeClr val="tx1"/>
                </a:solidFill>
              </a:rPr>
              <a:t>. What long-term issue does charity fail to address, according to critics</a:t>
            </a:r>
            <a:r>
              <a:rPr lang="en-GB" sz="2800" dirty="0" smtClean="0">
                <a:solidFill>
                  <a:schemeClr val="tx1"/>
                </a:solidFill>
              </a:rPr>
              <a:t>?</a:t>
            </a:r>
          </a:p>
          <a:p>
            <a:r>
              <a:rPr lang="en-GB" sz="2800" dirty="0" smtClean="0">
                <a:solidFill>
                  <a:schemeClr val="tx1"/>
                </a:solidFill>
              </a:rPr>
              <a:t>Why </a:t>
            </a:r>
            <a:r>
              <a:rPr lang="en-GB" sz="2800" dirty="0">
                <a:solidFill>
                  <a:schemeClr val="tx1"/>
                </a:solidFill>
              </a:rPr>
              <a:t>does the author believe charity should not replace government action</a:t>
            </a:r>
            <a:r>
              <a:rPr lang="en-GB" sz="2800" dirty="0" smtClean="0">
                <a:solidFill>
                  <a:schemeClr val="tx1"/>
                </a:solidFill>
              </a:rPr>
              <a:t>?</a:t>
            </a:r>
          </a:p>
          <a:p>
            <a:r>
              <a:rPr lang="en-GB" sz="2800" dirty="0" smtClean="0">
                <a:solidFill>
                  <a:schemeClr val="tx1"/>
                </a:solidFill>
              </a:rPr>
              <a:t>Q4</a:t>
            </a:r>
            <a:r>
              <a:rPr lang="en-GB" sz="2800" dirty="0">
                <a:solidFill>
                  <a:schemeClr val="tx1"/>
                </a:solidFill>
              </a:rPr>
              <a:t>. How does the author describe the role of charity when combined with reform and community engagement</a:t>
            </a:r>
            <a:r>
              <a:rPr lang="en-GB" sz="2800" dirty="0" smtClean="0">
                <a:solidFill>
                  <a:schemeClr val="tx1"/>
                </a:solidFill>
              </a:rPr>
              <a:t>?</a:t>
            </a:r>
          </a:p>
          <a:p>
            <a:r>
              <a:rPr lang="en-GB" sz="2800" dirty="0" smtClean="0">
                <a:solidFill>
                  <a:schemeClr val="tx1"/>
                </a:solidFill>
              </a:rPr>
              <a:t>Q5</a:t>
            </a:r>
            <a:r>
              <a:rPr lang="en-GB" sz="2800" dirty="0">
                <a:solidFill>
                  <a:schemeClr val="tx1"/>
                </a:solidFill>
              </a:rPr>
              <a:t>. Identify one contrast the author makes between charity and structural </a:t>
            </a:r>
            <a:r>
              <a:rPr lang="en-GB" sz="2800" dirty="0" smtClean="0">
                <a:solidFill>
                  <a:schemeClr val="tx1"/>
                </a:solidFill>
              </a:rPr>
              <a:t>solutions.</a:t>
            </a:r>
          </a:p>
          <a:p>
            <a:r>
              <a:rPr lang="en-GB" sz="2800" dirty="0" smtClean="0">
                <a:solidFill>
                  <a:schemeClr val="tx1"/>
                </a:solidFill>
              </a:rPr>
              <a:t>Q6</a:t>
            </a:r>
            <a:r>
              <a:rPr lang="en-GB" sz="2800" dirty="0">
                <a:solidFill>
                  <a:schemeClr val="tx1"/>
                </a:solidFill>
              </a:rPr>
              <a:t>. Do you think the author’s argument about charity and government responsibility is convincing? Give one reason</a:t>
            </a:r>
            <a:r>
              <a:rPr lang="en-GB" sz="2800" dirty="0" smtClean="0">
                <a:solidFill>
                  <a:schemeClr val="tx1"/>
                </a:solidFill>
              </a:rPr>
              <a:t>.</a:t>
            </a:r>
            <a:endParaRPr lang="en-US" sz="2800" dirty="0">
              <a:solidFill>
                <a:schemeClr val="tx1"/>
              </a:solidFill>
            </a:endParaRPr>
          </a:p>
        </p:txBody>
      </p:sp>
    </p:spTree>
    <p:extLst>
      <p:ext uri="{BB962C8B-B14F-4D97-AF65-F5344CB8AC3E}">
        <p14:creationId xmlns:p14="http://schemas.microsoft.com/office/powerpoint/2010/main" val="295890355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394952"/>
          </a:xfrm>
        </p:spPr>
        <p:txBody>
          <a:bodyPr>
            <a:normAutofit fontScale="90000"/>
          </a:bodyPr>
          <a:lstStyle/>
          <a:p>
            <a:r>
              <a:rPr lang="en-GB" b="1" dirty="0" smtClean="0">
                <a:solidFill>
                  <a:schemeClr val="tx1"/>
                </a:solidFill>
                <a:latin typeface="Arial" panose="020B0604020202020204" pitchFamily="34" charset="0"/>
                <a:cs typeface="Arial" panose="020B0604020202020204" pitchFamily="34" charset="0"/>
              </a:rPr>
              <a:t>Answers</a:t>
            </a:r>
            <a:endParaRPr lang="en-US" b="1" dirty="0">
              <a:solidFill>
                <a:schemeClr val="tx1"/>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677334" y="1352282"/>
            <a:ext cx="8596668" cy="5112911"/>
          </a:xfrm>
        </p:spPr>
        <p:txBody>
          <a:bodyPr>
            <a:noAutofit/>
          </a:bodyPr>
          <a:lstStyle/>
          <a:p>
            <a:r>
              <a:rPr lang="en-GB" sz="2800" dirty="0">
                <a:latin typeface="Arial" panose="020B0604020202020204" pitchFamily="34" charset="0"/>
                <a:cs typeface="Arial" panose="020B0604020202020204" pitchFamily="34" charset="0"/>
              </a:rPr>
              <a:t> Immediate relief through donations and humanitarian aid</a:t>
            </a:r>
            <a:r>
              <a:rPr lang="en-GB" sz="2800" dirty="0" smtClean="0">
                <a:latin typeface="Arial" panose="020B0604020202020204" pitchFamily="34" charset="0"/>
                <a:cs typeface="Arial" panose="020B0604020202020204" pitchFamily="34" charset="0"/>
              </a:rPr>
              <a:t>.</a:t>
            </a:r>
          </a:p>
          <a:p>
            <a:r>
              <a:rPr lang="en-GB" sz="2800" dirty="0">
                <a:latin typeface="Arial" panose="020B0604020202020204" pitchFamily="34" charset="0"/>
                <a:cs typeface="Arial" panose="020B0604020202020204" pitchFamily="34" charset="0"/>
              </a:rPr>
              <a:t>The structural causes of inequality</a:t>
            </a:r>
            <a:r>
              <a:rPr lang="en-GB" sz="2800" dirty="0" smtClean="0">
                <a:latin typeface="Arial" panose="020B0604020202020204" pitchFamily="34" charset="0"/>
                <a:cs typeface="Arial" panose="020B0604020202020204" pitchFamily="34" charset="0"/>
              </a:rPr>
              <a:t>.</a:t>
            </a:r>
          </a:p>
          <a:p>
            <a:r>
              <a:rPr lang="en-GB" sz="2800" dirty="0" smtClean="0">
                <a:latin typeface="Arial" panose="020B0604020202020204" pitchFamily="34" charset="0"/>
                <a:cs typeface="Arial" panose="020B0604020202020204" pitchFamily="34" charset="0"/>
              </a:rPr>
              <a:t> Because </a:t>
            </a:r>
            <a:r>
              <a:rPr lang="en-GB" sz="2800" dirty="0">
                <a:latin typeface="Arial" panose="020B0604020202020204" pitchFamily="34" charset="0"/>
                <a:cs typeface="Arial" panose="020B0604020202020204" pitchFamily="34" charset="0"/>
              </a:rPr>
              <a:t>governments are responsible for long-term social policies.</a:t>
            </a:r>
            <a:endParaRPr lang="en-GB" sz="2800" dirty="0" smtClean="0">
              <a:latin typeface="Arial" panose="020B0604020202020204" pitchFamily="34" charset="0"/>
              <a:cs typeface="Arial" panose="020B0604020202020204" pitchFamily="34" charset="0"/>
            </a:endParaRPr>
          </a:p>
          <a:p>
            <a:r>
              <a:rPr lang="en-GB" sz="2800" dirty="0">
                <a:latin typeface="Arial" panose="020B0604020202020204" pitchFamily="34" charset="0"/>
                <a:cs typeface="Arial" panose="020B0604020202020204" pitchFamily="34" charset="0"/>
              </a:rPr>
              <a:t> It promotes social justice more effectively</a:t>
            </a:r>
            <a:r>
              <a:rPr lang="en-GB" sz="2800" dirty="0" smtClean="0">
                <a:latin typeface="Arial" panose="020B0604020202020204" pitchFamily="34" charset="0"/>
                <a:cs typeface="Arial" panose="020B0604020202020204" pitchFamily="34" charset="0"/>
              </a:rPr>
              <a:t>.</a:t>
            </a:r>
          </a:p>
          <a:p>
            <a:r>
              <a:rPr lang="en-GB" sz="2800" dirty="0">
                <a:latin typeface="Arial" panose="020B0604020202020204" pitchFamily="34" charset="0"/>
                <a:cs typeface="Arial" panose="020B0604020202020204" pitchFamily="34" charset="0"/>
              </a:rPr>
              <a:t>Charity offers short-term relief, while structural solutions create long-term change.</a:t>
            </a:r>
            <a:endParaRPr lang="en-GB" sz="2800" dirty="0" smtClean="0">
              <a:latin typeface="Arial" panose="020B0604020202020204" pitchFamily="34" charset="0"/>
              <a:cs typeface="Arial" panose="020B0604020202020204" pitchFamily="34" charset="0"/>
            </a:endParaRPr>
          </a:p>
          <a:p>
            <a:r>
              <a:rPr lang="en-GB" sz="2800" dirty="0">
                <a:latin typeface="Arial" panose="020B0604020202020204" pitchFamily="34" charset="0"/>
                <a:cs typeface="Arial" panose="020B0604020202020204" pitchFamily="34" charset="0"/>
              </a:rPr>
              <a:t> Yes, because charity alone cannot solve systemic problems.</a:t>
            </a:r>
          </a:p>
          <a:p>
            <a:endParaRPr 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961695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80" y="1"/>
            <a:ext cx="8596668" cy="708338"/>
          </a:xfrm>
        </p:spPr>
        <p:txBody>
          <a:bodyPr>
            <a:normAutofit/>
          </a:bodyPr>
          <a:lstStyle/>
          <a:p>
            <a:r>
              <a:rPr lang="en-GB" sz="3200" b="1" dirty="0" smtClean="0">
                <a:solidFill>
                  <a:schemeClr val="tx1"/>
                </a:solidFill>
                <a:latin typeface="Arial" panose="020B0604020202020204" pitchFamily="34" charset="0"/>
                <a:cs typeface="Arial" panose="020B0604020202020204" pitchFamily="34" charset="0"/>
              </a:rPr>
              <a:t>Label the questions</a:t>
            </a:r>
            <a:endParaRPr lang="en-US" sz="3200" b="1" dirty="0">
              <a:solidFill>
                <a:schemeClr val="tx1"/>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0" y="489398"/>
            <a:ext cx="12453869" cy="6368602"/>
          </a:xfrm>
          <a:solidFill>
            <a:schemeClr val="bg1"/>
          </a:solidFill>
        </p:spPr>
        <p:txBody>
          <a:bodyPr>
            <a:noAutofit/>
          </a:bodyPr>
          <a:lstStyle/>
          <a:p>
            <a:r>
              <a:rPr lang="en-GB" sz="2800" b="1" dirty="0" smtClean="0"/>
              <a:t>Remember</a:t>
            </a:r>
          </a:p>
          <a:p>
            <a:pPr>
              <a:buFont typeface="Wingdings" panose="05000000000000000000" pitchFamily="2" charset="2"/>
              <a:buChar char="§"/>
            </a:pPr>
            <a:r>
              <a:rPr lang="en-GB" sz="2800" dirty="0" smtClean="0"/>
              <a:t>What </a:t>
            </a:r>
            <a:r>
              <a:rPr lang="en-GB" sz="2800" dirty="0"/>
              <a:t>role does charity play in modern social welfare systems</a:t>
            </a:r>
            <a:r>
              <a:rPr lang="en-GB" sz="2800" dirty="0" smtClean="0"/>
              <a:t>?</a:t>
            </a:r>
          </a:p>
          <a:p>
            <a:pPr>
              <a:buFont typeface="Wingdings" panose="05000000000000000000" pitchFamily="2" charset="2"/>
              <a:buChar char="§"/>
            </a:pPr>
            <a:r>
              <a:rPr lang="en-GB" sz="2800" dirty="0" smtClean="0"/>
              <a:t>According </a:t>
            </a:r>
            <a:r>
              <a:rPr lang="en-GB" sz="2800" dirty="0"/>
              <a:t>to the text, what do charitable organizations provide</a:t>
            </a:r>
            <a:r>
              <a:rPr lang="en-GB" sz="2800" dirty="0" smtClean="0"/>
              <a:t>?</a:t>
            </a:r>
          </a:p>
          <a:p>
            <a:r>
              <a:rPr lang="en-GB" sz="2800" b="1" dirty="0" smtClean="0"/>
              <a:t>Understand</a:t>
            </a:r>
          </a:p>
          <a:p>
            <a:pPr>
              <a:buFont typeface="Wingdings" panose="05000000000000000000" pitchFamily="2" charset="2"/>
              <a:buChar char="§"/>
            </a:pPr>
            <a:r>
              <a:rPr lang="en-GB" sz="2800" dirty="0" smtClean="0"/>
              <a:t>Why </a:t>
            </a:r>
            <a:r>
              <a:rPr lang="en-GB" sz="2800" dirty="0"/>
              <a:t>do critics believe charity does not address structural causes of </a:t>
            </a:r>
            <a:r>
              <a:rPr lang="en-GB" sz="2800" dirty="0" smtClean="0"/>
              <a:t>inequality? How </a:t>
            </a:r>
            <a:r>
              <a:rPr lang="en-GB" sz="2800" dirty="0"/>
              <a:t>does the author describe the relationship between charity and government responsibility</a:t>
            </a:r>
            <a:r>
              <a:rPr lang="en-GB" sz="2800" dirty="0" smtClean="0"/>
              <a:t>?</a:t>
            </a:r>
          </a:p>
          <a:p>
            <a:r>
              <a:rPr lang="en-GB" sz="2800" b="1" dirty="0" smtClean="0"/>
              <a:t>Apply</a:t>
            </a:r>
          </a:p>
          <a:p>
            <a:pPr>
              <a:buFont typeface="Wingdings" panose="05000000000000000000" pitchFamily="2" charset="2"/>
              <a:buChar char="§"/>
            </a:pPr>
            <a:r>
              <a:rPr lang="en-GB" sz="2800" dirty="0" smtClean="0"/>
              <a:t>How </a:t>
            </a:r>
            <a:r>
              <a:rPr lang="en-GB" sz="2800" dirty="0"/>
              <a:t>could the ideas in this text be applied to a real-world social welfare </a:t>
            </a:r>
            <a:r>
              <a:rPr lang="en-GB" sz="2800" dirty="0" smtClean="0"/>
              <a:t>issue?/In </a:t>
            </a:r>
            <a:r>
              <a:rPr lang="en-GB" sz="2800" dirty="0"/>
              <a:t>what situation might charity be most effective according to the </a:t>
            </a:r>
            <a:r>
              <a:rPr lang="en-GB" sz="2800" dirty="0" smtClean="0"/>
              <a:t>author?</a:t>
            </a:r>
          </a:p>
          <a:p>
            <a:pPr marL="0" indent="0">
              <a:buNone/>
            </a:pPr>
            <a:r>
              <a:rPr lang="en-GB" sz="2800" dirty="0" smtClean="0"/>
              <a:t> </a:t>
            </a:r>
          </a:p>
          <a:p>
            <a:endParaRPr lang="en-US" sz="2800" dirty="0"/>
          </a:p>
        </p:txBody>
      </p:sp>
    </p:spTree>
    <p:extLst>
      <p:ext uri="{BB962C8B-B14F-4D97-AF65-F5344CB8AC3E}">
        <p14:creationId xmlns:p14="http://schemas.microsoft.com/office/powerpoint/2010/main" val="3475902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 calcmode="lin" valueType="num">
                                      <p:cBhvr additive="base">
                                        <p:cTn id="2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0" end="0"/>
                                            </p:txEl>
                                          </p:spTgt>
                                        </p:tgtEl>
                                        <p:attrNameLst>
                                          <p:attrName>style.visibility</p:attrName>
                                        </p:attrNameLst>
                                      </p:cBhvr>
                                      <p:to>
                                        <p:strVal val="visible"/>
                                      </p:to>
                                    </p:set>
                                    <p:anim calcmode="lin" valueType="num">
                                      <p:cBhvr additive="base">
                                        <p:cTn id="35"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3">
                                            <p:txEl>
                                              <p:pRg st="3" end="3"/>
                                            </p:txEl>
                                          </p:spTgt>
                                        </p:tgtEl>
                                        <p:attrNameLst>
                                          <p:attrName>style.visibility</p:attrName>
                                        </p:attrNameLst>
                                      </p:cBhvr>
                                      <p:to>
                                        <p:strVal val="visible"/>
                                      </p:to>
                                    </p:set>
                                    <p:anim calcmode="lin" valueType="num">
                                      <p:cBhvr additive="base">
                                        <p:cTn id="4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3">
                                            <p:txEl>
                                              <p:pRg st="5" end="5"/>
                                            </p:txEl>
                                          </p:spTgt>
                                        </p:tgtEl>
                                        <p:attrNameLst>
                                          <p:attrName>style.visibility</p:attrName>
                                        </p:attrNameLst>
                                      </p:cBhvr>
                                      <p:to>
                                        <p:strVal val="visible"/>
                                      </p:to>
                                    </p:set>
                                    <p:anim calcmode="lin" valueType="num">
                                      <p:cBhvr additive="base">
                                        <p:cTn id="4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0"/>
            <a:ext cx="8596668" cy="446469"/>
          </a:xfrm>
        </p:spPr>
        <p:txBody>
          <a:bodyPr>
            <a:normAutofit fontScale="90000"/>
          </a:bodyPr>
          <a:lstStyle/>
          <a:p>
            <a:r>
              <a:rPr lang="en-GB" b="1" dirty="0" smtClean="0">
                <a:solidFill>
                  <a:schemeClr val="tx1"/>
                </a:solidFill>
                <a:latin typeface="Arial" panose="020B0604020202020204" pitchFamily="34" charset="0"/>
                <a:cs typeface="Arial" panose="020B0604020202020204" pitchFamily="34" charset="0"/>
              </a:rPr>
              <a:t>Label the </a:t>
            </a:r>
            <a:r>
              <a:rPr lang="en-GB" b="1" dirty="0">
                <a:solidFill>
                  <a:schemeClr val="tx1"/>
                </a:solidFill>
                <a:latin typeface="Arial" panose="020B0604020202020204" pitchFamily="34" charset="0"/>
                <a:cs typeface="Arial" panose="020B0604020202020204" pitchFamily="34" charset="0"/>
              </a:rPr>
              <a:t>questions</a:t>
            </a:r>
            <a:endParaRPr lang="en-US" dirty="0"/>
          </a:p>
        </p:txBody>
      </p:sp>
      <p:sp>
        <p:nvSpPr>
          <p:cNvPr id="3" name="Content Placeholder 2"/>
          <p:cNvSpPr>
            <a:spLocks noGrp="1"/>
          </p:cNvSpPr>
          <p:nvPr>
            <p:ph idx="1"/>
          </p:nvPr>
        </p:nvSpPr>
        <p:spPr>
          <a:xfrm>
            <a:off x="193183" y="579549"/>
            <a:ext cx="11732653" cy="6542468"/>
          </a:xfrm>
          <a:solidFill>
            <a:schemeClr val="bg1"/>
          </a:solidFill>
        </p:spPr>
        <p:txBody>
          <a:bodyPr>
            <a:noAutofit/>
          </a:bodyPr>
          <a:lstStyle/>
          <a:p>
            <a:pPr>
              <a:buFont typeface="Wingdings" panose="05000000000000000000" pitchFamily="2" charset="2"/>
              <a:buChar char="Ø"/>
            </a:pPr>
            <a:r>
              <a:rPr lang="en-GB" sz="2800" b="1" dirty="0" err="1"/>
              <a:t>Analyze</a:t>
            </a:r>
            <a:endParaRPr lang="en-GB" sz="2800" b="1" dirty="0"/>
          </a:p>
          <a:p>
            <a:pPr>
              <a:buFont typeface="Wingdings" panose="05000000000000000000" pitchFamily="2" charset="2"/>
              <a:buChar char="§"/>
            </a:pPr>
            <a:r>
              <a:rPr lang="en-GB" sz="2800" dirty="0"/>
              <a:t>How does the author contrast immediate relief with long-term </a:t>
            </a:r>
            <a:r>
              <a:rPr lang="en-GB" sz="2800" dirty="0" smtClean="0"/>
              <a:t>solutions?/What </a:t>
            </a:r>
            <a:r>
              <a:rPr lang="en-GB" sz="2800" dirty="0"/>
              <a:t>assumptions does the author make about government responsibility? </a:t>
            </a:r>
          </a:p>
          <a:p>
            <a:r>
              <a:rPr lang="en-GB" sz="2800" b="1" dirty="0"/>
              <a:t>Evaluate</a:t>
            </a:r>
          </a:p>
          <a:p>
            <a:pPr>
              <a:buFont typeface="Wingdings" panose="05000000000000000000" pitchFamily="2" charset="2"/>
              <a:buChar char="§"/>
            </a:pPr>
            <a:r>
              <a:rPr lang="en-GB" sz="2800" dirty="0"/>
              <a:t>Do you agree that overreliance on charity can obscure government responsibility? Why or why not</a:t>
            </a:r>
            <a:r>
              <a:rPr lang="en-GB" sz="2800" dirty="0" smtClean="0"/>
              <a:t>?/How </a:t>
            </a:r>
            <a:r>
              <a:rPr lang="en-GB" sz="2800" dirty="0"/>
              <a:t>convincing is the author’s argument about integrating charity with institutional reform?</a:t>
            </a:r>
          </a:p>
          <a:p>
            <a:r>
              <a:rPr lang="en-GB" sz="2800" b="1" dirty="0"/>
              <a:t>Create</a:t>
            </a:r>
          </a:p>
          <a:p>
            <a:pPr>
              <a:buFont typeface="Wingdings" panose="05000000000000000000" pitchFamily="2" charset="2"/>
              <a:buChar char="§"/>
            </a:pPr>
            <a:r>
              <a:rPr lang="en-GB" sz="2800" dirty="0"/>
              <a:t>Propose a model in which charity and government work together to address social </a:t>
            </a:r>
            <a:r>
              <a:rPr lang="en-GB" sz="2800" dirty="0" err="1"/>
              <a:t>inequality.Write</a:t>
            </a:r>
            <a:r>
              <a:rPr lang="en-GB" sz="2800" dirty="0"/>
              <a:t> a brief thesis statement responding to the author’s view on charity</a:t>
            </a:r>
          </a:p>
        </p:txBody>
      </p:sp>
    </p:spTree>
    <p:extLst>
      <p:ext uri="{BB962C8B-B14F-4D97-AF65-F5344CB8AC3E}">
        <p14:creationId xmlns:p14="http://schemas.microsoft.com/office/powerpoint/2010/main" val="3309483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0" end="0"/>
                                            </p:txEl>
                                          </p:spTgt>
                                        </p:tgtEl>
                                        <p:attrNameLst>
                                          <p:attrName>style.visibility</p:attrName>
                                        </p:attrNameLst>
                                      </p:cBhvr>
                                      <p:to>
                                        <p:strVal val="visible"/>
                                      </p:to>
                                    </p:set>
                                    <p:anim calcmode="lin" valueType="num">
                                      <p:cBhvr additive="base">
                                        <p:cTn id="3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2" end="2"/>
                                            </p:txEl>
                                          </p:spTgt>
                                        </p:tgtEl>
                                        <p:attrNameLst>
                                          <p:attrName>style.visibility</p:attrName>
                                        </p:attrNameLst>
                                      </p:cBhvr>
                                      <p:to>
                                        <p:strVal val="visible"/>
                                      </p:to>
                                    </p:set>
                                    <p:anim calcmode="lin" valueType="num">
                                      <p:cBhvr additive="base">
                                        <p:cTn id="3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4" end="4"/>
                                            </p:txEl>
                                          </p:spTgt>
                                        </p:tgtEl>
                                        <p:attrNameLst>
                                          <p:attrName>style.visibility</p:attrName>
                                        </p:attrNameLst>
                                      </p:cBhvr>
                                      <p:to>
                                        <p:strVal val="visible"/>
                                      </p:to>
                                    </p:set>
                                    <p:anim calcmode="lin" valueType="num">
                                      <p:cBhvr additive="base">
                                        <p:cTn id="4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13147" y="477554"/>
            <a:ext cx="7616325" cy="4633993"/>
          </a:xfrm>
        </p:spPr>
        <p:txBody>
          <a:bodyPr>
            <a:noAutofit/>
          </a:bodyPr>
          <a:lstStyle/>
          <a:p>
            <a:pPr marL="0" indent="0">
              <a:buNone/>
            </a:pPr>
            <a:endParaRPr lang="en-GB" sz="2800" b="1" dirty="0">
              <a:solidFill>
                <a:schemeClr val="tx1"/>
              </a:solidFill>
              <a:latin typeface="Arial" panose="020B0604020202020204" pitchFamily="34" charset="0"/>
              <a:cs typeface="Arial" panose="020B0604020202020204" pitchFamily="34" charset="0"/>
            </a:endParaRPr>
          </a:p>
          <a:p>
            <a:pPr marL="0" indent="0">
              <a:buNone/>
            </a:pPr>
            <a:r>
              <a:rPr lang="en-GB" sz="2800" b="1" dirty="0">
                <a:solidFill>
                  <a:schemeClr val="tx1"/>
                </a:solidFill>
                <a:latin typeface="Arial" panose="020B0604020202020204" pitchFamily="34" charset="0"/>
                <a:cs typeface="Arial" panose="020B0604020202020204" pitchFamily="34" charset="0"/>
              </a:rPr>
              <a:t>How to approach unfamiliar words: </a:t>
            </a:r>
            <a:r>
              <a:rPr lang="en-GB" sz="2800" dirty="0">
                <a:solidFill>
                  <a:schemeClr val="tx1"/>
                </a:solidFill>
                <a:latin typeface="Arial" panose="020B0604020202020204" pitchFamily="34" charset="0"/>
                <a:cs typeface="Arial" panose="020B0604020202020204" pitchFamily="34" charset="0"/>
              </a:rPr>
              <a:t/>
            </a:r>
            <a:br>
              <a:rPr lang="en-GB" sz="2800" dirty="0">
                <a:solidFill>
                  <a:schemeClr val="tx1"/>
                </a:solidFill>
                <a:latin typeface="Arial" panose="020B0604020202020204" pitchFamily="34" charset="0"/>
                <a:cs typeface="Arial" panose="020B0604020202020204" pitchFamily="34" charset="0"/>
              </a:rPr>
            </a:br>
            <a:endParaRPr lang="en-GB" sz="2800" dirty="0">
              <a:solidFill>
                <a:schemeClr val="tx1"/>
              </a:solidFill>
              <a:latin typeface="Arial" panose="020B0604020202020204" pitchFamily="34" charset="0"/>
              <a:cs typeface="Arial" panose="020B0604020202020204" pitchFamily="34" charset="0"/>
            </a:endParaRPr>
          </a:p>
          <a:p>
            <a:pPr marL="0" indent="0">
              <a:buNone/>
            </a:pPr>
            <a:r>
              <a:rPr lang="en-GB" sz="2800" dirty="0">
                <a:solidFill>
                  <a:schemeClr val="tx1"/>
                </a:solidFill>
                <a:latin typeface="Arial" panose="020B0604020202020204" pitchFamily="34" charset="0"/>
                <a:cs typeface="Arial" panose="020B0604020202020204" pitchFamily="34" charset="0"/>
              </a:rPr>
              <a:t>1. Identify terms and their definitions </a:t>
            </a:r>
          </a:p>
          <a:p>
            <a:pPr marL="0" indent="0">
              <a:buNone/>
            </a:pPr>
            <a:r>
              <a:rPr lang="en-GB" sz="2800" dirty="0">
                <a:solidFill>
                  <a:schemeClr val="tx1"/>
                </a:solidFill>
                <a:latin typeface="Arial" panose="020B0604020202020204" pitchFamily="34" charset="0"/>
                <a:cs typeface="Arial" panose="020B0604020202020204" pitchFamily="34" charset="0"/>
              </a:rPr>
              <a:t>2.  Analyze word parts </a:t>
            </a:r>
          </a:p>
          <a:p>
            <a:pPr marL="0" indent="0">
              <a:buNone/>
            </a:pPr>
            <a:r>
              <a:rPr lang="en-GB" sz="2800" dirty="0">
                <a:solidFill>
                  <a:schemeClr val="tx1"/>
                </a:solidFill>
                <a:latin typeface="Arial" panose="020B0604020202020204" pitchFamily="34" charset="0"/>
                <a:cs typeface="Arial" panose="020B0604020202020204" pitchFamily="34" charset="0"/>
              </a:rPr>
              <a:t>3. Guess meaning in context </a:t>
            </a:r>
          </a:p>
          <a:p>
            <a:pPr marL="0" indent="0">
              <a:buNone/>
            </a:pPr>
            <a:r>
              <a:rPr lang="en-GB" sz="2800" dirty="0">
                <a:solidFill>
                  <a:schemeClr val="tx1"/>
                </a:solidFill>
                <a:latin typeface="Arial" panose="020B0604020202020204" pitchFamily="34" charset="0"/>
                <a:cs typeface="Arial" panose="020B0604020202020204" pitchFamily="34" charset="0"/>
              </a:rPr>
              <a:t>4. Ignore less-important unfamiliar words </a:t>
            </a:r>
          </a:p>
          <a:p>
            <a:endParaRPr lang="en-US" sz="28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518384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685" y="222143"/>
            <a:ext cx="8596668" cy="1320800"/>
          </a:xfrm>
        </p:spPr>
        <p:txBody>
          <a:bodyPr>
            <a:normAutofit/>
          </a:bodyPr>
          <a:lstStyle/>
          <a:p>
            <a:r>
              <a:rPr lang="en-GB" sz="3200" b="1" dirty="0">
                <a:solidFill>
                  <a:schemeClr val="tx1"/>
                </a:solidFill>
                <a:latin typeface="Arial" panose="020B0604020202020204" pitchFamily="34" charset="0"/>
                <a:cs typeface="Arial" panose="020B0604020202020204" pitchFamily="34" charset="0"/>
              </a:rPr>
              <a:t>Author’s Purpose</a:t>
            </a:r>
            <a:endParaRPr lang="en-US" sz="3200" b="1" dirty="0">
              <a:solidFill>
                <a:schemeClr val="tx1"/>
              </a:solidFill>
              <a:latin typeface="Arial" panose="020B0604020202020204" pitchFamily="34" charset="0"/>
              <a:cs typeface="Arial" panose="020B0604020202020204" pitchFamily="34" charset="0"/>
            </a:endParaRPr>
          </a:p>
        </p:txBody>
      </p:sp>
      <p:pic>
        <p:nvPicPr>
          <p:cNvPr id="4" name="Content Placeholder 3"/>
          <p:cNvPicPr>
            <a:picLocks noGrp="1" noChangeAspect="1"/>
          </p:cNvPicPr>
          <p:nvPr>
            <p:ph idx="1"/>
          </p:nvPr>
        </p:nvPicPr>
        <p:blipFill>
          <a:blip r:embed="rId2"/>
          <a:stretch>
            <a:fillRect/>
          </a:stretch>
        </p:blipFill>
        <p:spPr>
          <a:xfrm>
            <a:off x="1" y="774915"/>
            <a:ext cx="10492352" cy="6261315"/>
          </a:xfrm>
          <a:prstGeom prst="rect">
            <a:avLst/>
          </a:prstGeom>
        </p:spPr>
      </p:pic>
    </p:spTree>
    <p:extLst>
      <p:ext uri="{BB962C8B-B14F-4D97-AF65-F5344CB8AC3E}">
        <p14:creationId xmlns:p14="http://schemas.microsoft.com/office/powerpoint/2010/main" val="248789567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309966"/>
            <a:ext cx="8596668" cy="821410"/>
          </a:xfrm>
        </p:spPr>
        <p:txBody>
          <a:bodyPr>
            <a:normAutofit/>
          </a:bodyPr>
          <a:lstStyle/>
          <a:p>
            <a:r>
              <a:rPr lang="en-US" sz="2800" b="1" dirty="0">
                <a:solidFill>
                  <a:schemeClr val="tx1"/>
                </a:solidFill>
                <a:latin typeface="Arial" panose="020B0604020202020204" pitchFamily="34" charset="0"/>
                <a:cs typeface="Arial" panose="020B0604020202020204" pitchFamily="34" charset="0"/>
              </a:rPr>
              <a:t>Key</a:t>
            </a:r>
            <a:r>
              <a:rPr lang="en-US" sz="2800" dirty="0">
                <a:latin typeface="Arial" panose="020B0604020202020204" pitchFamily="34" charset="0"/>
                <a:cs typeface="Arial" panose="020B0604020202020204" pitchFamily="34" charset="0"/>
              </a:rPr>
              <a:t> </a:t>
            </a:r>
            <a:r>
              <a:rPr lang="en-US" sz="2800" b="1" dirty="0">
                <a:solidFill>
                  <a:schemeClr val="tx1"/>
                </a:solidFill>
                <a:latin typeface="Arial" panose="020B0604020202020204" pitchFamily="34" charset="0"/>
                <a:cs typeface="Arial" panose="020B0604020202020204" pitchFamily="34" charset="0"/>
              </a:rPr>
              <a:t>Words</a:t>
            </a:r>
          </a:p>
        </p:txBody>
      </p:sp>
      <p:sp>
        <p:nvSpPr>
          <p:cNvPr id="3" name="Content Placeholder 2"/>
          <p:cNvSpPr>
            <a:spLocks noGrp="1"/>
          </p:cNvSpPr>
          <p:nvPr>
            <p:ph idx="1"/>
          </p:nvPr>
        </p:nvSpPr>
        <p:spPr/>
        <p:txBody>
          <a:bodyPr/>
          <a:lstStyle/>
          <a:p>
            <a:pPr>
              <a:lnSpc>
                <a:spcPct val="100000"/>
              </a:lnSpc>
              <a:spcBef>
                <a:spcPts val="0"/>
              </a:spcBef>
            </a:pPr>
            <a:r>
              <a:rPr lang="en-US" b="1" u="sng" dirty="0"/>
              <a:t> </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1548122344"/>
              </p:ext>
            </p:extLst>
          </p:nvPr>
        </p:nvGraphicFramePr>
        <p:xfrm>
          <a:off x="677334" y="960895"/>
          <a:ext cx="8596668" cy="5897105"/>
        </p:xfrm>
        <a:graphic>
          <a:graphicData uri="http://schemas.openxmlformats.org/drawingml/2006/table">
            <a:tbl>
              <a:tblPr firstRow="1" bandRow="1">
                <a:tableStyleId>{5C22544A-7EE6-4342-B048-85BDC9FD1C3A}</a:tableStyleId>
              </a:tblPr>
              <a:tblGrid>
                <a:gridCol w="2865556">
                  <a:extLst>
                    <a:ext uri="{9D8B030D-6E8A-4147-A177-3AD203B41FA5}">
                      <a16:colId xmlns:a16="http://schemas.microsoft.com/office/drawing/2014/main" xmlns="" val="20000"/>
                    </a:ext>
                  </a:extLst>
                </a:gridCol>
                <a:gridCol w="2865556">
                  <a:extLst>
                    <a:ext uri="{9D8B030D-6E8A-4147-A177-3AD203B41FA5}">
                      <a16:colId xmlns:a16="http://schemas.microsoft.com/office/drawing/2014/main" xmlns="" val="20001"/>
                    </a:ext>
                  </a:extLst>
                </a:gridCol>
                <a:gridCol w="2865556">
                  <a:extLst>
                    <a:ext uri="{9D8B030D-6E8A-4147-A177-3AD203B41FA5}">
                      <a16:colId xmlns:a16="http://schemas.microsoft.com/office/drawing/2014/main" xmlns="" val="20002"/>
                    </a:ext>
                  </a:extLst>
                </a:gridCol>
              </a:tblGrid>
              <a:tr h="5897105">
                <a:tc>
                  <a:txBody>
                    <a:bodyPr/>
                    <a:lstStyle/>
                    <a:p>
                      <a:pPr>
                        <a:lnSpc>
                          <a:spcPct val="100000"/>
                        </a:lnSpc>
                        <a:spcBef>
                          <a:spcPts val="0"/>
                        </a:spcBef>
                      </a:pPr>
                      <a:r>
                        <a:rPr lang="en-US" sz="2800" b="1" u="sng" dirty="0">
                          <a:solidFill>
                            <a:schemeClr val="tx1"/>
                          </a:solidFill>
                          <a:latin typeface="Arial" panose="020B0604020202020204" pitchFamily="34" charset="0"/>
                          <a:cs typeface="Arial" panose="020B0604020202020204" pitchFamily="34" charset="0"/>
                        </a:rPr>
                        <a:t>to Persuade</a:t>
                      </a:r>
                    </a:p>
                    <a:p>
                      <a:pPr>
                        <a:lnSpc>
                          <a:spcPct val="100000"/>
                        </a:lnSpc>
                        <a:spcBef>
                          <a:spcPts val="0"/>
                        </a:spcBef>
                      </a:pPr>
                      <a:r>
                        <a:rPr lang="en-US" sz="2800" dirty="0">
                          <a:solidFill>
                            <a:schemeClr val="tx1"/>
                          </a:solidFill>
                          <a:latin typeface="Arial" panose="020B0604020202020204" pitchFamily="34" charset="0"/>
                          <a:cs typeface="Arial" panose="020B0604020202020204" pitchFamily="34" charset="0"/>
                        </a:rPr>
                        <a:t>Influence             </a:t>
                      </a:r>
                    </a:p>
                    <a:p>
                      <a:pPr>
                        <a:lnSpc>
                          <a:spcPct val="100000"/>
                        </a:lnSpc>
                        <a:spcBef>
                          <a:spcPts val="0"/>
                        </a:spcBef>
                      </a:pPr>
                      <a:r>
                        <a:rPr lang="en-US" sz="2800" dirty="0">
                          <a:solidFill>
                            <a:schemeClr val="tx1"/>
                          </a:solidFill>
                          <a:latin typeface="Arial" panose="020B0604020202020204" pitchFamily="34" charset="0"/>
                          <a:cs typeface="Arial" panose="020B0604020202020204" pitchFamily="34" charset="0"/>
                        </a:rPr>
                        <a:t>Encourage</a:t>
                      </a:r>
                    </a:p>
                    <a:p>
                      <a:pPr>
                        <a:lnSpc>
                          <a:spcPct val="100000"/>
                        </a:lnSpc>
                        <a:spcBef>
                          <a:spcPts val="0"/>
                        </a:spcBef>
                      </a:pPr>
                      <a:r>
                        <a:rPr lang="en-US" sz="2800" dirty="0">
                          <a:solidFill>
                            <a:schemeClr val="tx1"/>
                          </a:solidFill>
                          <a:latin typeface="Arial" panose="020B0604020202020204" pitchFamily="34" charset="0"/>
                          <a:cs typeface="Arial" panose="020B0604020202020204" pitchFamily="34" charset="0"/>
                        </a:rPr>
                        <a:t>Convince</a:t>
                      </a:r>
                    </a:p>
                    <a:p>
                      <a:pPr>
                        <a:lnSpc>
                          <a:spcPct val="100000"/>
                        </a:lnSpc>
                        <a:spcBef>
                          <a:spcPts val="0"/>
                        </a:spcBef>
                      </a:pPr>
                      <a:r>
                        <a:rPr lang="en-US" sz="2800" dirty="0">
                          <a:solidFill>
                            <a:schemeClr val="tx1"/>
                          </a:solidFill>
                          <a:latin typeface="Arial" panose="020B0604020202020204" pitchFamily="34" charset="0"/>
                          <a:cs typeface="Arial" panose="020B0604020202020204" pitchFamily="34" charset="0"/>
                        </a:rPr>
                        <a:t>Prove </a:t>
                      </a:r>
                    </a:p>
                    <a:p>
                      <a:pPr>
                        <a:lnSpc>
                          <a:spcPct val="100000"/>
                        </a:lnSpc>
                        <a:spcBef>
                          <a:spcPts val="0"/>
                        </a:spcBef>
                      </a:pPr>
                      <a:r>
                        <a:rPr lang="en-US" sz="2800" dirty="0">
                          <a:solidFill>
                            <a:schemeClr val="tx1"/>
                          </a:solidFill>
                          <a:latin typeface="Arial" panose="020B0604020202020204" pitchFamily="34" charset="0"/>
                          <a:cs typeface="Arial" panose="020B0604020202020204" pitchFamily="34" charset="0"/>
                        </a:rPr>
                        <a:t>Urge</a:t>
                      </a:r>
                    </a:p>
                    <a:p>
                      <a:pPr>
                        <a:lnSpc>
                          <a:spcPct val="100000"/>
                        </a:lnSpc>
                        <a:spcBef>
                          <a:spcPts val="0"/>
                        </a:spcBef>
                      </a:pPr>
                      <a:r>
                        <a:rPr lang="en-US" sz="2800" dirty="0">
                          <a:solidFill>
                            <a:schemeClr val="tx1"/>
                          </a:solidFill>
                          <a:latin typeface="Arial" panose="020B0604020202020204" pitchFamily="34" charset="0"/>
                          <a:cs typeface="Arial" panose="020B0604020202020204" pitchFamily="34" charset="0"/>
                        </a:rPr>
                        <a:t>Sell </a:t>
                      </a:r>
                    </a:p>
                    <a:p>
                      <a:pPr>
                        <a:lnSpc>
                          <a:spcPct val="100000"/>
                        </a:lnSpc>
                        <a:spcBef>
                          <a:spcPts val="0"/>
                        </a:spcBef>
                      </a:pPr>
                      <a:r>
                        <a:rPr lang="en-US" sz="2800" dirty="0">
                          <a:solidFill>
                            <a:schemeClr val="tx1"/>
                          </a:solidFill>
                          <a:latin typeface="Arial" panose="020B0604020202020204" pitchFamily="34" charset="0"/>
                          <a:cs typeface="Arial" panose="020B0604020202020204" pitchFamily="34" charset="0"/>
                        </a:rPr>
                        <a:t>Inspire</a:t>
                      </a:r>
                    </a:p>
                    <a:p>
                      <a:pPr>
                        <a:lnSpc>
                          <a:spcPct val="100000"/>
                        </a:lnSpc>
                        <a:spcBef>
                          <a:spcPts val="0"/>
                        </a:spcBef>
                      </a:pPr>
                      <a:r>
                        <a:rPr lang="en-US" sz="2800" dirty="0">
                          <a:solidFill>
                            <a:schemeClr val="tx1"/>
                          </a:solidFill>
                          <a:latin typeface="Arial" panose="020B0604020202020204" pitchFamily="34" charset="0"/>
                          <a:cs typeface="Arial" panose="020B0604020202020204" pitchFamily="34" charset="0"/>
                        </a:rPr>
                        <a:t>Convert</a:t>
                      </a:r>
                    </a:p>
                    <a:p>
                      <a:pPr>
                        <a:lnSpc>
                          <a:spcPct val="100000"/>
                        </a:lnSpc>
                        <a:spcBef>
                          <a:spcPts val="0"/>
                        </a:spcBef>
                      </a:pPr>
                      <a:r>
                        <a:rPr lang="en-US" sz="2800" dirty="0">
                          <a:solidFill>
                            <a:schemeClr val="tx1"/>
                          </a:solidFill>
                          <a:latin typeface="Arial" panose="020B0604020202020204" pitchFamily="34" charset="0"/>
                          <a:cs typeface="Arial" panose="020B0604020202020204" pitchFamily="34" charset="0"/>
                        </a:rPr>
                        <a:t>Assure</a:t>
                      </a:r>
                    </a:p>
                  </a:txBody>
                  <a:tcPr>
                    <a:solidFill>
                      <a:schemeClr val="accent1">
                        <a:lumMod val="20000"/>
                        <a:lumOff val="80000"/>
                      </a:schemeClr>
                    </a:solidFill>
                  </a:tcPr>
                </a:tc>
                <a:tc>
                  <a:txBody>
                    <a:bodyPr/>
                    <a:lstStyle/>
                    <a:p>
                      <a:pPr>
                        <a:lnSpc>
                          <a:spcPct val="110000"/>
                        </a:lnSpc>
                        <a:spcBef>
                          <a:spcPts val="0"/>
                        </a:spcBef>
                      </a:pPr>
                      <a:r>
                        <a:rPr lang="en-US" sz="2800" b="1" u="sng" dirty="0">
                          <a:solidFill>
                            <a:schemeClr val="tx1"/>
                          </a:solidFill>
                          <a:latin typeface="Arial" panose="020B0604020202020204" pitchFamily="34" charset="0"/>
                          <a:cs typeface="Arial" panose="020B0604020202020204" pitchFamily="34" charset="0"/>
                        </a:rPr>
                        <a:t>to Inform </a:t>
                      </a:r>
                    </a:p>
                    <a:p>
                      <a:pPr>
                        <a:lnSpc>
                          <a:spcPct val="110000"/>
                        </a:lnSpc>
                        <a:spcBef>
                          <a:spcPts val="0"/>
                        </a:spcBef>
                      </a:pPr>
                      <a:r>
                        <a:rPr lang="en-US" sz="2800" dirty="0">
                          <a:solidFill>
                            <a:schemeClr val="tx1"/>
                          </a:solidFill>
                          <a:latin typeface="Arial" panose="020B0604020202020204" pitchFamily="34" charset="0"/>
                          <a:cs typeface="Arial" panose="020B0604020202020204" pitchFamily="34" charset="0"/>
                        </a:rPr>
                        <a:t>Understand</a:t>
                      </a:r>
                    </a:p>
                    <a:p>
                      <a:pPr>
                        <a:lnSpc>
                          <a:spcPct val="110000"/>
                        </a:lnSpc>
                        <a:spcBef>
                          <a:spcPts val="0"/>
                        </a:spcBef>
                      </a:pPr>
                      <a:r>
                        <a:rPr lang="en-US" sz="2800" dirty="0">
                          <a:solidFill>
                            <a:schemeClr val="tx1"/>
                          </a:solidFill>
                          <a:latin typeface="Arial" panose="020B0604020202020204" pitchFamily="34" charset="0"/>
                          <a:cs typeface="Arial" panose="020B0604020202020204" pitchFamily="34" charset="0"/>
                        </a:rPr>
                        <a:t>Show </a:t>
                      </a:r>
                    </a:p>
                    <a:p>
                      <a:pPr>
                        <a:lnSpc>
                          <a:spcPct val="110000"/>
                        </a:lnSpc>
                        <a:spcBef>
                          <a:spcPts val="0"/>
                        </a:spcBef>
                      </a:pPr>
                      <a:r>
                        <a:rPr lang="en-US" sz="2800" dirty="0">
                          <a:solidFill>
                            <a:schemeClr val="tx1"/>
                          </a:solidFill>
                          <a:latin typeface="Arial" panose="020B0604020202020204" pitchFamily="34" charset="0"/>
                          <a:cs typeface="Arial" panose="020B0604020202020204" pitchFamily="34" charset="0"/>
                        </a:rPr>
                        <a:t>Describe</a:t>
                      </a:r>
                    </a:p>
                    <a:p>
                      <a:pPr>
                        <a:lnSpc>
                          <a:spcPct val="110000"/>
                        </a:lnSpc>
                        <a:spcBef>
                          <a:spcPts val="0"/>
                        </a:spcBef>
                      </a:pPr>
                      <a:r>
                        <a:rPr lang="en-US" sz="2800" dirty="0">
                          <a:solidFill>
                            <a:schemeClr val="tx1"/>
                          </a:solidFill>
                          <a:latin typeface="Arial" panose="020B0604020202020204" pitchFamily="34" charset="0"/>
                          <a:cs typeface="Arial" panose="020B0604020202020204" pitchFamily="34" charset="0"/>
                        </a:rPr>
                        <a:t>Educate</a:t>
                      </a:r>
                    </a:p>
                    <a:p>
                      <a:pPr>
                        <a:lnSpc>
                          <a:spcPct val="110000"/>
                        </a:lnSpc>
                        <a:spcBef>
                          <a:spcPts val="0"/>
                        </a:spcBef>
                      </a:pPr>
                      <a:r>
                        <a:rPr lang="en-US" sz="2800" dirty="0">
                          <a:solidFill>
                            <a:schemeClr val="tx1"/>
                          </a:solidFill>
                          <a:latin typeface="Arial" panose="020B0604020202020204" pitchFamily="34" charset="0"/>
                          <a:cs typeface="Arial" panose="020B0604020202020204" pitchFamily="34" charset="0"/>
                        </a:rPr>
                        <a:t>Discuss</a:t>
                      </a:r>
                    </a:p>
                    <a:p>
                      <a:pPr>
                        <a:lnSpc>
                          <a:spcPct val="110000"/>
                        </a:lnSpc>
                        <a:spcBef>
                          <a:spcPts val="0"/>
                        </a:spcBef>
                      </a:pPr>
                      <a:r>
                        <a:rPr lang="en-US" sz="2800" dirty="0">
                          <a:solidFill>
                            <a:schemeClr val="tx1"/>
                          </a:solidFill>
                          <a:latin typeface="Arial" panose="020B0604020202020204" pitchFamily="34" charset="0"/>
                          <a:cs typeface="Arial" panose="020B0604020202020204" pitchFamily="34" charset="0"/>
                        </a:rPr>
                        <a:t>Explain </a:t>
                      </a:r>
                    </a:p>
                    <a:p>
                      <a:pPr>
                        <a:lnSpc>
                          <a:spcPct val="110000"/>
                        </a:lnSpc>
                        <a:spcBef>
                          <a:spcPts val="0"/>
                        </a:spcBef>
                      </a:pPr>
                      <a:r>
                        <a:rPr lang="en-US" sz="2800" dirty="0">
                          <a:solidFill>
                            <a:schemeClr val="tx1"/>
                          </a:solidFill>
                          <a:latin typeface="Arial" panose="020B0604020202020204" pitchFamily="34" charset="0"/>
                          <a:cs typeface="Arial" panose="020B0604020202020204" pitchFamily="34" charset="0"/>
                        </a:rPr>
                        <a:t>Teach</a:t>
                      </a:r>
                    </a:p>
                    <a:p>
                      <a:pPr>
                        <a:lnSpc>
                          <a:spcPct val="110000"/>
                        </a:lnSpc>
                        <a:spcBef>
                          <a:spcPts val="0"/>
                        </a:spcBef>
                      </a:pPr>
                      <a:r>
                        <a:rPr lang="en-US" sz="2800" dirty="0">
                          <a:solidFill>
                            <a:schemeClr val="tx1"/>
                          </a:solidFill>
                          <a:latin typeface="Arial" panose="020B0604020202020204" pitchFamily="34" charset="0"/>
                          <a:cs typeface="Arial" panose="020B0604020202020204" pitchFamily="34" charset="0"/>
                        </a:rPr>
                        <a:t>Give information</a:t>
                      </a:r>
                    </a:p>
                    <a:p>
                      <a:pPr>
                        <a:lnSpc>
                          <a:spcPct val="110000"/>
                        </a:lnSpc>
                        <a:spcBef>
                          <a:spcPts val="0"/>
                        </a:spcBef>
                      </a:pPr>
                      <a:r>
                        <a:rPr lang="en-US" sz="2800" dirty="0">
                          <a:solidFill>
                            <a:schemeClr val="tx1"/>
                          </a:solidFill>
                          <a:latin typeface="Arial" panose="020B0604020202020204" pitchFamily="34" charset="0"/>
                          <a:cs typeface="Arial" panose="020B0604020202020204" pitchFamily="34" charset="0"/>
                        </a:rPr>
                        <a:t>Illustrate</a:t>
                      </a:r>
                    </a:p>
                  </a:txBody>
                  <a:tcPr>
                    <a:solidFill>
                      <a:schemeClr val="accent1">
                        <a:lumMod val="20000"/>
                        <a:lumOff val="80000"/>
                      </a:schemeClr>
                    </a:solidFill>
                  </a:tcPr>
                </a:tc>
                <a:tc>
                  <a:txBody>
                    <a:bodyPr/>
                    <a:lstStyle/>
                    <a:p>
                      <a:pPr>
                        <a:lnSpc>
                          <a:spcPct val="100000"/>
                        </a:lnSpc>
                        <a:spcBef>
                          <a:spcPts val="0"/>
                        </a:spcBef>
                      </a:pPr>
                      <a:r>
                        <a:rPr lang="en-US" sz="2800" b="1" u="sng" dirty="0">
                          <a:solidFill>
                            <a:schemeClr val="tx1"/>
                          </a:solidFill>
                          <a:latin typeface="Arial" panose="020B0604020202020204" pitchFamily="34" charset="0"/>
                          <a:cs typeface="Arial" panose="020B0604020202020204" pitchFamily="34" charset="0"/>
                        </a:rPr>
                        <a:t>to Entertain</a:t>
                      </a:r>
                    </a:p>
                    <a:p>
                      <a:pPr>
                        <a:lnSpc>
                          <a:spcPct val="100000"/>
                        </a:lnSpc>
                        <a:spcBef>
                          <a:spcPts val="0"/>
                        </a:spcBef>
                      </a:pPr>
                      <a:r>
                        <a:rPr lang="en-US" sz="2800" dirty="0">
                          <a:solidFill>
                            <a:schemeClr val="tx1"/>
                          </a:solidFill>
                          <a:latin typeface="Arial" panose="020B0604020202020204" pitchFamily="34" charset="0"/>
                          <a:cs typeface="Arial" panose="020B0604020202020204" pitchFamily="34" charset="0"/>
                        </a:rPr>
                        <a:t>Tell</a:t>
                      </a:r>
                    </a:p>
                    <a:p>
                      <a:pPr>
                        <a:lnSpc>
                          <a:spcPct val="100000"/>
                        </a:lnSpc>
                        <a:spcBef>
                          <a:spcPts val="0"/>
                        </a:spcBef>
                      </a:pPr>
                      <a:r>
                        <a:rPr lang="en-US" sz="2800" dirty="0">
                          <a:solidFill>
                            <a:schemeClr val="tx1"/>
                          </a:solidFill>
                          <a:latin typeface="Arial" panose="020B0604020202020204" pitchFamily="34" charset="0"/>
                          <a:cs typeface="Arial" panose="020B0604020202020204" pitchFamily="34" charset="0"/>
                        </a:rPr>
                        <a:t>Share an experience</a:t>
                      </a:r>
                    </a:p>
                    <a:p>
                      <a:pPr>
                        <a:lnSpc>
                          <a:spcPct val="100000"/>
                        </a:lnSpc>
                        <a:spcBef>
                          <a:spcPts val="0"/>
                        </a:spcBef>
                      </a:pPr>
                      <a:r>
                        <a:rPr lang="en-US" sz="2800" dirty="0">
                          <a:solidFill>
                            <a:schemeClr val="tx1"/>
                          </a:solidFill>
                          <a:latin typeface="Arial" panose="020B0604020202020204" pitchFamily="34" charset="0"/>
                          <a:cs typeface="Arial" panose="020B0604020202020204" pitchFamily="34" charset="0"/>
                        </a:rPr>
                        <a:t>Relate</a:t>
                      </a:r>
                    </a:p>
                    <a:p>
                      <a:pPr>
                        <a:lnSpc>
                          <a:spcPct val="100000"/>
                        </a:lnSpc>
                        <a:spcBef>
                          <a:spcPts val="0"/>
                        </a:spcBef>
                      </a:pPr>
                      <a:r>
                        <a:rPr lang="en-US" sz="2800" dirty="0">
                          <a:solidFill>
                            <a:schemeClr val="tx1"/>
                          </a:solidFill>
                          <a:latin typeface="Arial" panose="020B0604020202020204" pitchFamily="34" charset="0"/>
                          <a:cs typeface="Arial" panose="020B0604020202020204" pitchFamily="34" charset="0"/>
                        </a:rPr>
                        <a:t>Provide details</a:t>
                      </a:r>
                    </a:p>
                    <a:p>
                      <a:pPr>
                        <a:lnSpc>
                          <a:spcPct val="100000"/>
                        </a:lnSpc>
                        <a:spcBef>
                          <a:spcPts val="0"/>
                        </a:spcBef>
                      </a:pPr>
                      <a:r>
                        <a:rPr lang="en-US" sz="2800" dirty="0">
                          <a:solidFill>
                            <a:schemeClr val="tx1"/>
                          </a:solidFill>
                          <a:latin typeface="Arial" panose="020B0604020202020204" pitchFamily="34" charset="0"/>
                          <a:cs typeface="Arial" panose="020B0604020202020204" pitchFamily="34" charset="0"/>
                        </a:rPr>
                        <a:t>Create</a:t>
                      </a:r>
                    </a:p>
                  </a:txBody>
                  <a:tcPr>
                    <a:solidFill>
                      <a:schemeClr val="accent1">
                        <a:lumMod val="20000"/>
                        <a:lumOff val="80000"/>
                      </a:schemeClr>
                    </a:solidFill>
                  </a:tcPr>
                </a:tc>
                <a:extLst>
                  <a:ext uri="{0D108BD9-81ED-4DB2-BD59-A6C34878D82A}">
                    <a16:rowId xmlns:a16="http://schemas.microsoft.com/office/drawing/2014/main" xmlns="" val="10000"/>
                  </a:ext>
                </a:extLst>
              </a:tr>
            </a:tbl>
          </a:graphicData>
        </a:graphic>
      </p:graphicFrame>
    </p:spTree>
    <p:extLst>
      <p:ext uri="{BB962C8B-B14F-4D97-AF65-F5344CB8AC3E}">
        <p14:creationId xmlns:p14="http://schemas.microsoft.com/office/powerpoint/2010/main" val="119162020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5643" y="141552"/>
            <a:ext cx="10465947" cy="1036320"/>
          </a:xfrm>
        </p:spPr>
        <p:txBody>
          <a:bodyPr>
            <a:normAutofit/>
          </a:bodyPr>
          <a:lstStyle/>
          <a:p>
            <a:r>
              <a:rPr lang="en-US" sz="2800" b="1" dirty="0">
                <a:solidFill>
                  <a:schemeClr val="tx1"/>
                </a:solidFill>
                <a:latin typeface="Arial" panose="020B0604020202020204" pitchFamily="34" charset="0"/>
                <a:cs typeface="Arial" panose="020B0604020202020204" pitchFamily="34" charset="0"/>
              </a:rPr>
              <a:t>Question Stems: Short phrases or prompts to formulate questions</a:t>
            </a:r>
          </a:p>
        </p:txBody>
      </p:sp>
      <p:sp>
        <p:nvSpPr>
          <p:cNvPr id="3" name="Content Placeholder 2"/>
          <p:cNvSpPr>
            <a:spLocks noGrp="1"/>
          </p:cNvSpPr>
          <p:nvPr>
            <p:ph idx="1"/>
          </p:nvPr>
        </p:nvSpPr>
        <p:spPr>
          <a:xfrm>
            <a:off x="185980" y="1177872"/>
            <a:ext cx="11205274" cy="5680128"/>
          </a:xfrm>
          <a:solidFill>
            <a:schemeClr val="bg1"/>
          </a:solidFill>
        </p:spPr>
        <p:txBody>
          <a:bodyPr>
            <a:noAutofit/>
          </a:bodyPr>
          <a:lstStyle/>
          <a:p>
            <a:pPr>
              <a:spcBef>
                <a:spcPts val="0"/>
              </a:spcBef>
            </a:pPr>
            <a:r>
              <a:rPr lang="en-US" sz="2800" b="1" dirty="0">
                <a:solidFill>
                  <a:schemeClr val="tx1"/>
                </a:solidFill>
                <a:latin typeface="Arial" panose="020B0604020202020204" pitchFamily="34" charset="0"/>
                <a:cs typeface="Arial" panose="020B0604020202020204" pitchFamily="34" charset="0"/>
              </a:rPr>
              <a:t>Informative Purpose:</a:t>
            </a:r>
            <a:endParaRPr lang="en-US" sz="2800" dirty="0">
              <a:solidFill>
                <a:schemeClr val="tx1"/>
              </a:solidFill>
              <a:latin typeface="Arial" panose="020B0604020202020204" pitchFamily="34" charset="0"/>
              <a:cs typeface="Arial" panose="020B0604020202020204" pitchFamily="34" charset="0"/>
            </a:endParaRPr>
          </a:p>
          <a:p>
            <a:pPr lvl="1">
              <a:spcBef>
                <a:spcPts val="0"/>
              </a:spcBef>
              <a:buFont typeface="Wingdings" panose="05000000000000000000" pitchFamily="2" charset="2"/>
              <a:buChar char="§"/>
            </a:pPr>
            <a:r>
              <a:rPr lang="en-US" sz="2800" dirty="0">
                <a:solidFill>
                  <a:schemeClr val="tx1"/>
                </a:solidFill>
                <a:latin typeface="Arial" panose="020B0604020202020204" pitchFamily="34" charset="0"/>
                <a:cs typeface="Arial" panose="020B0604020202020204" pitchFamily="34" charset="0"/>
              </a:rPr>
              <a:t>What is the primary goal of the author in....?</a:t>
            </a:r>
          </a:p>
          <a:p>
            <a:pPr lvl="1">
              <a:spcBef>
                <a:spcPts val="0"/>
              </a:spcBef>
              <a:buFont typeface="Wingdings" panose="05000000000000000000" pitchFamily="2" charset="2"/>
              <a:buChar char="§"/>
            </a:pPr>
            <a:r>
              <a:rPr lang="en-US" sz="2800" dirty="0">
                <a:solidFill>
                  <a:schemeClr val="tx1"/>
                </a:solidFill>
                <a:latin typeface="Arial" panose="020B0604020202020204" pitchFamily="34" charset="0"/>
                <a:cs typeface="Arial" panose="020B0604020202020204" pitchFamily="34" charset="0"/>
              </a:rPr>
              <a:t>How does the author aim to educate the reader about...?</a:t>
            </a:r>
          </a:p>
          <a:p>
            <a:pPr lvl="1">
              <a:spcBef>
                <a:spcPts val="0"/>
              </a:spcBef>
              <a:buFont typeface="Wingdings" panose="05000000000000000000" pitchFamily="2" charset="2"/>
              <a:buChar char="§"/>
            </a:pPr>
            <a:r>
              <a:rPr lang="en-US" sz="2800" dirty="0">
                <a:solidFill>
                  <a:schemeClr val="tx1"/>
                </a:solidFill>
                <a:latin typeface="Arial" panose="020B0604020202020204" pitchFamily="34" charset="0"/>
                <a:cs typeface="Arial" panose="020B0604020202020204" pitchFamily="34" charset="0"/>
              </a:rPr>
              <a:t>What information is the author trying to convey to the audience?</a:t>
            </a:r>
          </a:p>
          <a:p>
            <a:pPr lvl="1">
              <a:spcBef>
                <a:spcPts val="0"/>
              </a:spcBef>
              <a:buFont typeface="Wingdings" panose="05000000000000000000" pitchFamily="2" charset="2"/>
              <a:buChar char="§"/>
            </a:pPr>
            <a:r>
              <a:rPr lang="en-US" sz="2800" dirty="0">
                <a:solidFill>
                  <a:schemeClr val="tx1"/>
                </a:solidFill>
                <a:latin typeface="Arial" panose="020B0604020202020204" pitchFamily="34" charset="0"/>
                <a:cs typeface="Arial" panose="020B0604020202020204" pitchFamily="34" charset="0"/>
              </a:rPr>
              <a:t>In what ways does the author provide facts, data, or explanations to inform the reader?</a:t>
            </a:r>
          </a:p>
          <a:p>
            <a:pPr>
              <a:spcBef>
                <a:spcPts val="0"/>
              </a:spcBef>
            </a:pPr>
            <a:r>
              <a:rPr lang="en-US" sz="2800" b="1" dirty="0">
                <a:solidFill>
                  <a:schemeClr val="tx1"/>
                </a:solidFill>
                <a:latin typeface="Arial" panose="020B0604020202020204" pitchFamily="34" charset="0"/>
                <a:cs typeface="Arial" panose="020B0604020202020204" pitchFamily="34" charset="0"/>
              </a:rPr>
              <a:t>Persuasive Purpose:</a:t>
            </a:r>
            <a:endParaRPr lang="en-US" sz="2800" dirty="0">
              <a:solidFill>
                <a:schemeClr val="tx1"/>
              </a:solidFill>
              <a:latin typeface="Arial" panose="020B0604020202020204" pitchFamily="34" charset="0"/>
              <a:cs typeface="Arial" panose="020B0604020202020204" pitchFamily="34" charset="0"/>
            </a:endParaRPr>
          </a:p>
          <a:p>
            <a:pPr lvl="1">
              <a:spcBef>
                <a:spcPts val="0"/>
              </a:spcBef>
              <a:buFont typeface="Wingdings" panose="05000000000000000000" pitchFamily="2" charset="2"/>
              <a:buChar char="§"/>
            </a:pPr>
            <a:r>
              <a:rPr lang="en-US" sz="2800" dirty="0">
                <a:solidFill>
                  <a:schemeClr val="tx1"/>
                </a:solidFill>
                <a:latin typeface="Arial" panose="020B0604020202020204" pitchFamily="34" charset="0"/>
                <a:cs typeface="Arial" panose="020B0604020202020204" pitchFamily="34" charset="0"/>
              </a:rPr>
              <a:t>What argument or viewpoint is the author trying to promote?</a:t>
            </a:r>
          </a:p>
          <a:p>
            <a:pPr lvl="1">
              <a:spcBef>
                <a:spcPts val="0"/>
              </a:spcBef>
              <a:buFont typeface="Wingdings" panose="05000000000000000000" pitchFamily="2" charset="2"/>
              <a:buChar char="§"/>
            </a:pPr>
            <a:r>
              <a:rPr lang="en-US" sz="2800" dirty="0">
                <a:solidFill>
                  <a:schemeClr val="tx1"/>
                </a:solidFill>
                <a:latin typeface="Arial" panose="020B0604020202020204" pitchFamily="34" charset="0"/>
                <a:cs typeface="Arial" panose="020B0604020202020204" pitchFamily="34" charset="0"/>
              </a:rPr>
              <a:t>How does the author use language and evidence to convince the reader of a particular perspective?</a:t>
            </a:r>
          </a:p>
          <a:p>
            <a:pPr lvl="1">
              <a:spcBef>
                <a:spcPts val="0"/>
              </a:spcBef>
              <a:buFont typeface="Wingdings" panose="05000000000000000000" pitchFamily="2" charset="2"/>
              <a:buChar char="§"/>
            </a:pPr>
            <a:r>
              <a:rPr lang="en-US" sz="2800" dirty="0">
                <a:solidFill>
                  <a:schemeClr val="tx1"/>
                </a:solidFill>
                <a:latin typeface="Arial" panose="020B0604020202020204" pitchFamily="34" charset="0"/>
                <a:cs typeface="Arial" panose="020B0604020202020204" pitchFamily="34" charset="0"/>
              </a:rPr>
              <a:t>What emotional appeals or rhetorical strategies does the author employ to persuade the audience?</a:t>
            </a:r>
          </a:p>
          <a:p>
            <a:pPr lvl="1">
              <a:spcBef>
                <a:spcPts val="0"/>
              </a:spcBef>
              <a:buFont typeface="Wingdings" panose="05000000000000000000" pitchFamily="2" charset="2"/>
              <a:buChar char="§"/>
            </a:pPr>
            <a:endParaRPr lang="en-US" sz="28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8296797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1279530"/>
            <a:ext cx="8596668" cy="4274555"/>
          </a:xfrm>
        </p:spPr>
        <p:txBody>
          <a:bodyPr>
            <a:noAutofit/>
          </a:bodyPr>
          <a:lstStyle/>
          <a:p>
            <a:pPr marL="457200" lvl="1" indent="-457200">
              <a:spcBef>
                <a:spcPts val="0"/>
              </a:spcBef>
              <a:buFont typeface="Wingdings" panose="05000000000000000000" pitchFamily="2" charset="2"/>
              <a:buChar char="§"/>
            </a:pPr>
            <a:r>
              <a:rPr lang="en-US" sz="2800" dirty="0">
                <a:solidFill>
                  <a:schemeClr val="tx1"/>
                </a:solidFill>
                <a:latin typeface="Arial" panose="020B0604020202020204" pitchFamily="34" charset="0"/>
                <a:cs typeface="Arial" panose="020B0604020202020204" pitchFamily="34" charset="0"/>
              </a:rPr>
              <a:t>What actions or beliefs does the author want the reader to adopt because of reading this?</a:t>
            </a:r>
          </a:p>
          <a:p>
            <a:pPr>
              <a:spcBef>
                <a:spcPts val="0"/>
              </a:spcBef>
            </a:pPr>
            <a:endParaRPr lang="en-US" sz="2800" b="1" dirty="0">
              <a:solidFill>
                <a:schemeClr val="tx1"/>
              </a:solidFill>
              <a:latin typeface="Arial" panose="020B0604020202020204" pitchFamily="34" charset="0"/>
              <a:cs typeface="Arial" panose="020B0604020202020204" pitchFamily="34" charset="0"/>
            </a:endParaRPr>
          </a:p>
          <a:p>
            <a:pPr>
              <a:spcBef>
                <a:spcPts val="0"/>
              </a:spcBef>
            </a:pPr>
            <a:r>
              <a:rPr lang="en-US" sz="2800" b="1" dirty="0">
                <a:solidFill>
                  <a:schemeClr val="tx1"/>
                </a:solidFill>
                <a:latin typeface="Arial" panose="020B0604020202020204" pitchFamily="34" charset="0"/>
                <a:cs typeface="Arial" panose="020B0604020202020204" pitchFamily="34" charset="0"/>
              </a:rPr>
              <a:t>Entertainment Purpose:</a:t>
            </a:r>
            <a:endParaRPr lang="en-US" sz="2800" dirty="0">
              <a:solidFill>
                <a:schemeClr val="tx1"/>
              </a:solidFill>
              <a:latin typeface="Arial" panose="020B0604020202020204" pitchFamily="34" charset="0"/>
              <a:cs typeface="Arial" panose="020B0604020202020204" pitchFamily="34" charset="0"/>
            </a:endParaRPr>
          </a:p>
          <a:p>
            <a:pPr lvl="1">
              <a:spcBef>
                <a:spcPts val="0"/>
              </a:spcBef>
              <a:buFont typeface="Wingdings" panose="05000000000000000000" pitchFamily="2" charset="2"/>
              <a:buChar char="§"/>
            </a:pPr>
            <a:r>
              <a:rPr lang="en-US" sz="2800" dirty="0">
                <a:solidFill>
                  <a:schemeClr val="tx1"/>
                </a:solidFill>
                <a:latin typeface="Arial" panose="020B0604020202020204" pitchFamily="34" charset="0"/>
                <a:cs typeface="Arial" panose="020B0604020202020204" pitchFamily="34" charset="0"/>
              </a:rPr>
              <a:t>How does the author use storytelling, humor, or creativity to engage the reader?</a:t>
            </a:r>
          </a:p>
          <a:p>
            <a:pPr lvl="1">
              <a:spcBef>
                <a:spcPts val="0"/>
              </a:spcBef>
              <a:buFont typeface="Wingdings" panose="05000000000000000000" pitchFamily="2" charset="2"/>
              <a:buChar char="§"/>
            </a:pPr>
            <a:r>
              <a:rPr lang="en-US" sz="2800" dirty="0">
                <a:solidFill>
                  <a:schemeClr val="tx1"/>
                </a:solidFill>
                <a:latin typeface="Arial" panose="020B0604020202020204" pitchFamily="34" charset="0"/>
                <a:cs typeface="Arial" panose="020B0604020202020204" pitchFamily="34" charset="0"/>
              </a:rPr>
              <a:t>What elements of the writing contribute to its entertainment value?</a:t>
            </a:r>
          </a:p>
          <a:p>
            <a:pPr lvl="1">
              <a:spcBef>
                <a:spcPts val="0"/>
              </a:spcBef>
              <a:buFont typeface="Wingdings" panose="05000000000000000000" pitchFamily="2" charset="2"/>
              <a:buChar char="§"/>
            </a:pPr>
            <a:r>
              <a:rPr lang="en-US" sz="2800" dirty="0">
                <a:solidFill>
                  <a:schemeClr val="tx1"/>
                </a:solidFill>
                <a:latin typeface="Arial" panose="020B0604020202020204" pitchFamily="34" charset="0"/>
                <a:cs typeface="Arial" panose="020B0604020202020204" pitchFamily="34" charset="0"/>
              </a:rPr>
              <a:t>Is the author aiming to captivate the audience's attention or provide an enjoyable reading experience?</a:t>
            </a:r>
          </a:p>
        </p:txBody>
      </p:sp>
      <p:sp>
        <p:nvSpPr>
          <p:cNvPr id="4" name="Title 3"/>
          <p:cNvSpPr>
            <a:spLocks noGrp="1"/>
          </p:cNvSpPr>
          <p:nvPr>
            <p:ph type="title"/>
          </p:nvPr>
        </p:nvSpPr>
        <p:spPr>
          <a:xfrm>
            <a:off x="677334" y="247973"/>
            <a:ext cx="8596668" cy="883403"/>
          </a:xfrm>
        </p:spPr>
        <p:txBody>
          <a:bodyPr>
            <a:normAutofit/>
          </a:bodyPr>
          <a:lstStyle/>
          <a:p>
            <a:r>
              <a:rPr lang="en-GB" sz="3200" b="1" dirty="0">
                <a:solidFill>
                  <a:schemeClr val="tx1"/>
                </a:solidFill>
                <a:latin typeface="Arial" panose="020B0604020202020204" pitchFamily="34" charset="0"/>
                <a:cs typeface="Arial" panose="020B0604020202020204" pitchFamily="34" charset="0"/>
              </a:rPr>
              <a:t>Continued…</a:t>
            </a:r>
            <a:endParaRPr lang="en-US" sz="3200"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695580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9967" y="259752"/>
            <a:ext cx="11608230" cy="697424"/>
          </a:xfrm>
          <a:solidFill>
            <a:schemeClr val="bg1"/>
          </a:solidFill>
        </p:spPr>
        <p:txBody>
          <a:bodyPr>
            <a:normAutofit/>
          </a:bodyPr>
          <a:lstStyle/>
          <a:p>
            <a:r>
              <a:rPr lang="en-US" b="1" dirty="0">
                <a:solidFill>
                  <a:schemeClr val="tx1"/>
                </a:solidFill>
                <a:latin typeface="Arial" panose="020B0604020202020204" pitchFamily="34" charset="0"/>
                <a:cs typeface="Arial" panose="020B0604020202020204" pitchFamily="34" charset="0"/>
              </a:rPr>
              <a:t>Practice: Identify the author’s purpose  </a:t>
            </a:r>
            <a:endParaRPr lang="en-US" dirty="0">
              <a:solidFill>
                <a:schemeClr val="tx1"/>
              </a:solidFill>
              <a:latin typeface="Arial" panose="020B0604020202020204" pitchFamily="34" charset="0"/>
              <a:cs typeface="Arial" panose="020B0604020202020204" pitchFamily="34" charset="0"/>
            </a:endParaRPr>
          </a:p>
        </p:txBody>
      </p:sp>
      <p:sp>
        <p:nvSpPr>
          <p:cNvPr id="4" name="Rectangle 1"/>
          <p:cNvSpPr>
            <a:spLocks noGrp="1" noChangeArrowheads="1"/>
          </p:cNvSpPr>
          <p:nvPr>
            <p:ph idx="1"/>
          </p:nvPr>
        </p:nvSpPr>
        <p:spPr bwMode="auto">
          <a:xfrm>
            <a:off x="309967" y="1078976"/>
            <a:ext cx="11468745" cy="5830058"/>
          </a:xfrm>
          <a:prstGeom prst="rect">
            <a:avLst/>
          </a:prstGeom>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p>
            <a:pPr marL="514350" marR="0" lvl="0" indent="-514350" algn="l" defTabSz="914400" rtl="0" eaLnBrk="0" fontAlgn="base" latinLnBrk="0" hangingPunct="0">
              <a:lnSpc>
                <a:spcPct val="150000"/>
              </a:lnSpc>
              <a:spcBef>
                <a:spcPct val="0"/>
              </a:spcBef>
              <a:spcAft>
                <a:spcPct val="0"/>
              </a:spcAft>
              <a:buClrTx/>
              <a:buSzTx/>
              <a:buFont typeface="+mj-lt"/>
              <a:buAutoNum type="arabicPeriod"/>
              <a:tabLst/>
            </a:pPr>
            <a:r>
              <a:rPr kumimoji="0" lang="en-US" sz="2800" b="0" u="none" strike="noStrike" cap="none" normalizeH="0" baseline="0" dirty="0">
                <a:ln>
                  <a:noFill/>
                </a:ln>
                <a:solidFill>
                  <a:schemeClr val="tx1"/>
                </a:solidFill>
                <a:effectLst/>
                <a:latin typeface="Arial" panose="020B0604020202020204" pitchFamily="34" charset="0"/>
              </a:rPr>
              <a:t>Water boils at 100°C under normal atmospheric pressure.</a:t>
            </a:r>
          </a:p>
          <a:p>
            <a:pPr marL="514350" marR="0" lvl="0" indent="-514350" algn="l" defTabSz="914400" rtl="0" eaLnBrk="0" fontAlgn="base" latinLnBrk="0" hangingPunct="0">
              <a:lnSpc>
                <a:spcPct val="150000"/>
              </a:lnSpc>
              <a:spcBef>
                <a:spcPct val="0"/>
              </a:spcBef>
              <a:spcAft>
                <a:spcPct val="0"/>
              </a:spcAft>
              <a:buClrTx/>
              <a:buSzTx/>
              <a:buFont typeface="+mj-lt"/>
              <a:buAutoNum type="arabicPeriod"/>
              <a:tabLst/>
            </a:pPr>
            <a:r>
              <a:rPr kumimoji="0" lang="en-US" sz="2800" b="0" u="none" strike="noStrike" cap="none" normalizeH="0" baseline="0" dirty="0">
                <a:ln>
                  <a:noFill/>
                </a:ln>
                <a:solidFill>
                  <a:schemeClr val="tx1"/>
                </a:solidFill>
                <a:effectLst/>
                <a:latin typeface="Arial" panose="020B0604020202020204" pitchFamily="34" charset="0"/>
              </a:rPr>
              <a:t>You should recycle plastic to protect the environment.</a:t>
            </a:r>
          </a:p>
          <a:p>
            <a:pPr marL="514350" marR="0" lvl="0" indent="-514350" algn="l" defTabSz="914400" rtl="0" eaLnBrk="0" fontAlgn="base" latinLnBrk="0" hangingPunct="0">
              <a:lnSpc>
                <a:spcPct val="150000"/>
              </a:lnSpc>
              <a:spcBef>
                <a:spcPct val="0"/>
              </a:spcBef>
              <a:spcAft>
                <a:spcPct val="0"/>
              </a:spcAft>
              <a:buClrTx/>
              <a:buSzTx/>
              <a:buFont typeface="+mj-lt"/>
              <a:buAutoNum type="arabicPeriod"/>
              <a:tabLst/>
            </a:pPr>
            <a:r>
              <a:rPr kumimoji="0" lang="en-US" sz="2800" b="0" u="none" strike="noStrike" cap="none" normalizeH="0" baseline="0" dirty="0">
                <a:ln>
                  <a:noFill/>
                </a:ln>
                <a:solidFill>
                  <a:schemeClr val="tx1"/>
                </a:solidFill>
                <a:effectLst/>
                <a:latin typeface="Arial" panose="020B0604020202020204" pitchFamily="34" charset="0"/>
              </a:rPr>
              <a:t>The puppy slipped on the floor, and everyone laughed.</a:t>
            </a:r>
          </a:p>
          <a:p>
            <a:pPr marL="514350" marR="0" lvl="0" indent="-514350" algn="l" defTabSz="914400" rtl="0" eaLnBrk="0" fontAlgn="base" latinLnBrk="0" hangingPunct="0">
              <a:lnSpc>
                <a:spcPct val="150000"/>
              </a:lnSpc>
              <a:spcBef>
                <a:spcPct val="0"/>
              </a:spcBef>
              <a:spcAft>
                <a:spcPct val="0"/>
              </a:spcAft>
              <a:buClrTx/>
              <a:buSzTx/>
              <a:buFont typeface="+mj-lt"/>
              <a:buAutoNum type="arabicPeriod"/>
              <a:tabLst/>
            </a:pPr>
            <a:r>
              <a:rPr lang="en-GB" sz="2800" dirty="0">
                <a:solidFill>
                  <a:schemeClr val="tx1"/>
                </a:solidFill>
                <a:latin typeface="Arial" panose="020B0604020202020204" pitchFamily="34" charset="0"/>
              </a:rPr>
              <a:t>Recent studies suggest that excessive screen time may be linked to reduced attention spans among young adults.</a:t>
            </a:r>
          </a:p>
          <a:p>
            <a:pPr marL="514350" lvl="0" indent="-514350" defTabSz="914400" eaLnBrk="0" fontAlgn="base" hangingPunct="0">
              <a:lnSpc>
                <a:spcPct val="150000"/>
              </a:lnSpc>
              <a:spcBef>
                <a:spcPct val="0"/>
              </a:spcBef>
              <a:spcAft>
                <a:spcPct val="0"/>
              </a:spcAft>
              <a:buClrTx/>
              <a:buSzTx/>
              <a:buFont typeface="+mj-lt"/>
              <a:buAutoNum type="arabicPeriod"/>
            </a:pPr>
            <a:r>
              <a:rPr lang="en-GB" sz="2800" dirty="0"/>
              <a:t> By choosing locally produced food, consumers can support small businesses and reduce carbon emissions.</a:t>
            </a:r>
          </a:p>
          <a:p>
            <a:pPr marL="514350" lvl="0" indent="-514350" defTabSz="914400" eaLnBrk="0" fontAlgn="base" hangingPunct="0">
              <a:lnSpc>
                <a:spcPct val="150000"/>
              </a:lnSpc>
              <a:spcBef>
                <a:spcPct val="0"/>
              </a:spcBef>
              <a:spcAft>
                <a:spcPct val="0"/>
              </a:spcAft>
              <a:buClrTx/>
              <a:buSzTx/>
              <a:buFont typeface="+mj-lt"/>
              <a:buAutoNum type="arabicPeriod"/>
            </a:pPr>
            <a:r>
              <a:rPr lang="en-GB" sz="2800" dirty="0"/>
              <a:t>The novel opens with a silent city, its empty streets reflecting the uncertainty of the people who once filled them.</a:t>
            </a:r>
            <a:endParaRPr lang="en-GB" sz="2800" dirty="0">
              <a:solidFill>
                <a:schemeClr val="tx1"/>
              </a:solidFill>
              <a:latin typeface="Arial" panose="020B0604020202020204" pitchFamily="34" charset="0"/>
            </a:endParaRPr>
          </a:p>
        </p:txBody>
      </p:sp>
    </p:spTree>
    <p:extLst>
      <p:ext uri="{BB962C8B-B14F-4D97-AF65-F5344CB8AC3E}">
        <p14:creationId xmlns:p14="http://schemas.microsoft.com/office/powerpoint/2010/main" val="1174468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
                                            <p:txEl>
                                              <p:pRg st="3" end="3"/>
                                            </p:txEl>
                                          </p:spTgt>
                                        </p:tgtEl>
                                        <p:attrNameLst>
                                          <p:attrName>style.visibility</p:attrName>
                                        </p:attrNameLst>
                                      </p:cBhvr>
                                      <p:to>
                                        <p:strVal val="visible"/>
                                      </p:to>
                                    </p:set>
                                    <p:animEffect transition="in" filter="fade">
                                      <p:cBhvr>
                                        <p:cTn id="28" dur="1000"/>
                                        <p:tgtEl>
                                          <p:spTgt spid="4">
                                            <p:txEl>
                                              <p:pRg st="3" end="3"/>
                                            </p:txEl>
                                          </p:spTgt>
                                        </p:tgtEl>
                                      </p:cBhvr>
                                    </p:animEffect>
                                    <p:anim calcmode="lin" valueType="num">
                                      <p:cBhvr>
                                        <p:cTn id="29"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animEffect transition="in" filter="fade">
                                      <p:cBhvr>
                                        <p:cTn id="35" dur="1000"/>
                                        <p:tgtEl>
                                          <p:spTgt spid="4">
                                            <p:txEl>
                                              <p:pRg st="4" end="4"/>
                                            </p:txEl>
                                          </p:spTgt>
                                        </p:tgtEl>
                                      </p:cBhvr>
                                    </p:animEffect>
                                    <p:anim calcmode="lin" valueType="num">
                                      <p:cBhvr>
                                        <p:cTn id="36"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4">
                                            <p:txEl>
                                              <p:pRg st="5" end="5"/>
                                            </p:txEl>
                                          </p:spTgt>
                                        </p:tgtEl>
                                        <p:attrNameLst>
                                          <p:attrName>style.visibility</p:attrName>
                                        </p:attrNameLst>
                                      </p:cBhvr>
                                      <p:to>
                                        <p:strVal val="visible"/>
                                      </p:to>
                                    </p:set>
                                    <p:animEffect transition="in" filter="fade">
                                      <p:cBhvr>
                                        <p:cTn id="42" dur="1000"/>
                                        <p:tgtEl>
                                          <p:spTgt spid="4">
                                            <p:txEl>
                                              <p:pRg st="5" end="5"/>
                                            </p:txEl>
                                          </p:spTgt>
                                        </p:tgtEl>
                                      </p:cBhvr>
                                    </p:animEffect>
                                    <p:anim calcmode="lin" valueType="num">
                                      <p:cBhvr>
                                        <p:cTn id="43"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2475" y="0"/>
            <a:ext cx="11763213" cy="883403"/>
          </a:xfrm>
        </p:spPr>
        <p:style>
          <a:lnRef idx="2">
            <a:schemeClr val="accent1"/>
          </a:lnRef>
          <a:fillRef idx="1">
            <a:schemeClr val="lt1"/>
          </a:fillRef>
          <a:effectRef idx="0">
            <a:schemeClr val="accent1"/>
          </a:effectRef>
          <a:fontRef idx="minor">
            <a:schemeClr val="dk1"/>
          </a:fontRef>
        </p:style>
        <p:txBody>
          <a:bodyPr/>
          <a:lstStyle/>
          <a:p>
            <a:r>
              <a:rPr lang="en-US" sz="3200" b="1" dirty="0">
                <a:solidFill>
                  <a:schemeClr val="tx1"/>
                </a:solidFill>
                <a:latin typeface="Arial" panose="020B0604020202020204" pitchFamily="34" charset="0"/>
                <a:cs typeface="Arial" panose="020B0604020202020204" pitchFamily="34" charset="0"/>
              </a:rPr>
              <a:t>Identify</a:t>
            </a:r>
            <a:r>
              <a:rPr lang="en-US" b="1" dirty="0">
                <a:solidFill>
                  <a:schemeClr val="tx1"/>
                </a:solidFill>
                <a:latin typeface="Arial" panose="020B0604020202020204" pitchFamily="34" charset="0"/>
                <a:cs typeface="Arial" panose="020B0604020202020204" pitchFamily="34" charset="0"/>
              </a:rPr>
              <a:t> the author’s purpose and explain your choice</a:t>
            </a:r>
            <a:endParaRPr lang="en-US" dirty="0">
              <a:solidFill>
                <a:schemeClr val="tx1"/>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232474" y="728421"/>
            <a:ext cx="11763213" cy="6493790"/>
          </a:xfrm>
        </p:spPr>
        <p:style>
          <a:lnRef idx="2">
            <a:schemeClr val="accent2"/>
          </a:lnRef>
          <a:fillRef idx="1">
            <a:schemeClr val="lt1"/>
          </a:fillRef>
          <a:effectRef idx="0">
            <a:schemeClr val="accent2"/>
          </a:effectRef>
          <a:fontRef idx="minor">
            <a:schemeClr val="dk1"/>
          </a:fontRef>
        </p:style>
        <p:txBody>
          <a:bodyPr>
            <a:noAutofit/>
          </a:bodyPr>
          <a:lstStyle/>
          <a:p>
            <a:pPr marL="0" indent="0" algn="just">
              <a:lnSpc>
                <a:spcPct val="100000"/>
              </a:lnSpc>
              <a:spcBef>
                <a:spcPts val="0"/>
              </a:spcBef>
              <a:buNone/>
            </a:pPr>
            <a:r>
              <a:rPr lang="en-GB" sz="2800" dirty="0">
                <a:latin typeface="Arial" panose="020B0604020202020204" pitchFamily="34" charset="0"/>
                <a:cs typeface="Arial" panose="020B0604020202020204" pitchFamily="34" charset="0"/>
              </a:rPr>
              <a:t>A wave is any movement that carries energy. Some waves carry energy through water. Others carry energy through gases, like air, or solid materials. If you drop a rock into a pool of water, a wave, or ripple of energy, skims across the pool's surface. In the same way, an underwater earthquake can release energy into ocean water. Then it carries a giant wave, or tsunami, across the surface until it hits land. If you hear a clap of thunder, sound waves (or vibrations) have carried the crashing BOOM to your ears. Sound waves speed through the air at about 1,100 feet (335 meters) per second. Light also travels through the air in waves. They travel at more than 186,000 miles (300 million meters) per second. So the light waves from a flash of lightning reach your eyes before that clap of thunder reaches your ears! Electrons travel in waves, too. They move back and forth in a solid wire, sending waves of electricity so you can turn on a light during the storm!  </a:t>
            </a:r>
            <a:r>
              <a:rPr lang="en-GB" sz="2800" dirty="0" smtClean="0">
                <a:latin typeface="Arial" panose="020B0604020202020204" pitchFamily="34" charset="0"/>
                <a:cs typeface="Arial" panose="020B0604020202020204" pitchFamily="34" charset="0"/>
              </a:rPr>
              <a:t> </a:t>
            </a:r>
            <a:endParaRPr 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0997906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566" y="977965"/>
            <a:ext cx="8596668" cy="3880773"/>
          </a:xfrm>
        </p:spPr>
        <p:txBody>
          <a:bodyPr>
            <a:noAutofit/>
          </a:bodyPr>
          <a:lstStyle/>
          <a:p>
            <a:pPr>
              <a:buFont typeface="+mj-lt"/>
              <a:buAutoNum type="arabicPeriod"/>
            </a:pPr>
            <a:r>
              <a:rPr lang="en-US" sz="2800" b="1" dirty="0">
                <a:solidFill>
                  <a:schemeClr val="tx1"/>
                </a:solidFill>
                <a:latin typeface="Arial" panose="020B0604020202020204" pitchFamily="34" charset="0"/>
                <a:cs typeface="Arial" panose="020B0604020202020204" pitchFamily="34" charset="0"/>
              </a:rPr>
              <a:t> What is the author's most important purpose for writing the selection? 	</a:t>
            </a:r>
          </a:p>
          <a:p>
            <a:pPr marL="514350" indent="-514350">
              <a:buFont typeface="+mj-lt"/>
              <a:buAutoNum type="alphaLcPeriod"/>
            </a:pPr>
            <a:r>
              <a:rPr lang="en-US" sz="2800" dirty="0">
                <a:solidFill>
                  <a:schemeClr val="tx1"/>
                </a:solidFill>
                <a:latin typeface="Arial" panose="020B0604020202020204" pitchFamily="34" charset="0"/>
                <a:cs typeface="Arial" panose="020B0604020202020204" pitchFamily="34" charset="0"/>
              </a:rPr>
              <a:t>to persuade readers to throw rocks into the water </a:t>
            </a:r>
          </a:p>
          <a:p>
            <a:pPr marL="514350" indent="-514350">
              <a:buFont typeface="+mj-lt"/>
              <a:buAutoNum type="alphaLcPeriod"/>
            </a:pPr>
            <a:r>
              <a:rPr lang="en-US" sz="2800" dirty="0">
                <a:solidFill>
                  <a:schemeClr val="tx1"/>
                </a:solidFill>
                <a:latin typeface="Arial" panose="020B0604020202020204" pitchFamily="34" charset="0"/>
                <a:cs typeface="Arial" panose="020B0604020202020204" pitchFamily="34" charset="0"/>
              </a:rPr>
              <a:t>to entertain readers with the legend of Wally Wave 	</a:t>
            </a:r>
          </a:p>
          <a:p>
            <a:pPr marL="514350" indent="-514350">
              <a:buFont typeface="+mj-lt"/>
              <a:buAutoNum type="alphaLcPeriod"/>
            </a:pPr>
            <a:r>
              <a:rPr lang="en-US" sz="2800" dirty="0">
                <a:solidFill>
                  <a:schemeClr val="tx1"/>
                </a:solidFill>
                <a:latin typeface="Arial" panose="020B0604020202020204" pitchFamily="34" charset="0"/>
                <a:cs typeface="Arial" panose="020B0604020202020204" pitchFamily="34" charset="0"/>
              </a:rPr>
              <a:t>to explain to readers how to use a surfboard to ride waves 	</a:t>
            </a:r>
          </a:p>
          <a:p>
            <a:pPr marL="514350" indent="-514350">
              <a:buFont typeface="+mj-lt"/>
              <a:buAutoNum type="alphaLcPeriod"/>
            </a:pPr>
            <a:r>
              <a:rPr lang="en-US" sz="2800" dirty="0">
                <a:solidFill>
                  <a:schemeClr val="tx1"/>
                </a:solidFill>
                <a:latin typeface="Arial" panose="020B0604020202020204" pitchFamily="34" charset="0"/>
                <a:cs typeface="Arial" panose="020B0604020202020204" pitchFamily="34" charset="0"/>
              </a:rPr>
              <a:t>to inform readers about different kinds of waves </a:t>
            </a:r>
          </a:p>
          <a:p>
            <a:endParaRPr lang="en-US" sz="28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5223732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GB" sz="3200" dirty="0">
                <a:latin typeface="Arial" panose="020B0604020202020204" pitchFamily="34" charset="0"/>
                <a:cs typeface="Arial" panose="020B0604020202020204" pitchFamily="34" charset="0"/>
              </a:rPr>
              <a:t>In one short paragraph (6–8 sentences), explain why waves are important in everyday life. Use at least two specific examples from the passage (such as sound waves, light waves, or water waves) to support your explanation</a:t>
            </a:r>
            <a:r>
              <a:rPr lang="en-GB" dirty="0"/>
              <a:t>.</a:t>
            </a:r>
            <a:endParaRPr lang="en-US" dirty="0"/>
          </a:p>
        </p:txBody>
      </p:sp>
    </p:spTree>
    <p:extLst>
      <p:ext uri="{BB962C8B-B14F-4D97-AF65-F5344CB8AC3E}">
        <p14:creationId xmlns:p14="http://schemas.microsoft.com/office/powerpoint/2010/main" val="57695214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5464" y="354397"/>
            <a:ext cx="8596668" cy="694116"/>
          </a:xfrm>
        </p:spPr>
        <p:txBody>
          <a:bodyPr>
            <a:normAutofit fontScale="90000"/>
          </a:bodyPr>
          <a:lstStyle/>
          <a:p>
            <a:r>
              <a:rPr lang="en-US" sz="3100" b="1" dirty="0">
                <a:solidFill>
                  <a:schemeClr val="tx1"/>
                </a:solidFill>
                <a:latin typeface="Arial" panose="020B0604020202020204" pitchFamily="34" charset="0"/>
                <a:cs typeface="Arial" panose="020B0604020202020204" pitchFamily="34" charset="0"/>
              </a:rPr>
              <a:t>IDENTIFYING ORGANIZATIONAL PATTERNS </a:t>
            </a:r>
            <a:r>
              <a:rPr lang="en-US" b="1" dirty="0">
                <a:solidFill>
                  <a:schemeClr val="tx1"/>
                </a:solidFill>
                <a:latin typeface="Arial" panose="020B0604020202020204" pitchFamily="34" charset="0"/>
                <a:cs typeface="Arial" panose="020B0604020202020204" pitchFamily="34" charset="0"/>
              </a:rPr>
              <a:t/>
            </a:r>
            <a:br>
              <a:rPr lang="en-US" b="1" dirty="0">
                <a:solidFill>
                  <a:schemeClr val="tx1"/>
                </a:solidFill>
                <a:latin typeface="Arial" panose="020B0604020202020204" pitchFamily="34" charset="0"/>
                <a:cs typeface="Arial" panose="020B0604020202020204" pitchFamily="34" charset="0"/>
              </a:rPr>
            </a:br>
            <a:endParaRPr lang="en-US" b="1" dirty="0">
              <a:solidFill>
                <a:schemeClr val="tx1"/>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325464" y="1048513"/>
            <a:ext cx="10525416" cy="5315918"/>
          </a:xfrm>
        </p:spPr>
        <p:txBody>
          <a:bodyPr>
            <a:noAutofit/>
          </a:bodyPr>
          <a:lstStyle/>
          <a:p>
            <a:r>
              <a:rPr lang="en-GB" sz="2800" b="1" dirty="0">
                <a:solidFill>
                  <a:schemeClr val="tx1"/>
                </a:solidFill>
                <a:latin typeface="Arial" panose="020B0604020202020204" pitchFamily="34" charset="0"/>
                <a:cs typeface="Arial" panose="020B0604020202020204" pitchFamily="34" charset="0"/>
              </a:rPr>
              <a:t>Cause-effect: </a:t>
            </a:r>
            <a:r>
              <a:rPr lang="en-GB" sz="2800" dirty="0">
                <a:solidFill>
                  <a:schemeClr val="tx1"/>
                </a:solidFill>
                <a:latin typeface="Arial" panose="020B0604020202020204" pitchFamily="34" charset="0"/>
                <a:cs typeface="Arial" panose="020B0604020202020204" pitchFamily="34" charset="0"/>
              </a:rPr>
              <a:t>explores the causes and/or the effects of an event or state </a:t>
            </a:r>
          </a:p>
          <a:p>
            <a:r>
              <a:rPr lang="en-GB" sz="2800" b="1" dirty="0">
                <a:solidFill>
                  <a:schemeClr val="tx1"/>
                </a:solidFill>
                <a:latin typeface="Arial" panose="020B0604020202020204" pitchFamily="34" charset="0"/>
                <a:cs typeface="Arial" panose="020B0604020202020204" pitchFamily="34" charset="0"/>
              </a:rPr>
              <a:t>Process: </a:t>
            </a:r>
            <a:r>
              <a:rPr lang="en-GB" sz="2800" dirty="0">
                <a:solidFill>
                  <a:schemeClr val="tx1"/>
                </a:solidFill>
                <a:latin typeface="Arial" panose="020B0604020202020204" pitchFamily="34" charset="0"/>
                <a:cs typeface="Arial" panose="020B0604020202020204" pitchFamily="34" charset="0"/>
              </a:rPr>
              <a:t>describes steps in a process</a:t>
            </a:r>
          </a:p>
          <a:p>
            <a:r>
              <a:rPr lang="en-GB" sz="2800" b="1" dirty="0">
                <a:solidFill>
                  <a:schemeClr val="tx1"/>
                </a:solidFill>
                <a:latin typeface="Arial" panose="020B0604020202020204" pitchFamily="34" charset="0"/>
                <a:cs typeface="Arial" panose="020B0604020202020204" pitchFamily="34" charset="0"/>
              </a:rPr>
              <a:t>Classification:</a:t>
            </a:r>
            <a:r>
              <a:rPr lang="en-GB" sz="2800" dirty="0">
                <a:solidFill>
                  <a:schemeClr val="tx1"/>
                </a:solidFill>
                <a:latin typeface="Arial" panose="020B0604020202020204" pitchFamily="34" charset="0"/>
                <a:cs typeface="Arial" panose="020B0604020202020204" pitchFamily="34" charset="0"/>
              </a:rPr>
              <a:t> divides items into groups </a:t>
            </a:r>
          </a:p>
          <a:p>
            <a:r>
              <a:rPr lang="en-GB" sz="2800" b="1" dirty="0">
                <a:solidFill>
                  <a:schemeClr val="tx1"/>
                </a:solidFill>
                <a:latin typeface="Arial" panose="020B0604020202020204" pitchFamily="34" charset="0"/>
                <a:cs typeface="Arial" panose="020B0604020202020204" pitchFamily="34" charset="0"/>
              </a:rPr>
              <a:t>Definition:</a:t>
            </a:r>
            <a:r>
              <a:rPr lang="en-GB" sz="2800" dirty="0">
                <a:solidFill>
                  <a:schemeClr val="tx1"/>
                </a:solidFill>
                <a:latin typeface="Arial" panose="020B0604020202020204" pitchFamily="34" charset="0"/>
                <a:cs typeface="Arial" panose="020B0604020202020204" pitchFamily="34" charset="0"/>
              </a:rPr>
              <a:t> defines a term or concept </a:t>
            </a:r>
          </a:p>
          <a:p>
            <a:r>
              <a:rPr lang="en-GB" sz="2800" b="1" dirty="0">
                <a:solidFill>
                  <a:schemeClr val="tx1"/>
                </a:solidFill>
                <a:latin typeface="Arial" panose="020B0604020202020204" pitchFamily="34" charset="0"/>
                <a:cs typeface="Arial" panose="020B0604020202020204" pitchFamily="34" charset="0"/>
              </a:rPr>
              <a:t>Comparison:</a:t>
            </a:r>
            <a:r>
              <a:rPr lang="en-GB" sz="2800" dirty="0">
                <a:solidFill>
                  <a:schemeClr val="tx1"/>
                </a:solidFill>
                <a:latin typeface="Arial" panose="020B0604020202020204" pitchFamily="34" charset="0"/>
                <a:cs typeface="Arial" panose="020B0604020202020204" pitchFamily="34" charset="0"/>
              </a:rPr>
              <a:t> describes similarities between items </a:t>
            </a:r>
          </a:p>
          <a:p>
            <a:r>
              <a:rPr lang="en-GB" sz="2800" b="1" dirty="0">
                <a:solidFill>
                  <a:schemeClr val="tx1"/>
                </a:solidFill>
                <a:latin typeface="Arial" panose="020B0604020202020204" pitchFamily="34" charset="0"/>
                <a:cs typeface="Arial" panose="020B0604020202020204" pitchFamily="34" charset="0"/>
              </a:rPr>
              <a:t>Contrast:</a:t>
            </a:r>
            <a:r>
              <a:rPr lang="en-GB" sz="2800" dirty="0">
                <a:solidFill>
                  <a:schemeClr val="tx1"/>
                </a:solidFill>
                <a:latin typeface="Arial" panose="020B0604020202020204" pitchFamily="34" charset="0"/>
                <a:cs typeface="Arial" panose="020B0604020202020204" pitchFamily="34" charset="0"/>
              </a:rPr>
              <a:t> describes differences between items</a:t>
            </a:r>
          </a:p>
          <a:p>
            <a:r>
              <a:rPr lang="en-GB" sz="2800" b="1" dirty="0">
                <a:solidFill>
                  <a:schemeClr val="tx1"/>
                </a:solidFill>
                <a:latin typeface="Arial" panose="020B0604020202020204" pitchFamily="34" charset="0"/>
                <a:cs typeface="Arial" panose="020B0604020202020204" pitchFamily="34" charset="0"/>
              </a:rPr>
              <a:t>Comparison-contrast: </a:t>
            </a:r>
            <a:r>
              <a:rPr lang="en-GB" sz="2800" dirty="0">
                <a:solidFill>
                  <a:schemeClr val="tx1"/>
                </a:solidFill>
                <a:latin typeface="Arial" panose="020B0604020202020204" pitchFamily="34" charset="0"/>
                <a:cs typeface="Arial" panose="020B0604020202020204" pitchFamily="34" charset="0"/>
              </a:rPr>
              <a:t>comparisons and contrasts go parallel</a:t>
            </a:r>
            <a:endParaRPr lang="en-GB" sz="2800" b="1" dirty="0">
              <a:solidFill>
                <a:schemeClr val="tx1"/>
              </a:solidFill>
              <a:latin typeface="Arial" panose="020B0604020202020204" pitchFamily="34" charset="0"/>
              <a:cs typeface="Arial" panose="020B0604020202020204" pitchFamily="34" charset="0"/>
            </a:endParaRPr>
          </a:p>
          <a:p>
            <a:r>
              <a:rPr lang="en-GB" sz="2800" b="1" dirty="0">
                <a:solidFill>
                  <a:schemeClr val="tx1"/>
                </a:solidFill>
                <a:latin typeface="Arial" panose="020B0604020202020204" pitchFamily="34" charset="0"/>
                <a:cs typeface="Arial" panose="020B0604020202020204" pitchFamily="34" charset="0"/>
              </a:rPr>
              <a:t>Problem-solution.: </a:t>
            </a:r>
            <a:r>
              <a:rPr lang="en-GB" sz="2800" dirty="0">
                <a:solidFill>
                  <a:schemeClr val="tx1"/>
                </a:solidFill>
                <a:latin typeface="Arial" panose="020B0604020202020204" pitchFamily="34" charset="0"/>
                <a:cs typeface="Arial" panose="020B0604020202020204" pitchFamily="34" charset="0"/>
              </a:rPr>
              <a:t>illustrates a problem and its solution </a:t>
            </a:r>
          </a:p>
          <a:p>
            <a:r>
              <a:rPr lang="en-GB" sz="2800" b="1" dirty="0">
                <a:solidFill>
                  <a:schemeClr val="tx1"/>
                </a:solidFill>
                <a:latin typeface="Arial" panose="020B0604020202020204" pitchFamily="34" charset="0"/>
                <a:cs typeface="Arial" panose="020B0604020202020204" pitchFamily="34" charset="0"/>
              </a:rPr>
              <a:t>Description:</a:t>
            </a:r>
            <a:r>
              <a:rPr lang="en-GB" sz="2800" dirty="0">
                <a:solidFill>
                  <a:schemeClr val="tx1"/>
                </a:solidFill>
                <a:latin typeface="Arial" panose="020B0604020202020204" pitchFamily="34" charset="0"/>
                <a:cs typeface="Arial" panose="020B0604020202020204" pitchFamily="34" charset="0"/>
              </a:rPr>
              <a:t> describes an event, state, person, or item </a:t>
            </a:r>
            <a:endParaRPr lang="en-US" sz="28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9817655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chemeClr val="tx1"/>
                </a:solidFill>
                <a:latin typeface="Arial" panose="020B0604020202020204" pitchFamily="34" charset="0"/>
                <a:cs typeface="Arial" panose="020B0604020202020204" pitchFamily="34" charset="0"/>
              </a:rPr>
              <a:t>READING TIPS </a:t>
            </a:r>
          </a:p>
        </p:txBody>
      </p:sp>
      <p:sp>
        <p:nvSpPr>
          <p:cNvPr id="3" name="Content Placeholder 2"/>
          <p:cNvSpPr>
            <a:spLocks noGrp="1"/>
          </p:cNvSpPr>
          <p:nvPr>
            <p:ph idx="1"/>
          </p:nvPr>
        </p:nvSpPr>
        <p:spPr>
          <a:xfrm>
            <a:off x="677334" y="1636333"/>
            <a:ext cx="8596668" cy="3880773"/>
          </a:xfrm>
        </p:spPr>
        <p:txBody>
          <a:bodyPr>
            <a:normAutofit/>
          </a:bodyPr>
          <a:lstStyle/>
          <a:p>
            <a:r>
              <a:rPr lang="en-GB" sz="2800" dirty="0">
                <a:solidFill>
                  <a:schemeClr val="tx1"/>
                </a:solidFill>
                <a:latin typeface="Arial" panose="020B0604020202020204" pitchFamily="34" charset="0"/>
                <a:cs typeface="Arial" panose="020B0604020202020204" pitchFamily="34" charset="0"/>
              </a:rPr>
              <a:t>Select the reading matter to suit the purpose  </a:t>
            </a:r>
          </a:p>
          <a:p>
            <a:r>
              <a:rPr lang="en-GB" sz="2800" dirty="0">
                <a:solidFill>
                  <a:schemeClr val="tx1"/>
                </a:solidFill>
                <a:latin typeface="Arial" panose="020B0604020202020204" pitchFamily="34" charset="0"/>
                <a:cs typeface="Arial" panose="020B0604020202020204" pitchFamily="34" charset="0"/>
              </a:rPr>
              <a:t>Select the reading strategy to suit the purpose  </a:t>
            </a:r>
          </a:p>
          <a:p>
            <a:r>
              <a:rPr lang="en-GB" sz="2800" dirty="0">
                <a:solidFill>
                  <a:schemeClr val="tx1"/>
                </a:solidFill>
                <a:latin typeface="Arial" panose="020B0604020202020204" pitchFamily="34" charset="0"/>
                <a:cs typeface="Arial" panose="020B0604020202020204" pitchFamily="34" charset="0"/>
              </a:rPr>
              <a:t>Plan reading time and environment – minimise interruptions and have note-making </a:t>
            </a:r>
          </a:p>
          <a:p>
            <a:r>
              <a:rPr lang="en-GB" sz="2800" dirty="0">
                <a:solidFill>
                  <a:schemeClr val="tx1"/>
                </a:solidFill>
                <a:latin typeface="Arial" panose="020B0604020202020204" pitchFamily="34" charset="0"/>
                <a:cs typeface="Arial" panose="020B0604020202020204" pitchFamily="34" charset="0"/>
              </a:rPr>
              <a:t>materials to hand </a:t>
            </a:r>
          </a:p>
          <a:p>
            <a:r>
              <a:rPr lang="en-GB" sz="2800" dirty="0">
                <a:solidFill>
                  <a:schemeClr val="tx1"/>
                </a:solidFill>
                <a:latin typeface="Arial" panose="020B0604020202020204" pitchFamily="34" charset="0"/>
                <a:cs typeface="Arial" panose="020B0604020202020204" pitchFamily="34" charset="0"/>
              </a:rPr>
              <a:t>Adopt an active, focused approach </a:t>
            </a:r>
            <a:endParaRPr lang="en-US" sz="28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6634891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515815"/>
          </a:xfrm>
        </p:spPr>
        <p:txBody>
          <a:bodyPr>
            <a:normAutofit fontScale="90000"/>
          </a:bodyPr>
          <a:lstStyle/>
          <a:p>
            <a:r>
              <a:rPr lang="en-GB" b="1" dirty="0">
                <a:solidFill>
                  <a:schemeClr val="tx1"/>
                </a:solidFill>
                <a:latin typeface="Arial" panose="020B0604020202020204" pitchFamily="34" charset="0"/>
                <a:cs typeface="Arial" panose="020B0604020202020204" pitchFamily="34" charset="0"/>
              </a:rPr>
              <a:t>READING STRATEGIES  </a:t>
            </a:r>
            <a:br>
              <a:rPr lang="en-GB" b="1" dirty="0">
                <a:solidFill>
                  <a:schemeClr val="tx1"/>
                </a:solidFill>
                <a:latin typeface="Arial" panose="020B0604020202020204" pitchFamily="34" charset="0"/>
                <a:cs typeface="Arial" panose="020B0604020202020204" pitchFamily="34" charset="0"/>
              </a:rPr>
            </a:br>
            <a:endParaRPr lang="en-US" b="1" dirty="0">
              <a:solidFill>
                <a:schemeClr val="tx1"/>
              </a:solidFill>
            </a:endParaRPr>
          </a:p>
        </p:txBody>
      </p:sp>
      <p:sp>
        <p:nvSpPr>
          <p:cNvPr id="3" name="Content Placeholder 2"/>
          <p:cNvSpPr>
            <a:spLocks noGrp="1"/>
          </p:cNvSpPr>
          <p:nvPr>
            <p:ph idx="1"/>
          </p:nvPr>
        </p:nvSpPr>
        <p:spPr>
          <a:xfrm>
            <a:off x="591990" y="1412170"/>
            <a:ext cx="9515178" cy="4986285"/>
          </a:xfrm>
        </p:spPr>
        <p:txBody>
          <a:bodyPr>
            <a:noAutofit/>
          </a:bodyPr>
          <a:lstStyle/>
          <a:p>
            <a:r>
              <a:rPr lang="en-GB" sz="2800" dirty="0">
                <a:solidFill>
                  <a:schemeClr val="tx1"/>
                </a:solidFill>
                <a:latin typeface="Arial" panose="020B0604020202020204" pitchFamily="34" charset="0"/>
                <a:cs typeface="Arial" panose="020B0604020202020204" pitchFamily="34" charset="0"/>
              </a:rPr>
              <a:t>Choose the strategy to suit the purpose:  </a:t>
            </a:r>
          </a:p>
          <a:p>
            <a:pPr>
              <a:buFont typeface="Wingdings" panose="05000000000000000000" pitchFamily="2" charset="2"/>
              <a:buChar char="§"/>
            </a:pPr>
            <a:r>
              <a:rPr lang="en-GB" sz="2800" dirty="0">
                <a:solidFill>
                  <a:schemeClr val="tx1"/>
                </a:solidFill>
                <a:latin typeface="Arial" panose="020B0604020202020204" pitchFamily="34" charset="0"/>
                <a:cs typeface="Arial" panose="020B0604020202020204" pitchFamily="34" charset="0"/>
              </a:rPr>
              <a:t>Skim – for an impression </a:t>
            </a:r>
          </a:p>
          <a:p>
            <a:pPr>
              <a:buFont typeface="Wingdings" panose="05000000000000000000" pitchFamily="2" charset="2"/>
              <a:buChar char="§"/>
            </a:pPr>
            <a:r>
              <a:rPr lang="en-GB" sz="2800" dirty="0">
                <a:solidFill>
                  <a:schemeClr val="tx1"/>
                </a:solidFill>
                <a:latin typeface="Arial" panose="020B0604020202020204" pitchFamily="34" charset="0"/>
                <a:cs typeface="Arial" panose="020B0604020202020204" pitchFamily="34" charset="0"/>
              </a:rPr>
              <a:t>Scan – for an item </a:t>
            </a:r>
          </a:p>
          <a:p>
            <a:pPr>
              <a:buFont typeface="Wingdings" panose="05000000000000000000" pitchFamily="2" charset="2"/>
              <a:buChar char="§"/>
            </a:pPr>
            <a:r>
              <a:rPr lang="en-GB" sz="2800" dirty="0">
                <a:solidFill>
                  <a:schemeClr val="tx1"/>
                </a:solidFill>
                <a:latin typeface="Arial" panose="020B0604020202020204" pitchFamily="34" charset="0"/>
                <a:cs typeface="Arial" panose="020B0604020202020204" pitchFamily="34" charset="0"/>
              </a:rPr>
              <a:t>   Read carefully for information and research.  </a:t>
            </a:r>
          </a:p>
          <a:p>
            <a:r>
              <a:rPr lang="en-GB" sz="2800" b="1" dirty="0">
                <a:solidFill>
                  <a:schemeClr val="tx1"/>
                </a:solidFill>
                <a:latin typeface="Arial" panose="020B0604020202020204" pitchFamily="34" charset="0"/>
                <a:cs typeface="Arial" panose="020B0604020202020204" pitchFamily="34" charset="0"/>
              </a:rPr>
              <a:t>To select reading matter for an assignment, skim, keeping your task in mind:  </a:t>
            </a:r>
          </a:p>
          <a:p>
            <a:r>
              <a:rPr lang="en-GB" sz="2800" b="1" dirty="0">
                <a:solidFill>
                  <a:schemeClr val="tx1"/>
                </a:solidFill>
                <a:latin typeface="Arial" panose="020B0604020202020204" pitchFamily="34" charset="0"/>
                <a:cs typeface="Arial" panose="020B0604020202020204" pitchFamily="34" charset="0"/>
              </a:rPr>
              <a:t>Read: </a:t>
            </a:r>
            <a:r>
              <a:rPr lang="en-GB" sz="2800" dirty="0">
                <a:solidFill>
                  <a:schemeClr val="tx1"/>
                </a:solidFill>
                <a:latin typeface="Arial" panose="020B0604020202020204" pitchFamily="34" charset="0"/>
                <a:cs typeface="Arial" panose="020B0604020202020204" pitchFamily="34" charset="0"/>
              </a:rPr>
              <a:t>the back cover, contents page and chapter headings to see if all or part of the book will be relevant; check section headings/conclusions for each chapter. </a:t>
            </a:r>
          </a:p>
          <a:p>
            <a:endParaRPr lang="en-US" sz="28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0431495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457200"/>
            <a:ext cx="8596668" cy="922149"/>
          </a:xfrm>
        </p:spPr>
        <p:txBody>
          <a:bodyPr>
            <a:noAutofit/>
          </a:bodyPr>
          <a:lstStyle/>
          <a:p>
            <a:r>
              <a:rPr lang="en-US" sz="3200" b="1" dirty="0">
                <a:solidFill>
                  <a:schemeClr val="tx1"/>
                </a:solidFill>
                <a:latin typeface="Arial" panose="020B0604020202020204" pitchFamily="34" charset="0"/>
                <a:cs typeface="Arial" panose="020B0604020202020204" pitchFamily="34" charset="0"/>
              </a:rPr>
              <a:t>READING STRATEGIES  </a:t>
            </a:r>
            <a:br>
              <a:rPr lang="en-US" sz="3200" b="1" dirty="0">
                <a:solidFill>
                  <a:schemeClr val="tx1"/>
                </a:solidFill>
                <a:latin typeface="Arial" panose="020B0604020202020204" pitchFamily="34" charset="0"/>
                <a:cs typeface="Arial" panose="020B0604020202020204" pitchFamily="34" charset="0"/>
              </a:rPr>
            </a:br>
            <a:endParaRPr lang="en-US" sz="3200" b="1" dirty="0">
              <a:solidFill>
                <a:schemeClr val="tx1"/>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677334" y="1384909"/>
            <a:ext cx="8596668" cy="4863491"/>
          </a:xfrm>
        </p:spPr>
        <p:txBody>
          <a:bodyPr>
            <a:noAutofit/>
          </a:bodyPr>
          <a:lstStyle/>
          <a:p>
            <a:r>
              <a:rPr lang="en-GB" sz="2800" b="1" dirty="0">
                <a:solidFill>
                  <a:schemeClr val="tx1"/>
                </a:solidFill>
                <a:latin typeface="Arial" panose="020B0604020202020204" pitchFamily="34" charset="0"/>
                <a:cs typeface="Arial" panose="020B0604020202020204" pitchFamily="34" charset="0"/>
              </a:rPr>
              <a:t>Consider: </a:t>
            </a:r>
            <a:r>
              <a:rPr lang="en-GB" sz="2800" dirty="0">
                <a:solidFill>
                  <a:schemeClr val="tx1"/>
                </a:solidFill>
                <a:latin typeface="Arial" panose="020B0604020202020204" pitchFamily="34" charset="0"/>
                <a:cs typeface="Arial" panose="020B0604020202020204" pitchFamily="34" charset="0"/>
              </a:rPr>
              <a:t>whether the book is on your recommended reading list; how recent and up to date it is; how readable and manageable it looks.  </a:t>
            </a:r>
          </a:p>
          <a:p>
            <a:r>
              <a:rPr lang="en-GB" sz="2800" dirty="0">
                <a:solidFill>
                  <a:schemeClr val="tx1"/>
                </a:solidFill>
                <a:latin typeface="Arial" panose="020B0604020202020204" pitchFamily="34" charset="0"/>
                <a:cs typeface="Arial" panose="020B0604020202020204" pitchFamily="34" charset="0"/>
              </a:rPr>
              <a:t>To locate a specific piece of information, e.g. a name in an index or directory, use the scan approach.  </a:t>
            </a:r>
          </a:p>
          <a:p>
            <a:r>
              <a:rPr lang="en-GB" sz="2800" dirty="0">
                <a:solidFill>
                  <a:schemeClr val="tx1"/>
                </a:solidFill>
                <a:latin typeface="Arial" panose="020B0604020202020204" pitchFamily="34" charset="0"/>
                <a:cs typeface="Arial" panose="020B0604020202020204" pitchFamily="34" charset="0"/>
              </a:rPr>
              <a:t>More in depth reading of your selected texts is needed to address your assignment. </a:t>
            </a:r>
            <a:endParaRPr lang="en-US" sz="28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1390789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23987"/>
            <a:ext cx="8596668" cy="790414"/>
          </a:xfrm>
        </p:spPr>
        <p:txBody>
          <a:bodyPr>
            <a:normAutofit fontScale="90000"/>
          </a:bodyPr>
          <a:lstStyle/>
          <a:p>
            <a:r>
              <a:rPr lang="en-GB" b="1" dirty="0">
                <a:solidFill>
                  <a:schemeClr val="tx1"/>
                </a:solidFill>
                <a:latin typeface="Arial" panose="020B0604020202020204" pitchFamily="34" charset="0"/>
                <a:cs typeface="Arial" panose="020B0604020202020204" pitchFamily="34" charset="0"/>
              </a:rPr>
              <a:t>BE AN ACTIVE READER  </a:t>
            </a:r>
            <a:br>
              <a:rPr lang="en-GB" b="1" dirty="0">
                <a:solidFill>
                  <a:schemeClr val="tx1"/>
                </a:solidFill>
                <a:latin typeface="Arial" panose="020B0604020202020204" pitchFamily="34" charset="0"/>
                <a:cs typeface="Arial" panose="020B0604020202020204" pitchFamily="34" charset="0"/>
              </a:rPr>
            </a:br>
            <a:endParaRPr lang="en-US" b="1" dirty="0">
              <a:solidFill>
                <a:schemeClr val="tx1"/>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139485" y="743918"/>
            <a:ext cx="11825207" cy="6114081"/>
          </a:xfrm>
        </p:spPr>
        <p:style>
          <a:lnRef idx="2">
            <a:schemeClr val="accent1"/>
          </a:lnRef>
          <a:fillRef idx="1">
            <a:schemeClr val="lt1"/>
          </a:fillRef>
          <a:effectRef idx="0">
            <a:schemeClr val="accent1"/>
          </a:effectRef>
          <a:fontRef idx="minor">
            <a:schemeClr val="dk1"/>
          </a:fontRef>
        </p:style>
        <p:txBody>
          <a:bodyPr>
            <a:noAutofit/>
          </a:bodyPr>
          <a:lstStyle/>
          <a:p>
            <a:r>
              <a:rPr lang="en-GB" sz="2800" dirty="0">
                <a:solidFill>
                  <a:schemeClr val="tx1"/>
                </a:solidFill>
                <a:latin typeface="Arial" panose="020B0604020202020204" pitchFamily="34" charset="0"/>
                <a:cs typeface="Arial" panose="020B0604020202020204" pitchFamily="34" charset="0"/>
              </a:rPr>
              <a:t>Adopt a questioning approach  </a:t>
            </a:r>
          </a:p>
          <a:p>
            <a:r>
              <a:rPr lang="en-GB" sz="2800" dirty="0">
                <a:solidFill>
                  <a:schemeClr val="tx1"/>
                </a:solidFill>
                <a:latin typeface="Arial" panose="020B0604020202020204" pitchFamily="34" charset="0"/>
                <a:cs typeface="Arial" panose="020B0604020202020204" pitchFamily="34" charset="0"/>
              </a:rPr>
              <a:t>Try the SQ3R method  </a:t>
            </a:r>
          </a:p>
          <a:p>
            <a:r>
              <a:rPr lang="en-GB" sz="2800" dirty="0">
                <a:solidFill>
                  <a:schemeClr val="tx1"/>
                </a:solidFill>
                <a:latin typeface="Arial" panose="020B0604020202020204" pitchFamily="34" charset="0"/>
                <a:cs typeface="Arial" panose="020B0604020202020204" pitchFamily="34" charset="0"/>
              </a:rPr>
              <a:t>Make notes of important points and ideas triggered by your reading which are relevant to your purpose.  </a:t>
            </a:r>
          </a:p>
          <a:p>
            <a:r>
              <a:rPr lang="en-GB" sz="2800" dirty="0">
                <a:solidFill>
                  <a:schemeClr val="tx1"/>
                </a:solidFill>
                <a:latin typeface="Arial" panose="020B0604020202020204" pitchFamily="34" charset="0"/>
                <a:cs typeface="Arial" panose="020B0604020202020204" pitchFamily="34" charset="0"/>
              </a:rPr>
              <a:t>Relate what you read to other information you’ve acquired on the same subject.  </a:t>
            </a:r>
          </a:p>
          <a:p>
            <a:r>
              <a:rPr lang="en-GB" sz="2800" dirty="0">
                <a:solidFill>
                  <a:schemeClr val="tx1"/>
                </a:solidFill>
                <a:latin typeface="Arial" panose="020B0604020202020204" pitchFamily="34" charset="0"/>
                <a:cs typeface="Arial" panose="020B0604020202020204" pitchFamily="34" charset="0"/>
              </a:rPr>
              <a:t>Make photocopies of important pages – highlight key words and phrases: make your own notes on them.  </a:t>
            </a:r>
          </a:p>
          <a:p>
            <a:r>
              <a:rPr lang="en-GB" sz="2800" b="1" dirty="0">
                <a:solidFill>
                  <a:schemeClr val="tx1"/>
                </a:solidFill>
                <a:latin typeface="Arial" panose="020B0604020202020204" pitchFamily="34" charset="0"/>
                <a:cs typeface="Arial" panose="020B0604020202020204" pitchFamily="34" charset="0"/>
              </a:rPr>
              <a:t>Check your understanding –  </a:t>
            </a:r>
          </a:p>
          <a:p>
            <a:r>
              <a:rPr lang="en-GB" sz="2800" dirty="0">
                <a:solidFill>
                  <a:schemeClr val="tx1"/>
                </a:solidFill>
                <a:latin typeface="Arial" panose="020B0604020202020204" pitchFamily="34" charset="0"/>
                <a:cs typeface="Arial" panose="020B0604020202020204" pitchFamily="34" charset="0"/>
              </a:rPr>
              <a:t>Pause after a few sentences and sum them up in your own words; write a summary of … </a:t>
            </a:r>
          </a:p>
          <a:p>
            <a:endParaRPr lang="en-GB" sz="2800" dirty="0">
              <a:solidFill>
                <a:schemeClr val="tx1"/>
              </a:solidFill>
              <a:latin typeface="Arial" panose="020B0604020202020204" pitchFamily="34" charset="0"/>
              <a:cs typeface="Arial" panose="020B0604020202020204" pitchFamily="34" charset="0"/>
            </a:endParaRPr>
          </a:p>
          <a:p>
            <a:pPr marL="0" indent="0">
              <a:buNone/>
            </a:pPr>
            <a:endParaRPr lang="en-US" sz="28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9090820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32475"/>
            <a:ext cx="8596668" cy="387457"/>
          </a:xfrm>
        </p:spPr>
        <p:txBody>
          <a:bodyPr>
            <a:normAutofit fontScale="90000"/>
          </a:bodyPr>
          <a:lstStyle/>
          <a:p>
            <a:r>
              <a:rPr lang="en-US" b="1" dirty="0">
                <a:solidFill>
                  <a:schemeClr val="tx1"/>
                </a:solidFill>
                <a:latin typeface="Arial" panose="020B0604020202020204" pitchFamily="34" charset="0"/>
                <a:cs typeface="Arial" panose="020B0604020202020204" pitchFamily="34" charset="0"/>
              </a:rPr>
              <a:t>BE AN ACTIVE READER  </a:t>
            </a:r>
            <a:br>
              <a:rPr lang="en-US" b="1" dirty="0">
                <a:solidFill>
                  <a:schemeClr val="tx1"/>
                </a:solidFill>
                <a:latin typeface="Arial" panose="020B0604020202020204" pitchFamily="34" charset="0"/>
                <a:cs typeface="Arial" panose="020B0604020202020204" pitchFamily="34" charset="0"/>
              </a:rPr>
            </a:br>
            <a:endParaRPr lang="en-US" b="1" dirty="0">
              <a:solidFill>
                <a:schemeClr val="tx1"/>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677334" y="1185931"/>
            <a:ext cx="10063818" cy="5111464"/>
          </a:xfrm>
        </p:spPr>
        <p:txBody>
          <a:bodyPr>
            <a:noAutofit/>
          </a:bodyPr>
          <a:lstStyle/>
          <a:p>
            <a:r>
              <a:rPr lang="en-GB" sz="2800" dirty="0">
                <a:solidFill>
                  <a:schemeClr val="tx1"/>
                </a:solidFill>
                <a:latin typeface="Arial" panose="020B0604020202020204" pitchFamily="34" charset="0"/>
                <a:cs typeface="Arial" panose="020B0604020202020204" pitchFamily="34" charset="0"/>
              </a:rPr>
              <a:t>key chapters/sections in your own words; chart the main ideas.  </a:t>
            </a:r>
          </a:p>
          <a:p>
            <a:r>
              <a:rPr lang="en-GB" sz="2800" b="1" dirty="0">
                <a:solidFill>
                  <a:schemeClr val="tx1"/>
                </a:solidFill>
                <a:latin typeface="Arial" panose="020B0604020202020204" pitchFamily="34" charset="0"/>
                <a:cs typeface="Arial" panose="020B0604020202020204" pitchFamily="34" charset="0"/>
              </a:rPr>
              <a:t>Vary your reading speed </a:t>
            </a:r>
            <a:r>
              <a:rPr lang="en-GB" sz="2800" dirty="0">
                <a:solidFill>
                  <a:schemeClr val="tx1"/>
                </a:solidFill>
                <a:latin typeface="Arial" panose="020B0604020202020204" pitchFamily="34" charset="0"/>
                <a:cs typeface="Arial" panose="020B0604020202020204" pitchFamily="34" charset="0"/>
              </a:rPr>
              <a:t>– fast for case studies, novels and well-developed arguments, slowly for texts with detailed information and unfamiliar, specialist vocabulary.  </a:t>
            </a:r>
          </a:p>
          <a:p>
            <a:r>
              <a:rPr lang="en-GB" sz="2800" dirty="0">
                <a:solidFill>
                  <a:schemeClr val="tx1"/>
                </a:solidFill>
                <a:latin typeface="Arial" panose="020B0604020202020204" pitchFamily="34" charset="0"/>
                <a:cs typeface="Arial" panose="020B0604020202020204" pitchFamily="34" charset="0"/>
              </a:rPr>
              <a:t>Predict what’s coming next, or what the conclusion might be.  </a:t>
            </a:r>
          </a:p>
          <a:p>
            <a:r>
              <a:rPr lang="en-GB" sz="2800" b="1" dirty="0">
                <a:solidFill>
                  <a:schemeClr val="tx1"/>
                </a:solidFill>
                <a:latin typeface="Arial" panose="020B0604020202020204" pitchFamily="34" charset="0"/>
                <a:cs typeface="Arial" panose="020B0604020202020204" pitchFamily="34" charset="0"/>
              </a:rPr>
              <a:t>Read critically </a:t>
            </a:r>
            <a:r>
              <a:rPr lang="en-GB" sz="2800" dirty="0">
                <a:solidFill>
                  <a:schemeClr val="tx1"/>
                </a:solidFill>
                <a:latin typeface="Arial" panose="020B0604020202020204" pitchFamily="34" charset="0"/>
                <a:cs typeface="Arial" panose="020B0604020202020204" pitchFamily="34" charset="0"/>
              </a:rPr>
              <a:t>– use your own judgement.  </a:t>
            </a:r>
          </a:p>
          <a:p>
            <a:r>
              <a:rPr lang="en-GB" sz="2800" dirty="0">
                <a:solidFill>
                  <a:schemeClr val="tx1"/>
                </a:solidFill>
                <a:latin typeface="Arial" panose="020B0604020202020204" pitchFamily="34" charset="0"/>
                <a:cs typeface="Arial" panose="020B0604020202020204" pitchFamily="34" charset="0"/>
              </a:rPr>
              <a:t>Keep a reading record.  </a:t>
            </a:r>
          </a:p>
          <a:p>
            <a:pPr marL="0" indent="0">
              <a:buNone/>
            </a:pPr>
            <a:endParaRPr lang="en-US" sz="28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769399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06644"/>
            <a:ext cx="8596668" cy="552773"/>
          </a:xfrm>
        </p:spPr>
        <p:txBody>
          <a:bodyPr>
            <a:normAutofit fontScale="90000"/>
          </a:bodyPr>
          <a:lstStyle/>
          <a:p>
            <a:r>
              <a:rPr lang="en-GB" b="1" dirty="0">
                <a:solidFill>
                  <a:schemeClr val="tx1"/>
                </a:solidFill>
                <a:latin typeface="Arial" panose="020B0604020202020204" pitchFamily="34" charset="0"/>
                <a:cs typeface="Arial" panose="020B0604020202020204" pitchFamily="34" charset="0"/>
              </a:rPr>
              <a:t>THE SQ3R METHOD  </a:t>
            </a:r>
            <a:br>
              <a:rPr lang="en-GB" b="1" dirty="0">
                <a:solidFill>
                  <a:schemeClr val="tx1"/>
                </a:solidFill>
                <a:latin typeface="Arial" panose="020B0604020202020204" pitchFamily="34" charset="0"/>
                <a:cs typeface="Arial" panose="020B0604020202020204" pitchFamily="34" charset="0"/>
              </a:rPr>
            </a:br>
            <a:endParaRPr lang="en-US" b="1" dirty="0">
              <a:solidFill>
                <a:schemeClr val="tx1"/>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677334" y="759417"/>
            <a:ext cx="10899900" cy="6098583"/>
          </a:xfrm>
        </p:spPr>
        <p:style>
          <a:lnRef idx="2">
            <a:schemeClr val="accent1"/>
          </a:lnRef>
          <a:fillRef idx="1">
            <a:schemeClr val="lt1"/>
          </a:fillRef>
          <a:effectRef idx="0">
            <a:schemeClr val="accent1"/>
          </a:effectRef>
          <a:fontRef idx="minor">
            <a:schemeClr val="dk1"/>
          </a:fontRef>
        </p:style>
        <p:txBody>
          <a:bodyPr>
            <a:noAutofit/>
          </a:bodyPr>
          <a:lstStyle/>
          <a:p>
            <a:r>
              <a:rPr lang="en-US" sz="2800" b="1" dirty="0">
                <a:latin typeface="Arial" panose="020B0604020202020204" pitchFamily="34" charset="0"/>
                <a:cs typeface="Arial" panose="020B0604020202020204" pitchFamily="34" charset="0"/>
              </a:rPr>
              <a:t>Survey</a:t>
            </a:r>
            <a:endParaRPr lang="en-GB" sz="2800" b="1" dirty="0">
              <a:solidFill>
                <a:schemeClr val="tx1"/>
              </a:solidFill>
              <a:latin typeface="Arial" panose="020B0604020202020204" pitchFamily="34" charset="0"/>
              <a:cs typeface="Arial" panose="020B0604020202020204" pitchFamily="34" charset="0"/>
            </a:endParaRPr>
          </a:p>
          <a:p>
            <a:r>
              <a:rPr lang="en-GB" sz="2800" dirty="0">
                <a:solidFill>
                  <a:schemeClr val="tx1"/>
                </a:solidFill>
                <a:latin typeface="Arial" panose="020B0604020202020204" pitchFamily="34" charset="0"/>
                <a:cs typeface="Arial" panose="020B0604020202020204" pitchFamily="34" charset="0"/>
              </a:rPr>
              <a:t>Get an overview: read chapter summaries; first and last paragraph of each chapter; first sentence of each paragraph.  </a:t>
            </a:r>
          </a:p>
          <a:p>
            <a:r>
              <a:rPr lang="en-GB" sz="2800" b="1" dirty="0">
                <a:solidFill>
                  <a:schemeClr val="tx1"/>
                </a:solidFill>
                <a:latin typeface="Arial" panose="020B0604020202020204" pitchFamily="34" charset="0"/>
                <a:cs typeface="Arial" panose="020B0604020202020204" pitchFamily="34" charset="0"/>
              </a:rPr>
              <a:t>Questio</a:t>
            </a:r>
            <a:r>
              <a:rPr lang="en-GB" sz="2800" dirty="0">
                <a:solidFill>
                  <a:schemeClr val="tx1"/>
                </a:solidFill>
                <a:latin typeface="Arial" panose="020B0604020202020204" pitchFamily="34" charset="0"/>
                <a:cs typeface="Arial" panose="020B0604020202020204" pitchFamily="34" charset="0"/>
              </a:rPr>
              <a:t>n  </a:t>
            </a:r>
          </a:p>
          <a:p>
            <a:pPr marL="0" indent="0">
              <a:buNone/>
            </a:pPr>
            <a:r>
              <a:rPr lang="en-GB" sz="2800" dirty="0">
                <a:solidFill>
                  <a:schemeClr val="tx1"/>
                </a:solidFill>
                <a:latin typeface="Arial" panose="020B0604020202020204" pitchFamily="34" charset="0"/>
                <a:cs typeface="Arial" panose="020B0604020202020204" pitchFamily="34" charset="0"/>
              </a:rPr>
              <a:t>    Write down questions you hope to answer through your reading.  </a:t>
            </a:r>
          </a:p>
          <a:p>
            <a:r>
              <a:rPr lang="en-GB" sz="2800" b="1" dirty="0">
                <a:solidFill>
                  <a:schemeClr val="tx1"/>
                </a:solidFill>
                <a:latin typeface="Arial" panose="020B0604020202020204" pitchFamily="34" charset="0"/>
                <a:cs typeface="Arial" panose="020B0604020202020204" pitchFamily="34" charset="0"/>
              </a:rPr>
              <a:t>Read  </a:t>
            </a:r>
          </a:p>
          <a:p>
            <a:r>
              <a:rPr lang="en-GB" sz="2800" dirty="0">
                <a:solidFill>
                  <a:schemeClr val="tx1"/>
                </a:solidFill>
                <a:latin typeface="Arial" panose="020B0604020202020204" pitchFamily="34" charset="0"/>
                <a:cs typeface="Arial" panose="020B0604020202020204" pitchFamily="34" charset="0"/>
              </a:rPr>
              <a:t>Answer your questions  </a:t>
            </a:r>
          </a:p>
          <a:p>
            <a:r>
              <a:rPr lang="en-GB" sz="2800" b="1" dirty="0">
                <a:solidFill>
                  <a:schemeClr val="tx1"/>
                </a:solidFill>
                <a:latin typeface="Arial" panose="020B0604020202020204" pitchFamily="34" charset="0"/>
                <a:cs typeface="Arial" panose="020B0604020202020204" pitchFamily="34" charset="0"/>
              </a:rPr>
              <a:t>Recall  </a:t>
            </a:r>
          </a:p>
          <a:p>
            <a:r>
              <a:rPr lang="en-GB" sz="2800" dirty="0">
                <a:solidFill>
                  <a:schemeClr val="tx1"/>
                </a:solidFill>
                <a:latin typeface="Arial" panose="020B0604020202020204" pitchFamily="34" charset="0"/>
                <a:cs typeface="Arial" panose="020B0604020202020204" pitchFamily="34" charset="0"/>
              </a:rPr>
              <a:t>Ask yourself the questions and try to remember your answers  </a:t>
            </a:r>
          </a:p>
          <a:p>
            <a:r>
              <a:rPr lang="en-GB" sz="2800" b="1" dirty="0">
                <a:solidFill>
                  <a:schemeClr val="tx1"/>
                </a:solidFill>
                <a:latin typeface="Arial" panose="020B0604020202020204" pitchFamily="34" charset="0"/>
                <a:cs typeface="Arial" panose="020B0604020202020204" pitchFamily="34" charset="0"/>
              </a:rPr>
              <a:t>Review  </a:t>
            </a:r>
          </a:p>
          <a:p>
            <a:r>
              <a:rPr lang="en-GB" sz="2800" dirty="0">
                <a:solidFill>
                  <a:schemeClr val="tx1"/>
                </a:solidFill>
                <a:latin typeface="Arial" panose="020B0604020202020204" pitchFamily="34" charset="0"/>
                <a:cs typeface="Arial" panose="020B0604020202020204" pitchFamily="34" charset="0"/>
              </a:rPr>
              <a:t>Check your answers are correct  </a:t>
            </a:r>
          </a:p>
          <a:p>
            <a:pPr marL="0" indent="0">
              <a:buNone/>
            </a:pPr>
            <a:endParaRPr lang="en-US" sz="28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5878807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588135"/>
          </a:xfrm>
        </p:spPr>
        <p:txBody>
          <a:bodyPr>
            <a:normAutofit/>
          </a:bodyPr>
          <a:lstStyle/>
          <a:p>
            <a:r>
              <a:rPr lang="en-GB" sz="3200" b="1" dirty="0" smtClean="0">
                <a:solidFill>
                  <a:schemeClr val="tx1"/>
                </a:solidFill>
                <a:latin typeface="Arial" panose="020B0604020202020204" pitchFamily="34" charset="0"/>
                <a:cs typeface="Arial" panose="020B0604020202020204" pitchFamily="34" charset="0"/>
              </a:rPr>
              <a:t>THE </a:t>
            </a:r>
            <a:r>
              <a:rPr lang="en-GB" sz="3200" b="1" dirty="0">
                <a:solidFill>
                  <a:schemeClr val="tx1"/>
                </a:solidFill>
                <a:latin typeface="Arial" panose="020B0604020202020204" pitchFamily="34" charset="0"/>
                <a:cs typeface="Arial" panose="020B0604020202020204" pitchFamily="34" charset="0"/>
              </a:rPr>
              <a:t>SQ3R </a:t>
            </a:r>
            <a:r>
              <a:rPr lang="en-GB" sz="3200" b="1" dirty="0" smtClean="0">
                <a:solidFill>
                  <a:schemeClr val="tx1"/>
                </a:solidFill>
                <a:latin typeface="Arial" panose="020B0604020202020204" pitchFamily="34" charset="0"/>
                <a:cs typeface="Arial" panose="020B0604020202020204" pitchFamily="34" charset="0"/>
              </a:rPr>
              <a:t>METHOD</a:t>
            </a:r>
            <a:endParaRPr lang="en-GB" sz="3200" b="1" dirty="0">
              <a:solidFill>
                <a:schemeClr val="tx1"/>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677334" y="1287887"/>
            <a:ext cx="8596668" cy="4753475"/>
          </a:xfrm>
        </p:spPr>
        <p:txBody>
          <a:bodyPr>
            <a:normAutofit/>
          </a:bodyPr>
          <a:lstStyle/>
          <a:p>
            <a:pPr marL="0" indent="0">
              <a:buNone/>
            </a:pPr>
            <a:endParaRPr lang="en-GB" sz="2800" b="1" dirty="0"/>
          </a:p>
          <a:p>
            <a:r>
              <a:rPr lang="en-GB" sz="2800" dirty="0"/>
              <a:t>The SQ3R method is an </a:t>
            </a:r>
            <a:r>
              <a:rPr lang="en-GB" sz="2800" dirty="0" smtClean="0"/>
              <a:t>effective </a:t>
            </a:r>
            <a:r>
              <a:rPr lang="en-GB" sz="2800" dirty="0"/>
              <a:t>reading strategy that helps </a:t>
            </a:r>
            <a:r>
              <a:rPr lang="en-GB" sz="2800" dirty="0" smtClean="0"/>
              <a:t>you </a:t>
            </a:r>
            <a:r>
              <a:rPr lang="en-GB" sz="2800" dirty="0"/>
              <a:t>improve comprehension and memory. SQ3R stands for </a:t>
            </a:r>
            <a:r>
              <a:rPr lang="en-GB" sz="2800" b="1" dirty="0"/>
              <a:t>Survey, Question, Read, Recite, and Review</a:t>
            </a:r>
            <a:r>
              <a:rPr lang="en-GB" sz="2800" dirty="0"/>
              <a:t>. First, </a:t>
            </a:r>
            <a:r>
              <a:rPr lang="en-GB" sz="2800" dirty="0" smtClean="0"/>
              <a:t>you </a:t>
            </a:r>
            <a:r>
              <a:rPr lang="en-GB" sz="2800" dirty="0"/>
              <a:t>survey the text to get an overview. Next, </a:t>
            </a:r>
            <a:r>
              <a:rPr lang="en-GB" sz="2800" dirty="0" smtClean="0"/>
              <a:t>you </a:t>
            </a:r>
            <a:r>
              <a:rPr lang="en-GB" sz="2800" dirty="0"/>
              <a:t>form questions. Then </a:t>
            </a:r>
            <a:r>
              <a:rPr lang="en-GB" sz="2800" dirty="0" smtClean="0"/>
              <a:t>you </a:t>
            </a:r>
            <a:r>
              <a:rPr lang="en-GB" sz="2800" dirty="0"/>
              <a:t>read carefully, recite key points in </a:t>
            </a:r>
            <a:r>
              <a:rPr lang="en-GB" sz="2800" dirty="0" smtClean="0"/>
              <a:t>your </a:t>
            </a:r>
            <a:r>
              <a:rPr lang="en-GB" sz="2800" dirty="0"/>
              <a:t>own words, and finally review the material to reinforce learning.</a:t>
            </a:r>
          </a:p>
        </p:txBody>
      </p:sp>
    </p:spTree>
    <p:extLst>
      <p:ext uri="{BB962C8B-B14F-4D97-AF65-F5344CB8AC3E}">
        <p14:creationId xmlns:p14="http://schemas.microsoft.com/office/powerpoint/2010/main" val="53327962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46185"/>
            <a:ext cx="8596668" cy="550984"/>
          </a:xfrm>
        </p:spPr>
        <p:txBody>
          <a:bodyPr>
            <a:normAutofit fontScale="90000"/>
          </a:bodyPr>
          <a:lstStyle/>
          <a:p>
            <a:r>
              <a:rPr lang="en-GB" b="1" dirty="0" smtClean="0">
                <a:solidFill>
                  <a:schemeClr val="tx1"/>
                </a:solidFill>
                <a:latin typeface="Arial" panose="020B0604020202020204" pitchFamily="34" charset="0"/>
                <a:cs typeface="Arial" panose="020B0604020202020204" pitchFamily="34" charset="0"/>
              </a:rPr>
              <a:t>QUESTIONS &amp; ANSWERS</a:t>
            </a:r>
            <a:endParaRPr lang="en-US" b="1" dirty="0">
              <a:solidFill>
                <a:schemeClr val="tx1"/>
              </a:solidFill>
              <a:latin typeface="Arial" panose="020B0604020202020204" pitchFamily="34" charset="0"/>
              <a:cs typeface="Arial" panose="020B0604020202020204" pitchFamily="34" charset="0"/>
            </a:endParaRPr>
          </a:p>
        </p:txBody>
      </p:sp>
      <p:sp>
        <p:nvSpPr>
          <p:cNvPr id="4" name="Rectangle 1"/>
          <p:cNvSpPr>
            <a:spLocks noGrp="1" noChangeArrowheads="1"/>
          </p:cNvSpPr>
          <p:nvPr>
            <p:ph idx="1"/>
          </p:nvPr>
        </p:nvSpPr>
        <p:spPr bwMode="auto">
          <a:xfrm>
            <a:off x="677334" y="1011730"/>
            <a:ext cx="8521885"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800" b="1" i="0" u="none" strike="noStrike" cap="none" normalizeH="0" baseline="0" dirty="0" smtClean="0">
                <a:ln>
                  <a:noFill/>
                </a:ln>
                <a:solidFill>
                  <a:schemeClr val="tx1"/>
                </a:solidFill>
                <a:effectLst/>
                <a:latin typeface="Arial" panose="020B0604020202020204" pitchFamily="34" charset="0"/>
              </a:rPr>
              <a:t>What does SQ3R stand for?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800" b="0" i="0" u="none" strike="noStrike" cap="none" normalizeH="0" baseline="0" dirty="0" smtClean="0">
                <a:ln>
                  <a:noFill/>
                </a:ln>
                <a:solidFill>
                  <a:schemeClr val="tx1"/>
                </a:solidFill>
                <a:effectLst/>
                <a:latin typeface="Arial" panose="020B0604020202020204" pitchFamily="34" charset="0"/>
              </a:rPr>
              <a:t>Survey, Question, Read, Recite, Review.</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800" b="1" i="0" u="none" strike="noStrike" cap="none" normalizeH="0" baseline="0" dirty="0" smtClean="0">
                <a:ln>
                  <a:noFill/>
                </a:ln>
                <a:solidFill>
                  <a:schemeClr val="tx1"/>
                </a:solidFill>
                <a:effectLst/>
                <a:latin typeface="Arial" panose="020B0604020202020204" pitchFamily="34" charset="0"/>
              </a:rPr>
              <a:t>What is the purpose of the Survey step?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800" b="0" i="0" u="none" strike="noStrike" cap="none" normalizeH="0" baseline="0" dirty="0" smtClean="0">
                <a:ln>
                  <a:noFill/>
                </a:ln>
                <a:solidFill>
                  <a:schemeClr val="tx1"/>
                </a:solidFill>
                <a:effectLst/>
                <a:latin typeface="Arial" panose="020B0604020202020204" pitchFamily="34" charset="0"/>
              </a:rPr>
              <a:t>To get a general overview of the text.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800" b="1" i="0" u="none" strike="noStrike" cap="none" normalizeH="0" baseline="0" dirty="0" smtClean="0">
                <a:ln>
                  <a:noFill/>
                </a:ln>
                <a:solidFill>
                  <a:schemeClr val="tx1"/>
                </a:solidFill>
                <a:effectLst/>
                <a:latin typeface="Arial" panose="020B0604020202020204" pitchFamily="34" charset="0"/>
              </a:rPr>
              <a:t>Why do students ask questions before reading?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800" b="0" i="0" u="none" strike="noStrike" cap="none" normalizeH="0" baseline="0" dirty="0" smtClean="0">
                <a:ln>
                  <a:noFill/>
                </a:ln>
                <a:solidFill>
                  <a:schemeClr val="tx1"/>
                </a:solidFill>
                <a:effectLst/>
                <a:latin typeface="Arial" panose="020B0604020202020204" pitchFamily="34" charset="0"/>
              </a:rPr>
              <a:t>To read with a clear purpose.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800" b="1" i="0" u="none" strike="noStrike" cap="none" normalizeH="0" baseline="0" dirty="0" smtClean="0">
                <a:ln>
                  <a:noFill/>
                </a:ln>
                <a:solidFill>
                  <a:schemeClr val="tx1"/>
                </a:solidFill>
                <a:effectLst/>
                <a:latin typeface="Arial" panose="020B0604020202020204" pitchFamily="34" charset="0"/>
              </a:rPr>
              <a:t>What happens in the Recite step?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800" b="0" i="0" u="none" strike="noStrike" cap="none" normalizeH="0" baseline="0" dirty="0" smtClean="0">
                <a:ln>
                  <a:noFill/>
                </a:ln>
                <a:solidFill>
                  <a:schemeClr val="tx1"/>
                </a:solidFill>
                <a:effectLst/>
                <a:latin typeface="Arial" panose="020B0604020202020204" pitchFamily="34" charset="0"/>
              </a:rPr>
              <a:t>Students recall key points in their own words.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800" b="1" i="0" u="none" strike="noStrike" cap="none" normalizeH="0" baseline="0" dirty="0" smtClean="0">
                <a:ln>
                  <a:noFill/>
                </a:ln>
                <a:solidFill>
                  <a:schemeClr val="tx1"/>
                </a:solidFill>
                <a:effectLst/>
                <a:latin typeface="Arial" panose="020B0604020202020204" pitchFamily="34" charset="0"/>
              </a:rPr>
              <a:t>Why is the Review step important?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800" b="0" i="0" u="none" strike="noStrike" cap="none" normalizeH="0" baseline="0" dirty="0" smtClean="0">
                <a:ln>
                  <a:noFill/>
                </a:ln>
                <a:solidFill>
                  <a:schemeClr val="tx1"/>
                </a:solidFill>
                <a:effectLst/>
                <a:latin typeface="Arial" panose="020B0604020202020204" pitchFamily="34" charset="0"/>
              </a:rPr>
              <a:t>It helps retain information.</a:t>
            </a:r>
          </a:p>
        </p:txBody>
      </p:sp>
    </p:spTree>
    <p:extLst>
      <p:ext uri="{BB962C8B-B14F-4D97-AF65-F5344CB8AC3E}">
        <p14:creationId xmlns:p14="http://schemas.microsoft.com/office/powerpoint/2010/main" val="640928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 calcmode="lin" valueType="num">
                                      <p:cBhvr additive="base">
                                        <p:cTn id="2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anim calcmode="lin" valueType="num">
                                      <p:cBhvr additive="base">
                                        <p:cTn id="31"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
                                            <p:txEl>
                                              <p:pRg st="5" end="5"/>
                                            </p:txEl>
                                          </p:spTgt>
                                        </p:tgtEl>
                                        <p:attrNameLst>
                                          <p:attrName>style.visibility</p:attrName>
                                        </p:attrNameLst>
                                      </p:cBhvr>
                                      <p:to>
                                        <p:strVal val="visible"/>
                                      </p:to>
                                    </p:set>
                                    <p:anim calcmode="lin" valueType="num">
                                      <p:cBhvr additive="base">
                                        <p:cTn id="37"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4">
                                            <p:txEl>
                                              <p:pRg st="6" end="6"/>
                                            </p:txEl>
                                          </p:spTgt>
                                        </p:tgtEl>
                                        <p:attrNameLst>
                                          <p:attrName>style.visibility</p:attrName>
                                        </p:attrNameLst>
                                      </p:cBhvr>
                                      <p:to>
                                        <p:strVal val="visible"/>
                                      </p:to>
                                    </p:set>
                                    <p:anim calcmode="lin" valueType="num">
                                      <p:cBhvr additive="base">
                                        <p:cTn id="43"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4">
                                            <p:txEl>
                                              <p:pRg st="7" end="7"/>
                                            </p:txEl>
                                          </p:spTgt>
                                        </p:tgtEl>
                                        <p:attrNameLst>
                                          <p:attrName>style.visibility</p:attrName>
                                        </p:attrNameLst>
                                      </p:cBhvr>
                                      <p:to>
                                        <p:strVal val="visible"/>
                                      </p:to>
                                    </p:set>
                                    <p:anim calcmode="lin" valueType="num">
                                      <p:cBhvr additive="base">
                                        <p:cTn id="49"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4">
                                            <p:txEl>
                                              <p:pRg st="8" end="8"/>
                                            </p:txEl>
                                          </p:spTgt>
                                        </p:tgtEl>
                                        <p:attrNameLst>
                                          <p:attrName>style.visibility</p:attrName>
                                        </p:attrNameLst>
                                      </p:cBhvr>
                                      <p:to>
                                        <p:strVal val="visible"/>
                                      </p:to>
                                    </p:set>
                                    <p:anim calcmode="lin" valueType="num">
                                      <p:cBhvr additive="base">
                                        <p:cTn id="55"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4">
                                            <p:txEl>
                                              <p:pRg st="9" end="9"/>
                                            </p:txEl>
                                          </p:spTgt>
                                        </p:tgtEl>
                                        <p:attrNameLst>
                                          <p:attrName>style.visibility</p:attrName>
                                        </p:attrNameLst>
                                      </p:cBhvr>
                                      <p:to>
                                        <p:strVal val="visible"/>
                                      </p:to>
                                    </p:set>
                                    <p:anim calcmode="lin" valueType="num">
                                      <p:cBhvr additive="base">
                                        <p:cTn id="61"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4">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27763"/>
            <a:ext cx="8596668" cy="604433"/>
          </a:xfrm>
        </p:spPr>
        <p:txBody>
          <a:bodyPr>
            <a:noAutofit/>
          </a:bodyPr>
          <a:lstStyle/>
          <a:p>
            <a:r>
              <a:rPr lang="en-GB" sz="3200" b="1" dirty="0">
                <a:solidFill>
                  <a:schemeClr val="tx1"/>
                </a:solidFill>
                <a:latin typeface="Arial" panose="020B0604020202020204" pitchFamily="34" charset="0"/>
                <a:cs typeface="Arial" panose="020B0604020202020204" pitchFamily="34" charset="0"/>
              </a:rPr>
              <a:t>MAKING NOTES FROM YOUR READING  </a:t>
            </a:r>
            <a:br>
              <a:rPr lang="en-GB" sz="3200" b="1" dirty="0">
                <a:solidFill>
                  <a:schemeClr val="tx1"/>
                </a:solidFill>
                <a:latin typeface="Arial" panose="020B0604020202020204" pitchFamily="34" charset="0"/>
                <a:cs typeface="Arial" panose="020B0604020202020204" pitchFamily="34" charset="0"/>
              </a:rPr>
            </a:br>
            <a:endParaRPr lang="en-US" sz="3200" b="1" dirty="0">
              <a:solidFill>
                <a:schemeClr val="tx1"/>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1" y="1100380"/>
            <a:ext cx="11825206" cy="5757619"/>
          </a:xfrm>
        </p:spPr>
        <p:style>
          <a:lnRef idx="2">
            <a:schemeClr val="accent1"/>
          </a:lnRef>
          <a:fillRef idx="1">
            <a:schemeClr val="lt1"/>
          </a:fillRef>
          <a:effectRef idx="0">
            <a:schemeClr val="accent1"/>
          </a:effectRef>
          <a:fontRef idx="minor">
            <a:schemeClr val="dk1"/>
          </a:fontRef>
        </p:style>
        <p:txBody>
          <a:bodyPr>
            <a:noAutofit/>
          </a:bodyPr>
          <a:lstStyle/>
          <a:p>
            <a:r>
              <a:rPr lang="en-GB" sz="2800" dirty="0">
                <a:latin typeface="Arial" panose="020B0604020202020204" pitchFamily="34" charset="0"/>
                <a:cs typeface="Arial" panose="020B0604020202020204" pitchFamily="34" charset="0"/>
              </a:rPr>
              <a:t> Keep your reading purpose in mind and work out in advance what information you need.  </a:t>
            </a:r>
          </a:p>
          <a:p>
            <a:r>
              <a:rPr lang="en-GB" sz="2800" dirty="0">
                <a:latin typeface="Arial" panose="020B0604020202020204" pitchFamily="34" charset="0"/>
                <a:cs typeface="Arial" panose="020B0604020202020204" pitchFamily="34" charset="0"/>
              </a:rPr>
              <a:t> Don’t repeat information.  </a:t>
            </a:r>
          </a:p>
          <a:p>
            <a:r>
              <a:rPr lang="en-GB" sz="2800" dirty="0">
                <a:latin typeface="Arial" panose="020B0604020202020204" pitchFamily="34" charset="0"/>
                <a:cs typeface="Arial" panose="020B0604020202020204" pitchFamily="34" charset="0"/>
              </a:rPr>
              <a:t>Sum up main ideas/ key points  </a:t>
            </a:r>
          </a:p>
          <a:p>
            <a:r>
              <a:rPr lang="en-GB" sz="2800" dirty="0">
                <a:latin typeface="Arial" panose="020B0604020202020204" pitchFamily="34" charset="0"/>
                <a:cs typeface="Arial" panose="020B0604020202020204" pitchFamily="34" charset="0"/>
              </a:rPr>
              <a:t>Note exactly where the information comes from.  </a:t>
            </a:r>
          </a:p>
          <a:p>
            <a:r>
              <a:rPr lang="en-GB" sz="2800" dirty="0">
                <a:latin typeface="Arial" panose="020B0604020202020204" pitchFamily="34" charset="0"/>
                <a:cs typeface="Arial" panose="020B0604020202020204" pitchFamily="34" charset="0"/>
              </a:rPr>
              <a:t>Note real names and quotations exactly as they were written.  </a:t>
            </a:r>
          </a:p>
          <a:p>
            <a:r>
              <a:rPr lang="en-GB" sz="2800" dirty="0">
                <a:latin typeface="Arial" panose="020B0604020202020204" pitchFamily="34" charset="0"/>
                <a:cs typeface="Arial" panose="020B0604020202020204" pitchFamily="34" charset="0"/>
              </a:rPr>
              <a:t>Keep notes brief – avoid full sentences; use key words as memory triggers; use abbreviations. </a:t>
            </a:r>
          </a:p>
          <a:p>
            <a:r>
              <a:rPr lang="en-GB" sz="2800" dirty="0">
                <a:latin typeface="Arial" panose="020B0604020202020204" pitchFamily="34" charset="0"/>
                <a:cs typeface="Arial" panose="020B0604020202020204" pitchFamily="34" charset="0"/>
              </a:rPr>
              <a:t>Try pattern notes – they give an overview and show links and can be more memorable visually.  </a:t>
            </a:r>
          </a:p>
          <a:p>
            <a:endParaRPr 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8029789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47973"/>
            <a:ext cx="8596668" cy="650929"/>
          </a:xfrm>
        </p:spPr>
        <p:txBody>
          <a:bodyPr>
            <a:normAutofit/>
          </a:bodyPr>
          <a:lstStyle/>
          <a:p>
            <a:r>
              <a:rPr lang="en-GB" sz="3200" b="1" dirty="0">
                <a:solidFill>
                  <a:schemeClr val="tx1"/>
                </a:solidFill>
                <a:latin typeface="Arial" panose="020B0604020202020204" pitchFamily="34" charset="0"/>
                <a:cs typeface="Arial" panose="020B0604020202020204" pitchFamily="34" charset="0"/>
              </a:rPr>
              <a:t>MAKING NOTES FROM YOUR READING</a:t>
            </a:r>
            <a:endParaRPr lang="en-US" sz="3200" b="1" dirty="0">
              <a:solidFill>
                <a:schemeClr val="tx1"/>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677333" y="898903"/>
            <a:ext cx="10543439" cy="5842860"/>
          </a:xfrm>
        </p:spPr>
        <p:style>
          <a:lnRef idx="2">
            <a:schemeClr val="accent1"/>
          </a:lnRef>
          <a:fillRef idx="1">
            <a:schemeClr val="lt1"/>
          </a:fillRef>
          <a:effectRef idx="0">
            <a:schemeClr val="accent1"/>
          </a:effectRef>
          <a:fontRef idx="minor">
            <a:schemeClr val="dk1"/>
          </a:fontRef>
        </p:style>
        <p:txBody>
          <a:bodyPr>
            <a:noAutofit/>
          </a:bodyPr>
          <a:lstStyle/>
          <a:p>
            <a:r>
              <a:rPr lang="en-GB" sz="2800" dirty="0">
                <a:solidFill>
                  <a:schemeClr val="tx1"/>
                </a:solidFill>
                <a:latin typeface="Arial" panose="020B0604020202020204" pitchFamily="34" charset="0"/>
                <a:cs typeface="Arial" panose="020B0604020202020204" pitchFamily="34" charset="0"/>
              </a:rPr>
              <a:t>Leave spaces and a wide margin and use only one side of the paper so you can add new information.  </a:t>
            </a:r>
          </a:p>
          <a:p>
            <a:r>
              <a:rPr lang="en-GB" sz="2800" dirty="0">
                <a:solidFill>
                  <a:schemeClr val="tx1"/>
                </a:solidFill>
                <a:latin typeface="Arial" panose="020B0604020202020204" pitchFamily="34" charset="0"/>
                <a:cs typeface="Arial" panose="020B0604020202020204" pitchFamily="34" charset="0"/>
              </a:rPr>
              <a:t>Carry Post-it labels with you to note ideas that occur to you – stick them on a blank sheet in a plastic wallet.  </a:t>
            </a:r>
          </a:p>
          <a:p>
            <a:r>
              <a:rPr lang="en-GB" sz="2800" dirty="0">
                <a:solidFill>
                  <a:schemeClr val="tx1"/>
                </a:solidFill>
                <a:latin typeface="Arial" panose="020B0604020202020204" pitchFamily="34" charset="0"/>
                <a:cs typeface="Arial" panose="020B0604020202020204" pitchFamily="34" charset="0"/>
              </a:rPr>
              <a:t>Make your notes user-friendly – store in a loose leaf folder; number the pages; use headings; use a ruler to divide sections; draw squares round different sections in </a:t>
            </a:r>
          </a:p>
          <a:p>
            <a:r>
              <a:rPr lang="en-GB" sz="2800" dirty="0">
                <a:solidFill>
                  <a:schemeClr val="tx1"/>
                </a:solidFill>
                <a:latin typeface="Arial" panose="020B0604020202020204" pitchFamily="34" charset="0"/>
                <a:cs typeface="Arial" panose="020B0604020202020204" pitchFamily="34" charset="0"/>
              </a:rPr>
              <a:t>different colours; link stray information by colour coding it; link points with arrows, colour, dotted lines, numbers </a:t>
            </a:r>
          </a:p>
        </p:txBody>
      </p:sp>
    </p:spTree>
    <p:extLst>
      <p:ext uri="{BB962C8B-B14F-4D97-AF65-F5344CB8AC3E}">
        <p14:creationId xmlns:p14="http://schemas.microsoft.com/office/powerpoint/2010/main" val="416653059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
            <a:ext cx="8596668" cy="697424"/>
          </a:xfrm>
        </p:spPr>
        <p:txBody>
          <a:bodyPr>
            <a:noAutofit/>
          </a:bodyPr>
          <a:lstStyle/>
          <a:p>
            <a:r>
              <a:rPr lang="en-GB" sz="3200" b="1" dirty="0">
                <a:solidFill>
                  <a:schemeClr val="tx1"/>
                </a:solidFill>
                <a:latin typeface="Arial" panose="020B0604020202020204" pitchFamily="34" charset="0"/>
                <a:cs typeface="Arial" panose="020B0604020202020204" pitchFamily="34" charset="0"/>
              </a:rPr>
              <a:t>CRITICAL READING – QUESTIONS TO ASK  </a:t>
            </a:r>
            <a:br>
              <a:rPr lang="en-GB" sz="3200" b="1" dirty="0">
                <a:solidFill>
                  <a:schemeClr val="tx1"/>
                </a:solidFill>
                <a:latin typeface="Arial" panose="020B0604020202020204" pitchFamily="34" charset="0"/>
                <a:cs typeface="Arial" panose="020B0604020202020204" pitchFamily="34" charset="0"/>
              </a:rPr>
            </a:br>
            <a:endParaRPr lang="en-US" sz="3200" b="1" dirty="0">
              <a:solidFill>
                <a:schemeClr val="tx1"/>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677334" y="1049117"/>
            <a:ext cx="10403954" cy="5574421"/>
          </a:xfrm>
        </p:spPr>
        <p:style>
          <a:lnRef idx="2">
            <a:schemeClr val="accent1"/>
          </a:lnRef>
          <a:fillRef idx="1">
            <a:schemeClr val="lt1"/>
          </a:fillRef>
          <a:effectRef idx="0">
            <a:schemeClr val="accent1"/>
          </a:effectRef>
          <a:fontRef idx="minor">
            <a:schemeClr val="dk1"/>
          </a:fontRef>
        </p:style>
        <p:txBody>
          <a:bodyPr>
            <a:noAutofit/>
          </a:bodyPr>
          <a:lstStyle/>
          <a:p>
            <a:r>
              <a:rPr lang="en-GB" sz="2800" b="1" dirty="0">
                <a:solidFill>
                  <a:schemeClr val="tx1"/>
                </a:solidFill>
                <a:latin typeface="Arial" panose="020B0604020202020204" pitchFamily="34" charset="0"/>
                <a:cs typeface="Arial" panose="020B0604020202020204" pitchFamily="34" charset="0"/>
              </a:rPr>
              <a:t>The Writer  </a:t>
            </a:r>
          </a:p>
          <a:p>
            <a:r>
              <a:rPr lang="en-GB" sz="2800" dirty="0">
                <a:solidFill>
                  <a:schemeClr val="tx1"/>
                </a:solidFill>
                <a:latin typeface="Arial" panose="020B0604020202020204" pitchFamily="34" charset="0"/>
                <a:cs typeface="Arial" panose="020B0604020202020204" pitchFamily="34" charset="0"/>
              </a:rPr>
              <a:t>Is the writer a reliable authority?  </a:t>
            </a:r>
          </a:p>
          <a:p>
            <a:r>
              <a:rPr lang="en-GB" sz="2800" dirty="0">
                <a:solidFill>
                  <a:schemeClr val="tx1"/>
                </a:solidFill>
                <a:latin typeface="Arial" panose="020B0604020202020204" pitchFamily="34" charset="0"/>
                <a:cs typeface="Arial" panose="020B0604020202020204" pitchFamily="34" charset="0"/>
              </a:rPr>
              <a:t>Has (s)he been mentioned by your tutor?  </a:t>
            </a:r>
          </a:p>
          <a:p>
            <a:r>
              <a:rPr lang="en-GB" sz="2800" dirty="0">
                <a:solidFill>
                  <a:schemeClr val="tx1"/>
                </a:solidFill>
                <a:latin typeface="Arial" panose="020B0604020202020204" pitchFamily="34" charset="0"/>
                <a:cs typeface="Arial" panose="020B0604020202020204" pitchFamily="34" charset="0"/>
              </a:rPr>
              <a:t>Is (s)he cited in other sources/bibliographies?  </a:t>
            </a:r>
          </a:p>
          <a:p>
            <a:r>
              <a:rPr lang="en-GB" sz="2800" dirty="0">
                <a:solidFill>
                  <a:schemeClr val="tx1"/>
                </a:solidFill>
                <a:latin typeface="Arial" panose="020B0604020202020204" pitchFamily="34" charset="0"/>
                <a:cs typeface="Arial" panose="020B0604020202020204" pitchFamily="34" charset="0"/>
              </a:rPr>
              <a:t>Is (s)he an accepted authority on the subject?  </a:t>
            </a:r>
          </a:p>
          <a:p>
            <a:r>
              <a:rPr lang="en-GB" sz="2800" dirty="0">
                <a:solidFill>
                  <a:schemeClr val="tx1"/>
                </a:solidFill>
                <a:latin typeface="Arial" panose="020B0604020202020204" pitchFamily="34" charset="0"/>
                <a:cs typeface="Arial" panose="020B0604020202020204" pitchFamily="34" charset="0"/>
              </a:rPr>
              <a:t>(May be an accepted authority on X but commenting on Y)  </a:t>
            </a:r>
          </a:p>
          <a:p>
            <a:r>
              <a:rPr lang="en-GB" sz="2800" dirty="0">
                <a:solidFill>
                  <a:schemeClr val="tx1"/>
                </a:solidFill>
                <a:latin typeface="Arial" panose="020B0604020202020204" pitchFamily="34" charset="0"/>
                <a:cs typeface="Arial" panose="020B0604020202020204" pitchFamily="34" charset="0"/>
              </a:rPr>
              <a:t>Is (s)he associated with a reputable institution?  </a:t>
            </a:r>
          </a:p>
          <a:p>
            <a:r>
              <a:rPr lang="en-GB" sz="2800" dirty="0">
                <a:solidFill>
                  <a:schemeClr val="tx1"/>
                </a:solidFill>
                <a:latin typeface="Arial" panose="020B0604020202020204" pitchFamily="34" charset="0"/>
                <a:cs typeface="Arial" panose="020B0604020202020204" pitchFamily="34" charset="0"/>
              </a:rPr>
              <a:t>What are the values/goals of that institution?  </a:t>
            </a:r>
          </a:p>
          <a:p>
            <a:r>
              <a:rPr lang="en-GB" sz="2800" dirty="0">
                <a:solidFill>
                  <a:schemeClr val="tx1"/>
                </a:solidFill>
                <a:latin typeface="Arial" panose="020B0604020202020204" pitchFamily="34" charset="0"/>
                <a:cs typeface="Arial" panose="020B0604020202020204" pitchFamily="34" charset="0"/>
              </a:rPr>
              <a:t>Vested interests (e.g. political, economic) involved?  </a:t>
            </a:r>
          </a:p>
          <a:p>
            <a:r>
              <a:rPr lang="en-GB" sz="2800" dirty="0">
                <a:solidFill>
                  <a:schemeClr val="tx1"/>
                </a:solidFill>
                <a:latin typeface="Arial" panose="020B0604020202020204" pitchFamily="34" charset="0"/>
                <a:cs typeface="Arial" panose="020B0604020202020204" pitchFamily="34" charset="0"/>
              </a:rPr>
              <a:t>Ideas more or less in line with other works on the subject? </a:t>
            </a:r>
            <a:endParaRPr lang="en-US" sz="28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759683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0"/>
            <a:ext cx="8596668" cy="1131376"/>
          </a:xfrm>
        </p:spPr>
        <p:txBody>
          <a:bodyPr>
            <a:normAutofit/>
          </a:bodyPr>
          <a:lstStyle/>
          <a:p>
            <a:r>
              <a:rPr lang="en-GB" sz="3200" b="1" dirty="0">
                <a:solidFill>
                  <a:schemeClr val="tx1"/>
                </a:solidFill>
                <a:latin typeface="Arial" panose="020B0604020202020204" pitchFamily="34" charset="0"/>
                <a:cs typeface="Arial" panose="020B0604020202020204" pitchFamily="34" charset="0"/>
              </a:rPr>
              <a:t>The </a:t>
            </a:r>
            <a:r>
              <a:rPr lang="en-GB" sz="3200" b="1" dirty="0" smtClean="0">
                <a:solidFill>
                  <a:schemeClr val="tx1"/>
                </a:solidFill>
                <a:latin typeface="Arial" panose="020B0604020202020204" pitchFamily="34" charset="0"/>
                <a:cs typeface="Arial" panose="020B0604020202020204" pitchFamily="34" charset="0"/>
              </a:rPr>
              <a:t>Audience </a:t>
            </a:r>
            <a:endParaRPr lang="en-US" sz="3200" b="1" dirty="0">
              <a:solidFill>
                <a:schemeClr val="tx1"/>
              </a:solidFill>
            </a:endParaRPr>
          </a:p>
        </p:txBody>
      </p:sp>
      <p:sp>
        <p:nvSpPr>
          <p:cNvPr id="3" name="Content Placeholder 2"/>
          <p:cNvSpPr>
            <a:spLocks noGrp="1"/>
          </p:cNvSpPr>
          <p:nvPr>
            <p:ph idx="1"/>
          </p:nvPr>
        </p:nvSpPr>
        <p:spPr>
          <a:xfrm>
            <a:off x="677333" y="821411"/>
            <a:ext cx="9846015" cy="5219952"/>
          </a:xfrm>
        </p:spPr>
        <p:txBody>
          <a:bodyPr>
            <a:noAutofit/>
          </a:bodyPr>
          <a:lstStyle/>
          <a:p>
            <a:r>
              <a:rPr lang="en-GB" sz="2800" dirty="0">
                <a:solidFill>
                  <a:schemeClr val="tx1"/>
                </a:solidFill>
                <a:latin typeface="Arial" panose="020B0604020202020204" pitchFamily="34" charset="0"/>
                <a:cs typeface="Arial" panose="020B0604020202020204" pitchFamily="34" charset="0"/>
              </a:rPr>
              <a:t> Aimed at a specialised or general audience?  </a:t>
            </a:r>
          </a:p>
          <a:p>
            <a:r>
              <a:rPr lang="en-GB" sz="2800" dirty="0">
                <a:solidFill>
                  <a:schemeClr val="tx1"/>
                </a:solidFill>
                <a:latin typeface="Arial" panose="020B0604020202020204" pitchFamily="34" charset="0"/>
                <a:cs typeface="Arial" panose="020B0604020202020204" pitchFamily="34" charset="0"/>
              </a:rPr>
              <a:t> The Publication  </a:t>
            </a:r>
          </a:p>
          <a:p>
            <a:r>
              <a:rPr lang="en-GB" sz="2800" dirty="0">
                <a:solidFill>
                  <a:schemeClr val="tx1"/>
                </a:solidFill>
                <a:latin typeface="Arial" panose="020B0604020202020204" pitchFamily="34" charset="0"/>
                <a:cs typeface="Arial" panose="020B0604020202020204" pitchFamily="34" charset="0"/>
              </a:rPr>
              <a:t>  How reliable a source is it?  </a:t>
            </a:r>
          </a:p>
          <a:p>
            <a:r>
              <a:rPr lang="en-GB" sz="2800" dirty="0">
                <a:solidFill>
                  <a:schemeClr val="tx1"/>
                </a:solidFill>
                <a:latin typeface="Arial" panose="020B0604020202020204" pitchFamily="34" charset="0"/>
                <a:cs typeface="Arial" panose="020B0604020202020204" pitchFamily="34" charset="0"/>
              </a:rPr>
              <a:t> (Recommended textbooks and academic or professional journals more reliable than newspapers or magazines)  </a:t>
            </a:r>
          </a:p>
          <a:p>
            <a:r>
              <a:rPr lang="en-GB" sz="2800" b="1" dirty="0">
                <a:solidFill>
                  <a:schemeClr val="tx1"/>
                </a:solidFill>
                <a:latin typeface="Arial" panose="020B0604020202020204" pitchFamily="34" charset="0"/>
                <a:cs typeface="Arial" panose="020B0604020202020204" pitchFamily="34" charset="0"/>
              </a:rPr>
              <a:t>The Publication  </a:t>
            </a:r>
          </a:p>
          <a:p>
            <a:r>
              <a:rPr lang="en-GB" sz="2800" dirty="0">
                <a:solidFill>
                  <a:schemeClr val="tx1"/>
                </a:solidFill>
                <a:latin typeface="Arial" panose="020B0604020202020204" pitchFamily="34" charset="0"/>
                <a:cs typeface="Arial" panose="020B0604020202020204" pitchFamily="34" charset="0"/>
              </a:rPr>
              <a:t> How reliable a source is it?  </a:t>
            </a:r>
          </a:p>
          <a:p>
            <a:r>
              <a:rPr lang="en-GB" sz="2800" dirty="0">
                <a:solidFill>
                  <a:schemeClr val="tx1"/>
                </a:solidFill>
                <a:latin typeface="Arial" panose="020B0604020202020204" pitchFamily="34" charset="0"/>
                <a:cs typeface="Arial" panose="020B0604020202020204" pitchFamily="34" charset="0"/>
              </a:rPr>
              <a:t> (Recommended textbooks and academic or professional journals more reliable than </a:t>
            </a:r>
          </a:p>
          <a:p>
            <a:r>
              <a:rPr lang="en-GB" sz="2800" dirty="0">
                <a:solidFill>
                  <a:schemeClr val="tx1"/>
                </a:solidFill>
                <a:latin typeface="Arial" panose="020B0604020202020204" pitchFamily="34" charset="0"/>
                <a:cs typeface="Arial" panose="020B0604020202020204" pitchFamily="34" charset="0"/>
              </a:rPr>
              <a:t>newspapers or magazines)  </a:t>
            </a:r>
          </a:p>
          <a:p>
            <a:endParaRPr lang="en-GB" sz="2800" dirty="0">
              <a:solidFill>
                <a:schemeClr val="tx1"/>
              </a:solidFill>
              <a:latin typeface="Arial" panose="020B0604020202020204" pitchFamily="34" charset="0"/>
              <a:cs typeface="Arial" panose="020B0604020202020204" pitchFamily="34" charset="0"/>
            </a:endParaRPr>
          </a:p>
          <a:p>
            <a:endParaRPr lang="en-US" sz="28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17355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7973" y="1"/>
            <a:ext cx="11654725" cy="6857999"/>
          </a:xfrm>
        </p:spPr>
        <p:style>
          <a:lnRef idx="2">
            <a:schemeClr val="accent1"/>
          </a:lnRef>
          <a:fillRef idx="1">
            <a:schemeClr val="lt1"/>
          </a:fillRef>
          <a:effectRef idx="0">
            <a:schemeClr val="accent1"/>
          </a:effectRef>
          <a:fontRef idx="minor">
            <a:schemeClr val="dk1"/>
          </a:fontRef>
        </p:style>
        <p:txBody>
          <a:bodyPr>
            <a:noAutofit/>
          </a:bodyPr>
          <a:lstStyle/>
          <a:p>
            <a:r>
              <a:rPr lang="en-GB" sz="3200" b="1" dirty="0">
                <a:solidFill>
                  <a:schemeClr val="tx1"/>
                </a:solidFill>
                <a:latin typeface="Arial" panose="020B0604020202020204" pitchFamily="34" charset="0"/>
                <a:cs typeface="Arial" panose="020B0604020202020204" pitchFamily="34" charset="0"/>
              </a:rPr>
              <a:t>The content  </a:t>
            </a:r>
          </a:p>
          <a:p>
            <a:pPr>
              <a:buFont typeface="Wingdings" panose="05000000000000000000" pitchFamily="2" charset="2"/>
              <a:buChar char="§"/>
            </a:pPr>
            <a:r>
              <a:rPr lang="en-GB" sz="2800" dirty="0">
                <a:solidFill>
                  <a:schemeClr val="tx1"/>
                </a:solidFill>
                <a:latin typeface="Arial" panose="020B0604020202020204" pitchFamily="34" charset="0"/>
                <a:cs typeface="Arial" panose="020B0604020202020204" pitchFamily="34" charset="0"/>
              </a:rPr>
              <a:t> At the right level or too simple/too technical?   </a:t>
            </a:r>
          </a:p>
          <a:p>
            <a:pPr>
              <a:buFont typeface="Wingdings" panose="05000000000000000000" pitchFamily="2" charset="2"/>
              <a:buChar char="§"/>
            </a:pPr>
            <a:r>
              <a:rPr lang="en-GB" sz="2800" dirty="0">
                <a:solidFill>
                  <a:schemeClr val="tx1"/>
                </a:solidFill>
                <a:latin typeface="Arial" panose="020B0604020202020204" pitchFamily="34" charset="0"/>
                <a:cs typeface="Arial" panose="020B0604020202020204" pitchFamily="34" charset="0"/>
              </a:rPr>
              <a:t> Does it mainly cover facts or </a:t>
            </a:r>
            <a:r>
              <a:rPr lang="en-GB" sz="2800" dirty="0" err="1">
                <a:solidFill>
                  <a:schemeClr val="tx1"/>
                </a:solidFill>
                <a:latin typeface="Arial" panose="020B0604020202020204" pitchFamily="34" charset="0"/>
                <a:cs typeface="Arial" panose="020B0604020202020204" pitchFamily="34" charset="0"/>
              </a:rPr>
              <a:t>opinion?Is</a:t>
            </a:r>
            <a:r>
              <a:rPr lang="en-GB" sz="2800" dirty="0">
                <a:solidFill>
                  <a:schemeClr val="tx1"/>
                </a:solidFill>
                <a:latin typeface="Arial" panose="020B0604020202020204" pitchFamily="34" charset="0"/>
                <a:cs typeface="Arial" panose="020B0604020202020204" pitchFamily="34" charset="0"/>
              </a:rPr>
              <a:t> it up to date?  </a:t>
            </a:r>
          </a:p>
          <a:p>
            <a:pPr>
              <a:buFont typeface="Wingdings" panose="05000000000000000000" pitchFamily="2" charset="2"/>
              <a:buChar char="§"/>
            </a:pPr>
            <a:r>
              <a:rPr lang="en-GB" sz="2800" dirty="0">
                <a:solidFill>
                  <a:schemeClr val="tx1"/>
                </a:solidFill>
                <a:latin typeface="Arial" panose="020B0604020202020204" pitchFamily="34" charset="0"/>
                <a:cs typeface="Arial" panose="020B0604020202020204" pitchFamily="34" charset="0"/>
              </a:rPr>
              <a:t> Has it received positive reviews? </a:t>
            </a:r>
          </a:p>
          <a:p>
            <a:r>
              <a:rPr lang="en-GB" sz="3200" b="1" dirty="0">
                <a:solidFill>
                  <a:schemeClr val="tx1"/>
                </a:solidFill>
                <a:latin typeface="Arial" panose="020B0604020202020204" pitchFamily="34" charset="0"/>
                <a:cs typeface="Arial" panose="020B0604020202020204" pitchFamily="34" charset="0"/>
              </a:rPr>
              <a:t>The argument  </a:t>
            </a:r>
            <a:r>
              <a:rPr lang="en-GB" sz="3200" dirty="0">
                <a:solidFill>
                  <a:schemeClr val="tx1"/>
                </a:solidFill>
                <a:latin typeface="Arial" panose="020B0604020202020204" pitchFamily="34" charset="0"/>
                <a:cs typeface="Arial" panose="020B0604020202020204" pitchFamily="34" charset="0"/>
              </a:rPr>
              <a:t>  </a:t>
            </a:r>
          </a:p>
          <a:p>
            <a:pPr>
              <a:buFont typeface="Wingdings" panose="05000000000000000000" pitchFamily="2" charset="2"/>
              <a:buChar char="§"/>
            </a:pPr>
            <a:r>
              <a:rPr lang="en-GB" sz="2800" dirty="0">
                <a:solidFill>
                  <a:schemeClr val="tx1"/>
                </a:solidFill>
                <a:latin typeface="Arial" panose="020B0604020202020204" pitchFamily="34" charset="0"/>
                <a:cs typeface="Arial" panose="020B0604020202020204" pitchFamily="34" charset="0"/>
              </a:rPr>
              <a:t>What does the writer want you to accept?  </a:t>
            </a:r>
          </a:p>
          <a:p>
            <a:pPr>
              <a:buFont typeface="Wingdings" panose="05000000000000000000" pitchFamily="2" charset="2"/>
              <a:buChar char="§"/>
            </a:pPr>
            <a:r>
              <a:rPr lang="en-GB" sz="2800" dirty="0">
                <a:solidFill>
                  <a:schemeClr val="tx1"/>
                </a:solidFill>
                <a:latin typeface="Arial" panose="020B0604020202020204" pitchFamily="34" charset="0"/>
                <a:cs typeface="Arial" panose="020B0604020202020204" pitchFamily="34" charset="0"/>
              </a:rPr>
              <a:t>Sufficient, relevant, reliable and valid evidence given?  </a:t>
            </a:r>
          </a:p>
          <a:p>
            <a:pPr>
              <a:buFont typeface="Wingdings" panose="05000000000000000000" pitchFamily="2" charset="2"/>
              <a:buChar char="§"/>
            </a:pPr>
            <a:r>
              <a:rPr lang="en-GB" sz="2800" dirty="0">
                <a:solidFill>
                  <a:schemeClr val="tx1"/>
                </a:solidFill>
                <a:latin typeface="Arial" panose="020B0604020202020204" pitchFamily="34" charset="0"/>
                <a:cs typeface="Arial" panose="020B0604020202020204" pitchFamily="34" charset="0"/>
              </a:rPr>
              <a:t>Does the argument progress logically from one point to another?  </a:t>
            </a:r>
          </a:p>
          <a:p>
            <a:pPr>
              <a:buFont typeface="Wingdings" panose="05000000000000000000" pitchFamily="2" charset="2"/>
              <a:buChar char="§"/>
            </a:pPr>
            <a:r>
              <a:rPr lang="en-GB" sz="2800" dirty="0">
                <a:solidFill>
                  <a:schemeClr val="tx1"/>
                </a:solidFill>
                <a:latin typeface="Arial" panose="020B0604020202020204" pitchFamily="34" charset="0"/>
                <a:cs typeface="Arial" panose="020B0604020202020204" pitchFamily="34" charset="0"/>
              </a:rPr>
              <a:t> Is the argument based on a sound premise?  </a:t>
            </a:r>
          </a:p>
          <a:p>
            <a:pPr>
              <a:buFont typeface="Wingdings" panose="05000000000000000000" pitchFamily="2" charset="2"/>
              <a:buChar char="§"/>
            </a:pPr>
            <a:r>
              <a:rPr lang="en-GB" sz="2800" dirty="0">
                <a:solidFill>
                  <a:schemeClr val="tx1"/>
                </a:solidFill>
                <a:latin typeface="Arial" panose="020B0604020202020204" pitchFamily="34" charset="0"/>
                <a:cs typeface="Arial" panose="020B0604020202020204" pitchFamily="34" charset="0"/>
              </a:rPr>
              <a:t> Is the argument consistent? Any contradictions?   </a:t>
            </a:r>
          </a:p>
          <a:p>
            <a:pPr>
              <a:buFont typeface="Wingdings" panose="05000000000000000000" pitchFamily="2" charset="2"/>
              <a:buChar char="§"/>
            </a:pPr>
            <a:r>
              <a:rPr lang="en-GB" sz="2800" dirty="0">
                <a:solidFill>
                  <a:schemeClr val="tx1"/>
                </a:solidFill>
                <a:latin typeface="Arial" panose="020B0604020202020204" pitchFamily="34" charset="0"/>
                <a:cs typeface="Arial" panose="020B0604020202020204" pitchFamily="34" charset="0"/>
              </a:rPr>
              <a:t>Is the argument balanced?  Is the reasoning flawed in any way?</a:t>
            </a:r>
          </a:p>
          <a:p>
            <a:pPr>
              <a:buFont typeface="Wingdings" panose="05000000000000000000" pitchFamily="2" charset="2"/>
              <a:buChar char="§"/>
            </a:pPr>
            <a:r>
              <a:rPr lang="en-GB" sz="2800" dirty="0">
                <a:solidFill>
                  <a:schemeClr val="tx1"/>
                </a:solidFill>
                <a:latin typeface="Arial" panose="020B0604020202020204" pitchFamily="34" charset="0"/>
                <a:cs typeface="Arial" panose="020B0604020202020204" pitchFamily="34" charset="0"/>
              </a:rPr>
              <a:t> Any exceptions/missing info/reliable data?</a:t>
            </a:r>
            <a:endParaRPr lang="en-US" sz="28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834009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01478"/>
            <a:ext cx="8596668" cy="790414"/>
          </a:xfrm>
        </p:spPr>
        <p:txBody>
          <a:bodyPr>
            <a:normAutofit fontScale="90000"/>
          </a:bodyPr>
          <a:lstStyle/>
          <a:p>
            <a:r>
              <a:rPr lang="en-GB" sz="3200" b="1" dirty="0">
                <a:solidFill>
                  <a:schemeClr val="tx1"/>
                </a:solidFill>
                <a:latin typeface="Arial" panose="020B0604020202020204" pitchFamily="34" charset="0"/>
                <a:cs typeface="Arial" panose="020B0604020202020204" pitchFamily="34" charset="0"/>
              </a:rPr>
              <a:t>Style and language  </a:t>
            </a:r>
            <a:br>
              <a:rPr lang="en-GB" sz="3200" b="1" dirty="0">
                <a:solidFill>
                  <a:schemeClr val="tx1"/>
                </a:solidFill>
                <a:latin typeface="Arial" panose="020B0604020202020204" pitchFamily="34" charset="0"/>
                <a:cs typeface="Arial" panose="020B0604020202020204" pitchFamily="34" charset="0"/>
              </a:rPr>
            </a:br>
            <a:endParaRPr lang="en-US" sz="3200" b="1" dirty="0">
              <a:solidFill>
                <a:schemeClr val="tx1"/>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677334" y="836909"/>
            <a:ext cx="8596668" cy="5204454"/>
          </a:xfrm>
        </p:spPr>
        <p:txBody>
          <a:bodyPr>
            <a:noAutofit/>
          </a:bodyPr>
          <a:lstStyle/>
          <a:p>
            <a:r>
              <a:rPr lang="en-GB" sz="2800" dirty="0">
                <a:solidFill>
                  <a:schemeClr val="tx1"/>
                </a:solidFill>
                <a:latin typeface="Arial" panose="020B0604020202020204" pitchFamily="34" charset="0"/>
                <a:cs typeface="Arial" panose="020B0604020202020204" pitchFamily="34" charset="0"/>
              </a:rPr>
              <a:t>Easy to read?  </a:t>
            </a:r>
          </a:p>
          <a:p>
            <a:r>
              <a:rPr lang="en-GB" sz="2800" dirty="0">
                <a:solidFill>
                  <a:schemeClr val="tx1"/>
                </a:solidFill>
                <a:latin typeface="Arial" panose="020B0604020202020204" pitchFamily="34" charset="0"/>
                <a:cs typeface="Arial" panose="020B0604020202020204" pitchFamily="34" charset="0"/>
              </a:rPr>
              <a:t>Main points clearly presented?  </a:t>
            </a:r>
          </a:p>
          <a:p>
            <a:r>
              <a:rPr lang="en-GB" sz="2800" dirty="0">
                <a:solidFill>
                  <a:schemeClr val="tx1"/>
                </a:solidFill>
                <a:latin typeface="Arial" panose="020B0604020202020204" pitchFamily="34" charset="0"/>
                <a:cs typeface="Arial" panose="020B0604020202020204" pitchFamily="34" charset="0"/>
              </a:rPr>
              <a:t>Emotive language used? (e.g. unfair, massive, extremist, bureaucrats,  fat cats)  </a:t>
            </a:r>
          </a:p>
          <a:p>
            <a:r>
              <a:rPr lang="en-GB" sz="2800" dirty="0">
                <a:solidFill>
                  <a:schemeClr val="tx1"/>
                </a:solidFill>
                <a:latin typeface="Arial" panose="020B0604020202020204" pitchFamily="34" charset="0"/>
                <a:cs typeface="Arial" panose="020B0604020202020204" pitchFamily="34" charset="0"/>
              </a:rPr>
              <a:t>Persuasive language used? (e.g. surely, clearly, obviously)  </a:t>
            </a:r>
          </a:p>
          <a:p>
            <a:r>
              <a:rPr lang="en-GB" sz="2800" dirty="0">
                <a:solidFill>
                  <a:schemeClr val="tx1"/>
                </a:solidFill>
                <a:latin typeface="Arial" panose="020B0604020202020204" pitchFamily="34" charset="0"/>
                <a:cs typeface="Arial" panose="020B0604020202020204" pitchFamily="34" charset="0"/>
              </a:rPr>
              <a:t>Any imprecise terms to describe data? (e.g. most, considerable)</a:t>
            </a:r>
            <a:endParaRPr lang="en-US" sz="28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4111160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3" y="119543"/>
            <a:ext cx="8596668" cy="626772"/>
          </a:xfrm>
        </p:spPr>
        <p:txBody>
          <a:bodyPr>
            <a:normAutofit/>
          </a:bodyPr>
          <a:lstStyle/>
          <a:p>
            <a:r>
              <a:rPr lang="en-GB" sz="3200" b="1" dirty="0">
                <a:solidFill>
                  <a:schemeClr val="tx1"/>
                </a:solidFill>
                <a:latin typeface="Arial" panose="020B0604020202020204" pitchFamily="34" charset="0"/>
                <a:cs typeface="Arial" panose="020B0604020202020204" pitchFamily="34" charset="0"/>
              </a:rPr>
              <a:t>Activity</a:t>
            </a:r>
            <a:endParaRPr lang="en-US" sz="3200" b="1" dirty="0">
              <a:solidFill>
                <a:schemeClr val="tx1"/>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677333" y="746316"/>
            <a:ext cx="10940235" cy="6041346"/>
          </a:xfrm>
        </p:spPr>
        <p:txBody>
          <a:bodyPr>
            <a:normAutofit/>
          </a:bodyPr>
          <a:lstStyle/>
          <a:p>
            <a:r>
              <a:rPr lang="en-GB" sz="2800" dirty="0"/>
              <a:t>In one paragraph (about 50 words), explain how scientific discoveries about waves over time have helped improve everyday life. Use at least two examples (such as sound waves, light waves, or electrical waves) in your answer.</a:t>
            </a:r>
          </a:p>
          <a:p>
            <a:r>
              <a:rPr lang="en-GB" sz="2800" dirty="0"/>
              <a:t>Waves have been important in everyday life for centuries. In 1676, scientists first measured the speed of light, helping us understand why we see lightning before hearing thunder. By 1752, studies of electricity showed how energy travels through wires. Today, sound, light, and electrical waves continue powering communication and technology.</a:t>
            </a:r>
          </a:p>
          <a:p>
            <a:endParaRPr lang="en-US" sz="2800" dirty="0"/>
          </a:p>
        </p:txBody>
      </p:sp>
    </p:spTree>
    <p:extLst>
      <p:ext uri="{BB962C8B-B14F-4D97-AF65-F5344CB8AC3E}">
        <p14:creationId xmlns:p14="http://schemas.microsoft.com/office/powerpoint/2010/main" val="669173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5331</TotalTime>
  <Words>3355</Words>
  <Application>Microsoft Office PowerPoint</Application>
  <PresentationFormat>Widescreen</PresentationFormat>
  <Paragraphs>414</Paragraphs>
  <Slides>51</Slides>
  <Notes>31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51</vt:i4>
      </vt:variant>
    </vt:vector>
  </HeadingPairs>
  <TitlesOfParts>
    <vt:vector size="57" baseType="lpstr">
      <vt:lpstr>Arial</vt:lpstr>
      <vt:lpstr>Calibri</vt:lpstr>
      <vt:lpstr>Trebuchet MS</vt:lpstr>
      <vt:lpstr>Wingdings</vt:lpstr>
      <vt:lpstr>Wingdings 3</vt:lpstr>
      <vt:lpstr>Facet</vt:lpstr>
      <vt:lpstr>EE Week 3  Technical Communication Skills CLO-1 </vt:lpstr>
      <vt:lpstr>PowerPoint Presentation</vt:lpstr>
      <vt:lpstr>PowerPoint Presentation</vt:lpstr>
      <vt:lpstr>Learning Objectives:</vt:lpstr>
      <vt:lpstr>    </vt:lpstr>
      <vt:lpstr>PowerPoint Presentation</vt:lpstr>
      <vt:lpstr>PowerPoint Presentation</vt:lpstr>
      <vt:lpstr>PowerPoint Presentation</vt:lpstr>
      <vt:lpstr>PowerPoint Presentation</vt:lpstr>
      <vt:lpstr> </vt:lpstr>
      <vt:lpstr>When Do We Use Scanning?</vt:lpstr>
      <vt:lpstr>Reading Strategies</vt:lpstr>
      <vt:lpstr>Annotating the text with Marginal Notes</vt:lpstr>
      <vt:lpstr>Which event mentioned in the paragraph happened first, and what was its significance in relation to later developments and also provide title?</vt:lpstr>
      <vt:lpstr>Global Cyber security Developments and Policy Shifts (2016–2024)</vt:lpstr>
      <vt:lpstr>Analysis and Evaluation of the text with Qs. For Skimming:</vt:lpstr>
      <vt:lpstr>For Scanning</vt:lpstr>
      <vt:lpstr>Critical reading</vt:lpstr>
      <vt:lpstr>PowerPoint Presentation</vt:lpstr>
      <vt:lpstr>Purpose of Critical Reading is to: </vt:lpstr>
      <vt:lpstr>(Cont’d )Purpose of Critical Reading is to: </vt:lpstr>
      <vt:lpstr>   Charity and Social Responsibility</vt:lpstr>
      <vt:lpstr>Questions</vt:lpstr>
      <vt:lpstr>Answers</vt:lpstr>
      <vt:lpstr>Label the questions</vt:lpstr>
      <vt:lpstr>Label the questions</vt:lpstr>
      <vt:lpstr>PowerPoint Presentation</vt:lpstr>
      <vt:lpstr>Author’s Purpose</vt:lpstr>
      <vt:lpstr>Key Words</vt:lpstr>
      <vt:lpstr>Question Stems: Short phrases or prompts to formulate questions</vt:lpstr>
      <vt:lpstr>Continued…</vt:lpstr>
      <vt:lpstr>Practice: Identify the author’s purpose  </vt:lpstr>
      <vt:lpstr>Identify the author’s purpose and explain your choice</vt:lpstr>
      <vt:lpstr>PowerPoint Presentation</vt:lpstr>
      <vt:lpstr>PowerPoint Presentation</vt:lpstr>
      <vt:lpstr>IDENTIFYING ORGANIZATIONAL PATTERNS  </vt:lpstr>
      <vt:lpstr>READING TIPS </vt:lpstr>
      <vt:lpstr>READING STRATEGIES   </vt:lpstr>
      <vt:lpstr>READING STRATEGIES   </vt:lpstr>
      <vt:lpstr>BE AN ACTIVE READER   </vt:lpstr>
      <vt:lpstr>BE AN ACTIVE READER   </vt:lpstr>
      <vt:lpstr>THE SQ3R METHOD   </vt:lpstr>
      <vt:lpstr>THE SQ3R METHOD</vt:lpstr>
      <vt:lpstr>QUESTIONS &amp; ANSWERS</vt:lpstr>
      <vt:lpstr>MAKING NOTES FROM YOUR READING   </vt:lpstr>
      <vt:lpstr>MAKING NOTES FROM YOUR READING</vt:lpstr>
      <vt:lpstr>CRITICAL READING – QUESTIONS TO ASK   </vt:lpstr>
      <vt:lpstr>The Audience </vt:lpstr>
      <vt:lpstr>PowerPoint Presentation</vt:lpstr>
      <vt:lpstr>Style and language   </vt:lpstr>
      <vt:lpstr>Activity</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EE Week 2  Technical Communication Skills CLO-1</dc:title>
  <dc:creator>123</dc:creator>
  <cp:lastModifiedBy>123</cp:lastModifiedBy>
  <cp:revision>158</cp:revision>
  <dcterms:created xsi:type="dcterms:W3CDTF">2026-01-29T10:52:02Z</dcterms:created>
  <dcterms:modified xsi:type="dcterms:W3CDTF">2026-02-12T06:38:10Z</dcterms:modified>
</cp:coreProperties>
</file>