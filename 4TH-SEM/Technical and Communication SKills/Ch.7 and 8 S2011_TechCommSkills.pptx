
<file path=[Content_Types].xml><?xml version="1.0" encoding="utf-8"?>
<Types xmlns="http://schemas.openxmlformats.org/package/2006/content-types">
  <Default Extension="png" ContentType="image/png"/>
  <Default Extension="jfif" ContentType="image/jpe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38"/>
  </p:notesMasterIdLst>
  <p:sldIdLst>
    <p:sldId id="256" r:id="rId2"/>
    <p:sldId id="257" r:id="rId3"/>
    <p:sldId id="258" r:id="rId4"/>
    <p:sldId id="260" r:id="rId5"/>
    <p:sldId id="272" r:id="rId6"/>
    <p:sldId id="274" r:id="rId7"/>
    <p:sldId id="273" r:id="rId8"/>
    <p:sldId id="261" r:id="rId9"/>
    <p:sldId id="263" r:id="rId10"/>
    <p:sldId id="264" r:id="rId11"/>
    <p:sldId id="265" r:id="rId12"/>
    <p:sldId id="266" r:id="rId13"/>
    <p:sldId id="267" r:id="rId14"/>
    <p:sldId id="268" r:id="rId15"/>
    <p:sldId id="269" r:id="rId16"/>
    <p:sldId id="270" r:id="rId17"/>
    <p:sldId id="259" r:id="rId18"/>
    <p:sldId id="276" r:id="rId19"/>
    <p:sldId id="277" r:id="rId20"/>
    <p:sldId id="299" r:id="rId21"/>
    <p:sldId id="300" r:id="rId22"/>
    <p:sldId id="294" r:id="rId23"/>
    <p:sldId id="290" r:id="rId24"/>
    <p:sldId id="301" r:id="rId25"/>
    <p:sldId id="291" r:id="rId26"/>
    <p:sldId id="292" r:id="rId27"/>
    <p:sldId id="293" r:id="rId28"/>
    <p:sldId id="295" r:id="rId29"/>
    <p:sldId id="296" r:id="rId30"/>
    <p:sldId id="297" r:id="rId31"/>
    <p:sldId id="298" r:id="rId32"/>
    <p:sldId id="302" r:id="rId33"/>
    <p:sldId id="303" r:id="rId34"/>
    <p:sldId id="304" r:id="rId35"/>
    <p:sldId id="305" r:id="rId36"/>
    <p:sldId id="26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632" autoAdjust="0"/>
  </p:normalViewPr>
  <p:slideViewPr>
    <p:cSldViewPr snapToGrid="0">
      <p:cViewPr varScale="1">
        <p:scale>
          <a:sx n="43" d="100"/>
          <a:sy n="43" d="100"/>
        </p:scale>
        <p:origin x="67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C133F1-8441-4EEA-9BF4-BF1FF29702C1}"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2727B54C-0E5F-4400-8B59-6188E17E5132}">
      <dgm:prSet custT="1"/>
      <dgm:spPr/>
      <dgm:t>
        <a:bodyPr/>
        <a:lstStyle/>
        <a:p>
          <a:pPr algn="just"/>
          <a:r>
            <a:rPr lang="en-US" sz="2400" dirty="0"/>
            <a:t>This understanding breaks down the “lone genius” narrative and myth. </a:t>
          </a:r>
        </a:p>
      </dgm:t>
    </dgm:pt>
    <dgm:pt modelId="{4BE39736-4F72-480D-ABF0-45331E727859}" type="parTrans" cxnId="{89CD2224-D2B2-4EDF-8F20-1ED2DE50FDEF}">
      <dgm:prSet/>
      <dgm:spPr/>
      <dgm:t>
        <a:bodyPr/>
        <a:lstStyle/>
        <a:p>
          <a:endParaRPr lang="en-US"/>
        </a:p>
      </dgm:t>
    </dgm:pt>
    <dgm:pt modelId="{4F85951B-5A6C-4362-93E2-07D6C0AF7B3D}" type="sibTrans" cxnId="{89CD2224-D2B2-4EDF-8F20-1ED2DE50FDEF}">
      <dgm:prSet/>
      <dgm:spPr/>
      <dgm:t>
        <a:bodyPr/>
        <a:lstStyle/>
        <a:p>
          <a:endParaRPr lang="en-US"/>
        </a:p>
      </dgm:t>
    </dgm:pt>
    <dgm:pt modelId="{0F40C311-E710-4877-91F4-AED9FAA9454A}">
      <dgm:prSet custT="1"/>
      <dgm:spPr/>
      <dgm:t>
        <a:bodyPr/>
        <a:lstStyle/>
        <a:p>
          <a:pPr algn="just"/>
          <a:r>
            <a:rPr lang="en-US" sz="2400" dirty="0"/>
            <a:t>That someone is tucked away in a garage, or a dark studio, or in a weird looking lab, building something brilliant all on its own. Alone and determined to win. </a:t>
          </a:r>
        </a:p>
      </dgm:t>
    </dgm:pt>
    <dgm:pt modelId="{C7EA5EF3-1B59-435A-A9DC-4A30FDBD6675}" type="parTrans" cxnId="{38757685-6CCB-4D9E-B054-A509ADAD3E5F}">
      <dgm:prSet/>
      <dgm:spPr/>
      <dgm:t>
        <a:bodyPr/>
        <a:lstStyle/>
        <a:p>
          <a:endParaRPr lang="en-US"/>
        </a:p>
      </dgm:t>
    </dgm:pt>
    <dgm:pt modelId="{611C24D6-2D5B-4E9C-8B22-9EC46862BF7E}" type="sibTrans" cxnId="{38757685-6CCB-4D9E-B054-A509ADAD3E5F}">
      <dgm:prSet/>
      <dgm:spPr/>
      <dgm:t>
        <a:bodyPr/>
        <a:lstStyle/>
        <a:p>
          <a:endParaRPr lang="en-US"/>
        </a:p>
      </dgm:t>
    </dgm:pt>
    <dgm:pt modelId="{C9B61DC3-00EE-4D49-A283-E8942DD9FB17}">
      <dgm:prSet custT="1"/>
      <dgm:spPr/>
      <dgm:t>
        <a:bodyPr/>
        <a:lstStyle/>
        <a:p>
          <a:pPr algn="just"/>
          <a:r>
            <a:rPr lang="en-US" sz="2400" i="1" dirty="0"/>
            <a:t>Steve Jobs brings Apple’s revolution. But he had partners (Steve Wozniak – the co-founder), and the real working human team.</a:t>
          </a:r>
          <a:endParaRPr lang="en-US" sz="2400" dirty="0"/>
        </a:p>
      </dgm:t>
    </dgm:pt>
    <dgm:pt modelId="{453EB734-F2F0-4533-97BB-61E0C858A45C}" type="parTrans" cxnId="{D0E6F397-BB76-40A1-87EB-A7FEBBD3AFC2}">
      <dgm:prSet/>
      <dgm:spPr/>
      <dgm:t>
        <a:bodyPr/>
        <a:lstStyle/>
        <a:p>
          <a:endParaRPr lang="en-US"/>
        </a:p>
      </dgm:t>
    </dgm:pt>
    <dgm:pt modelId="{E82947EE-1264-42AA-A00F-10BA3A1D8090}" type="sibTrans" cxnId="{D0E6F397-BB76-40A1-87EB-A7FEBBD3AFC2}">
      <dgm:prSet/>
      <dgm:spPr/>
      <dgm:t>
        <a:bodyPr/>
        <a:lstStyle/>
        <a:p>
          <a:endParaRPr lang="en-US"/>
        </a:p>
      </dgm:t>
    </dgm:pt>
    <dgm:pt modelId="{42E1F7B9-CEC2-41C5-8A1B-5E2E6BBCBAFA}">
      <dgm:prSet custT="1"/>
      <dgm:spPr/>
      <dgm:t>
        <a:bodyPr/>
        <a:lstStyle/>
        <a:p>
          <a:pPr algn="just"/>
          <a:r>
            <a:rPr lang="en-US" sz="2400" dirty="0"/>
            <a:t>The focus shifts to the development of an active, professional team building.</a:t>
          </a:r>
        </a:p>
      </dgm:t>
    </dgm:pt>
    <dgm:pt modelId="{AF8EC223-14DA-44DA-B677-A4E9D89D7FEF}" type="parTrans" cxnId="{6D2264EC-FEB0-403E-8A70-33E7FE6182D7}">
      <dgm:prSet/>
      <dgm:spPr/>
      <dgm:t>
        <a:bodyPr/>
        <a:lstStyle/>
        <a:p>
          <a:endParaRPr lang="en-US"/>
        </a:p>
      </dgm:t>
    </dgm:pt>
    <dgm:pt modelId="{D3DD360D-2785-4D6E-98FD-E0F760CCE1C4}" type="sibTrans" cxnId="{6D2264EC-FEB0-403E-8A70-33E7FE6182D7}">
      <dgm:prSet/>
      <dgm:spPr/>
      <dgm:t>
        <a:bodyPr/>
        <a:lstStyle/>
        <a:p>
          <a:endParaRPr lang="en-US"/>
        </a:p>
      </dgm:t>
    </dgm:pt>
    <dgm:pt modelId="{BE77F572-E6C8-4C9C-8ABF-AA0A27ADD380}">
      <dgm:prSet custT="1"/>
      <dgm:spPr/>
      <dgm:t>
        <a:bodyPr/>
        <a:lstStyle/>
        <a:p>
          <a:pPr algn="just"/>
          <a:r>
            <a:rPr lang="en-US" sz="2400" dirty="0"/>
            <a:t>Consequently – return-on-investment (ROI) = better projects outcomes and reduced technical duty.</a:t>
          </a:r>
        </a:p>
      </dgm:t>
    </dgm:pt>
    <dgm:pt modelId="{1ED681D5-9315-4F86-9286-EBF6B243D480}" type="parTrans" cxnId="{1F822871-F9FF-4DA7-B124-D8D8D7CC6748}">
      <dgm:prSet/>
      <dgm:spPr/>
      <dgm:t>
        <a:bodyPr/>
        <a:lstStyle/>
        <a:p>
          <a:endParaRPr lang="en-US"/>
        </a:p>
      </dgm:t>
    </dgm:pt>
    <dgm:pt modelId="{18A062A9-8A2A-4CFC-BA29-185853C34BEE}" type="sibTrans" cxnId="{1F822871-F9FF-4DA7-B124-D8D8D7CC6748}">
      <dgm:prSet/>
      <dgm:spPr/>
      <dgm:t>
        <a:bodyPr/>
        <a:lstStyle/>
        <a:p>
          <a:endParaRPr lang="en-US"/>
        </a:p>
      </dgm:t>
    </dgm:pt>
    <dgm:pt modelId="{02E9945D-2947-4BB7-A978-F26A26EAB850}" type="pres">
      <dgm:prSet presAssocID="{24C133F1-8441-4EEA-9BF4-BF1FF29702C1}" presName="vert0" presStyleCnt="0">
        <dgm:presLayoutVars>
          <dgm:dir/>
          <dgm:animOne val="branch"/>
          <dgm:animLvl val="lvl"/>
        </dgm:presLayoutVars>
      </dgm:prSet>
      <dgm:spPr/>
      <dgm:t>
        <a:bodyPr/>
        <a:lstStyle/>
        <a:p>
          <a:endParaRPr lang="en-US"/>
        </a:p>
      </dgm:t>
    </dgm:pt>
    <dgm:pt modelId="{72490898-BF11-4217-87F3-847B4C837B6C}" type="pres">
      <dgm:prSet presAssocID="{2727B54C-0E5F-4400-8B59-6188E17E5132}" presName="thickLine" presStyleLbl="alignNode1" presStyleIdx="0" presStyleCnt="5"/>
      <dgm:spPr/>
    </dgm:pt>
    <dgm:pt modelId="{B7DF7250-6C2B-4BFF-9918-6ABC4A0EABF9}" type="pres">
      <dgm:prSet presAssocID="{2727B54C-0E5F-4400-8B59-6188E17E5132}" presName="horz1" presStyleCnt="0"/>
      <dgm:spPr/>
    </dgm:pt>
    <dgm:pt modelId="{A0A5044F-F17C-451A-93C3-B8D576F6E103}" type="pres">
      <dgm:prSet presAssocID="{2727B54C-0E5F-4400-8B59-6188E17E5132}" presName="tx1" presStyleLbl="revTx" presStyleIdx="0" presStyleCnt="5"/>
      <dgm:spPr/>
      <dgm:t>
        <a:bodyPr/>
        <a:lstStyle/>
        <a:p>
          <a:endParaRPr lang="en-US"/>
        </a:p>
      </dgm:t>
    </dgm:pt>
    <dgm:pt modelId="{B547251C-D56A-4560-ACCA-D81A3766CA5A}" type="pres">
      <dgm:prSet presAssocID="{2727B54C-0E5F-4400-8B59-6188E17E5132}" presName="vert1" presStyleCnt="0"/>
      <dgm:spPr/>
    </dgm:pt>
    <dgm:pt modelId="{E20AEC28-9582-4C79-AB36-7FB33204FA11}" type="pres">
      <dgm:prSet presAssocID="{0F40C311-E710-4877-91F4-AED9FAA9454A}" presName="thickLine" presStyleLbl="alignNode1" presStyleIdx="1" presStyleCnt="5"/>
      <dgm:spPr/>
    </dgm:pt>
    <dgm:pt modelId="{C05D10A4-10FD-41AE-8717-7ABBEB1DBE57}" type="pres">
      <dgm:prSet presAssocID="{0F40C311-E710-4877-91F4-AED9FAA9454A}" presName="horz1" presStyleCnt="0"/>
      <dgm:spPr/>
    </dgm:pt>
    <dgm:pt modelId="{B2084169-DFBB-4730-A58B-5E83CF9341CD}" type="pres">
      <dgm:prSet presAssocID="{0F40C311-E710-4877-91F4-AED9FAA9454A}" presName="tx1" presStyleLbl="revTx" presStyleIdx="1" presStyleCnt="5"/>
      <dgm:spPr/>
      <dgm:t>
        <a:bodyPr/>
        <a:lstStyle/>
        <a:p>
          <a:endParaRPr lang="en-US"/>
        </a:p>
      </dgm:t>
    </dgm:pt>
    <dgm:pt modelId="{DCD3B3EF-400A-413B-A7A9-A1060FFF8E74}" type="pres">
      <dgm:prSet presAssocID="{0F40C311-E710-4877-91F4-AED9FAA9454A}" presName="vert1" presStyleCnt="0"/>
      <dgm:spPr/>
    </dgm:pt>
    <dgm:pt modelId="{167FB794-6FBC-4881-A1E2-DA375328F15F}" type="pres">
      <dgm:prSet presAssocID="{C9B61DC3-00EE-4D49-A283-E8942DD9FB17}" presName="thickLine" presStyleLbl="alignNode1" presStyleIdx="2" presStyleCnt="5"/>
      <dgm:spPr/>
    </dgm:pt>
    <dgm:pt modelId="{67827655-E37C-4D68-B4EB-E855D16BB94F}" type="pres">
      <dgm:prSet presAssocID="{C9B61DC3-00EE-4D49-A283-E8942DD9FB17}" presName="horz1" presStyleCnt="0"/>
      <dgm:spPr/>
    </dgm:pt>
    <dgm:pt modelId="{05DBCFE3-927F-4027-9EA8-76A5C6652895}" type="pres">
      <dgm:prSet presAssocID="{C9B61DC3-00EE-4D49-A283-E8942DD9FB17}" presName="tx1" presStyleLbl="revTx" presStyleIdx="2" presStyleCnt="5" custLinFactNeighborX="-256" custLinFactNeighborY="4803"/>
      <dgm:spPr/>
      <dgm:t>
        <a:bodyPr/>
        <a:lstStyle/>
        <a:p>
          <a:endParaRPr lang="en-US"/>
        </a:p>
      </dgm:t>
    </dgm:pt>
    <dgm:pt modelId="{3D072EDE-F7F1-4FA0-B3ED-1636620E032F}" type="pres">
      <dgm:prSet presAssocID="{C9B61DC3-00EE-4D49-A283-E8942DD9FB17}" presName="vert1" presStyleCnt="0"/>
      <dgm:spPr/>
    </dgm:pt>
    <dgm:pt modelId="{676DF132-B1BF-4128-ACD4-A4F64ED26CEE}" type="pres">
      <dgm:prSet presAssocID="{42E1F7B9-CEC2-41C5-8A1B-5E2E6BBCBAFA}" presName="thickLine" presStyleLbl="alignNode1" presStyleIdx="3" presStyleCnt="5"/>
      <dgm:spPr/>
    </dgm:pt>
    <dgm:pt modelId="{72379B4A-B66D-4570-9DEA-251E2EDAD252}" type="pres">
      <dgm:prSet presAssocID="{42E1F7B9-CEC2-41C5-8A1B-5E2E6BBCBAFA}" presName="horz1" presStyleCnt="0"/>
      <dgm:spPr/>
    </dgm:pt>
    <dgm:pt modelId="{58D85665-DF58-4898-8AFC-8E66B72DB3AB}" type="pres">
      <dgm:prSet presAssocID="{42E1F7B9-CEC2-41C5-8A1B-5E2E6BBCBAFA}" presName="tx1" presStyleLbl="revTx" presStyleIdx="3" presStyleCnt="5"/>
      <dgm:spPr/>
      <dgm:t>
        <a:bodyPr/>
        <a:lstStyle/>
        <a:p>
          <a:endParaRPr lang="en-US"/>
        </a:p>
      </dgm:t>
    </dgm:pt>
    <dgm:pt modelId="{F39229AC-8885-40F4-8F46-810F2D585B19}" type="pres">
      <dgm:prSet presAssocID="{42E1F7B9-CEC2-41C5-8A1B-5E2E6BBCBAFA}" presName="vert1" presStyleCnt="0"/>
      <dgm:spPr/>
    </dgm:pt>
    <dgm:pt modelId="{80D095A4-3AA2-43C3-8063-761B30B4981D}" type="pres">
      <dgm:prSet presAssocID="{BE77F572-E6C8-4C9C-8ABF-AA0A27ADD380}" presName="thickLine" presStyleLbl="alignNode1" presStyleIdx="4" presStyleCnt="5"/>
      <dgm:spPr/>
    </dgm:pt>
    <dgm:pt modelId="{67FEABAF-6FF4-4814-875D-C93501E818C9}" type="pres">
      <dgm:prSet presAssocID="{BE77F572-E6C8-4C9C-8ABF-AA0A27ADD380}" presName="horz1" presStyleCnt="0"/>
      <dgm:spPr/>
    </dgm:pt>
    <dgm:pt modelId="{4003DB3C-36AE-42AB-A007-484B0A765C3C}" type="pres">
      <dgm:prSet presAssocID="{BE77F572-E6C8-4C9C-8ABF-AA0A27ADD380}" presName="tx1" presStyleLbl="revTx" presStyleIdx="4" presStyleCnt="5"/>
      <dgm:spPr/>
      <dgm:t>
        <a:bodyPr/>
        <a:lstStyle/>
        <a:p>
          <a:endParaRPr lang="en-US"/>
        </a:p>
      </dgm:t>
    </dgm:pt>
    <dgm:pt modelId="{67BD100A-8D82-413B-A650-9F4CF1D43B8A}" type="pres">
      <dgm:prSet presAssocID="{BE77F572-E6C8-4C9C-8ABF-AA0A27ADD380}" presName="vert1" presStyleCnt="0"/>
      <dgm:spPr/>
    </dgm:pt>
  </dgm:ptLst>
  <dgm:cxnLst>
    <dgm:cxn modelId="{647DC1AD-7E11-42DF-BD19-B0A0F542DFE7}" type="presOf" srcId="{24C133F1-8441-4EEA-9BF4-BF1FF29702C1}" destId="{02E9945D-2947-4BB7-A978-F26A26EAB850}" srcOrd="0" destOrd="0" presId="urn:microsoft.com/office/officeart/2008/layout/LinedList"/>
    <dgm:cxn modelId="{38757685-6CCB-4D9E-B054-A509ADAD3E5F}" srcId="{24C133F1-8441-4EEA-9BF4-BF1FF29702C1}" destId="{0F40C311-E710-4877-91F4-AED9FAA9454A}" srcOrd="1" destOrd="0" parTransId="{C7EA5EF3-1B59-435A-A9DC-4A30FDBD6675}" sibTransId="{611C24D6-2D5B-4E9C-8B22-9EC46862BF7E}"/>
    <dgm:cxn modelId="{1F822871-F9FF-4DA7-B124-D8D8D7CC6748}" srcId="{24C133F1-8441-4EEA-9BF4-BF1FF29702C1}" destId="{BE77F572-E6C8-4C9C-8ABF-AA0A27ADD380}" srcOrd="4" destOrd="0" parTransId="{1ED681D5-9315-4F86-9286-EBF6B243D480}" sibTransId="{18A062A9-8A2A-4CFC-BA29-185853C34BEE}"/>
    <dgm:cxn modelId="{D12DA115-92C8-4D1D-8C81-A01063487E72}" type="presOf" srcId="{42E1F7B9-CEC2-41C5-8A1B-5E2E6BBCBAFA}" destId="{58D85665-DF58-4898-8AFC-8E66B72DB3AB}" srcOrd="0" destOrd="0" presId="urn:microsoft.com/office/officeart/2008/layout/LinedList"/>
    <dgm:cxn modelId="{54BCBFC3-5025-43F9-A0DD-538EE221D736}" type="presOf" srcId="{2727B54C-0E5F-4400-8B59-6188E17E5132}" destId="{A0A5044F-F17C-451A-93C3-B8D576F6E103}" srcOrd="0" destOrd="0" presId="urn:microsoft.com/office/officeart/2008/layout/LinedList"/>
    <dgm:cxn modelId="{6D2264EC-FEB0-403E-8A70-33E7FE6182D7}" srcId="{24C133F1-8441-4EEA-9BF4-BF1FF29702C1}" destId="{42E1F7B9-CEC2-41C5-8A1B-5E2E6BBCBAFA}" srcOrd="3" destOrd="0" parTransId="{AF8EC223-14DA-44DA-B677-A4E9D89D7FEF}" sibTransId="{D3DD360D-2785-4D6E-98FD-E0F760CCE1C4}"/>
    <dgm:cxn modelId="{B5705BE5-CFE8-415D-B696-AC58EEE47DBF}" type="presOf" srcId="{0F40C311-E710-4877-91F4-AED9FAA9454A}" destId="{B2084169-DFBB-4730-A58B-5E83CF9341CD}" srcOrd="0" destOrd="0" presId="urn:microsoft.com/office/officeart/2008/layout/LinedList"/>
    <dgm:cxn modelId="{89CD2224-D2B2-4EDF-8F20-1ED2DE50FDEF}" srcId="{24C133F1-8441-4EEA-9BF4-BF1FF29702C1}" destId="{2727B54C-0E5F-4400-8B59-6188E17E5132}" srcOrd="0" destOrd="0" parTransId="{4BE39736-4F72-480D-ABF0-45331E727859}" sibTransId="{4F85951B-5A6C-4362-93E2-07D6C0AF7B3D}"/>
    <dgm:cxn modelId="{C0F60DE5-5E8D-437E-9B4F-4C286FC0C7D2}" type="presOf" srcId="{BE77F572-E6C8-4C9C-8ABF-AA0A27ADD380}" destId="{4003DB3C-36AE-42AB-A007-484B0A765C3C}" srcOrd="0" destOrd="0" presId="urn:microsoft.com/office/officeart/2008/layout/LinedList"/>
    <dgm:cxn modelId="{D0E6F397-BB76-40A1-87EB-A7FEBBD3AFC2}" srcId="{24C133F1-8441-4EEA-9BF4-BF1FF29702C1}" destId="{C9B61DC3-00EE-4D49-A283-E8942DD9FB17}" srcOrd="2" destOrd="0" parTransId="{453EB734-F2F0-4533-97BB-61E0C858A45C}" sibTransId="{E82947EE-1264-42AA-A00F-10BA3A1D8090}"/>
    <dgm:cxn modelId="{530B607A-0E57-4F4F-B4CD-B8A8DC1DB2E9}" type="presOf" srcId="{C9B61DC3-00EE-4D49-A283-E8942DD9FB17}" destId="{05DBCFE3-927F-4027-9EA8-76A5C6652895}" srcOrd="0" destOrd="0" presId="urn:microsoft.com/office/officeart/2008/layout/LinedList"/>
    <dgm:cxn modelId="{6692E16E-BD56-4AD6-895E-82DD838E835C}" type="presParOf" srcId="{02E9945D-2947-4BB7-A978-F26A26EAB850}" destId="{72490898-BF11-4217-87F3-847B4C837B6C}" srcOrd="0" destOrd="0" presId="urn:microsoft.com/office/officeart/2008/layout/LinedList"/>
    <dgm:cxn modelId="{B322F9A6-1813-4BD0-83A3-E8417B41657B}" type="presParOf" srcId="{02E9945D-2947-4BB7-A978-F26A26EAB850}" destId="{B7DF7250-6C2B-4BFF-9918-6ABC4A0EABF9}" srcOrd="1" destOrd="0" presId="urn:microsoft.com/office/officeart/2008/layout/LinedList"/>
    <dgm:cxn modelId="{1D84EBE1-DA48-43A2-AB8A-D73979DF8D01}" type="presParOf" srcId="{B7DF7250-6C2B-4BFF-9918-6ABC4A0EABF9}" destId="{A0A5044F-F17C-451A-93C3-B8D576F6E103}" srcOrd="0" destOrd="0" presId="urn:microsoft.com/office/officeart/2008/layout/LinedList"/>
    <dgm:cxn modelId="{56F67796-D09C-47FB-AAFF-D3EFC0FC0E6B}" type="presParOf" srcId="{B7DF7250-6C2B-4BFF-9918-6ABC4A0EABF9}" destId="{B547251C-D56A-4560-ACCA-D81A3766CA5A}" srcOrd="1" destOrd="0" presId="urn:microsoft.com/office/officeart/2008/layout/LinedList"/>
    <dgm:cxn modelId="{A229D64B-0421-4E6C-8C42-83743E986EC0}" type="presParOf" srcId="{02E9945D-2947-4BB7-A978-F26A26EAB850}" destId="{E20AEC28-9582-4C79-AB36-7FB33204FA11}" srcOrd="2" destOrd="0" presId="urn:microsoft.com/office/officeart/2008/layout/LinedList"/>
    <dgm:cxn modelId="{DE3D2446-E9C1-4F4B-ADF3-B5B2F314BCA1}" type="presParOf" srcId="{02E9945D-2947-4BB7-A978-F26A26EAB850}" destId="{C05D10A4-10FD-41AE-8717-7ABBEB1DBE57}" srcOrd="3" destOrd="0" presId="urn:microsoft.com/office/officeart/2008/layout/LinedList"/>
    <dgm:cxn modelId="{F17103EC-5C2C-4F43-BAA8-962209299C78}" type="presParOf" srcId="{C05D10A4-10FD-41AE-8717-7ABBEB1DBE57}" destId="{B2084169-DFBB-4730-A58B-5E83CF9341CD}" srcOrd="0" destOrd="0" presId="urn:microsoft.com/office/officeart/2008/layout/LinedList"/>
    <dgm:cxn modelId="{B6E16D4C-481B-42C1-A295-40E2C20AE2A3}" type="presParOf" srcId="{C05D10A4-10FD-41AE-8717-7ABBEB1DBE57}" destId="{DCD3B3EF-400A-413B-A7A9-A1060FFF8E74}" srcOrd="1" destOrd="0" presId="urn:microsoft.com/office/officeart/2008/layout/LinedList"/>
    <dgm:cxn modelId="{6FD81509-011C-4F59-AC1A-698118FB2DBA}" type="presParOf" srcId="{02E9945D-2947-4BB7-A978-F26A26EAB850}" destId="{167FB794-6FBC-4881-A1E2-DA375328F15F}" srcOrd="4" destOrd="0" presId="urn:microsoft.com/office/officeart/2008/layout/LinedList"/>
    <dgm:cxn modelId="{DAD3986F-C7D4-49DC-ABA9-15A16CFF0C6D}" type="presParOf" srcId="{02E9945D-2947-4BB7-A978-F26A26EAB850}" destId="{67827655-E37C-4D68-B4EB-E855D16BB94F}" srcOrd="5" destOrd="0" presId="urn:microsoft.com/office/officeart/2008/layout/LinedList"/>
    <dgm:cxn modelId="{04D9A6DF-2058-4B54-81FB-5252B854123E}" type="presParOf" srcId="{67827655-E37C-4D68-B4EB-E855D16BB94F}" destId="{05DBCFE3-927F-4027-9EA8-76A5C6652895}" srcOrd="0" destOrd="0" presId="urn:microsoft.com/office/officeart/2008/layout/LinedList"/>
    <dgm:cxn modelId="{81AFCE1B-FFD8-4285-845E-160B84356C0A}" type="presParOf" srcId="{67827655-E37C-4D68-B4EB-E855D16BB94F}" destId="{3D072EDE-F7F1-4FA0-B3ED-1636620E032F}" srcOrd="1" destOrd="0" presId="urn:microsoft.com/office/officeart/2008/layout/LinedList"/>
    <dgm:cxn modelId="{7083293B-6E45-4D2A-B6A5-68068F5887AC}" type="presParOf" srcId="{02E9945D-2947-4BB7-A978-F26A26EAB850}" destId="{676DF132-B1BF-4128-ACD4-A4F64ED26CEE}" srcOrd="6" destOrd="0" presId="urn:microsoft.com/office/officeart/2008/layout/LinedList"/>
    <dgm:cxn modelId="{A6B9EA2C-3EE9-45B5-855F-E889520EACDF}" type="presParOf" srcId="{02E9945D-2947-4BB7-A978-F26A26EAB850}" destId="{72379B4A-B66D-4570-9DEA-251E2EDAD252}" srcOrd="7" destOrd="0" presId="urn:microsoft.com/office/officeart/2008/layout/LinedList"/>
    <dgm:cxn modelId="{08F111C9-33D8-4EA9-8BCF-525884F3F736}" type="presParOf" srcId="{72379B4A-B66D-4570-9DEA-251E2EDAD252}" destId="{58D85665-DF58-4898-8AFC-8E66B72DB3AB}" srcOrd="0" destOrd="0" presId="urn:microsoft.com/office/officeart/2008/layout/LinedList"/>
    <dgm:cxn modelId="{CFE1363D-DD23-4BFA-9F63-2BF1B7F11544}" type="presParOf" srcId="{72379B4A-B66D-4570-9DEA-251E2EDAD252}" destId="{F39229AC-8885-40F4-8F46-810F2D585B19}" srcOrd="1" destOrd="0" presId="urn:microsoft.com/office/officeart/2008/layout/LinedList"/>
    <dgm:cxn modelId="{0BCE6F18-2302-44B9-A4BC-0FD70A307C68}" type="presParOf" srcId="{02E9945D-2947-4BB7-A978-F26A26EAB850}" destId="{80D095A4-3AA2-43C3-8063-761B30B4981D}" srcOrd="8" destOrd="0" presId="urn:microsoft.com/office/officeart/2008/layout/LinedList"/>
    <dgm:cxn modelId="{2DE67CCF-F84D-4267-A8DE-87356696863A}" type="presParOf" srcId="{02E9945D-2947-4BB7-A978-F26A26EAB850}" destId="{67FEABAF-6FF4-4814-875D-C93501E818C9}" srcOrd="9" destOrd="0" presId="urn:microsoft.com/office/officeart/2008/layout/LinedList"/>
    <dgm:cxn modelId="{DCB18E83-335F-4C67-B504-45476D22574F}" type="presParOf" srcId="{67FEABAF-6FF4-4814-875D-C93501E818C9}" destId="{4003DB3C-36AE-42AB-A007-484B0A765C3C}" srcOrd="0" destOrd="0" presId="urn:microsoft.com/office/officeart/2008/layout/LinedList"/>
    <dgm:cxn modelId="{03F88DCB-7391-49E8-99B9-04A88DA75BC7}" type="presParOf" srcId="{67FEABAF-6FF4-4814-875D-C93501E818C9}" destId="{67BD100A-8D82-413B-A650-9F4CF1D43B8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5DC884-A97A-4ACA-BEC9-DBAA2D99E88B}" type="doc">
      <dgm:prSet loTypeId="urn:microsoft.com/office/officeart/2005/8/layout/hierarchy2" loCatId="hierarchy" qsTypeId="urn:microsoft.com/office/officeart/2005/8/quickstyle/simple1" qsCatId="simple" csTypeId="urn:microsoft.com/office/officeart/2005/8/colors/colorful5" csCatId="colorful" phldr="1"/>
      <dgm:spPr/>
      <dgm:t>
        <a:bodyPr/>
        <a:lstStyle/>
        <a:p>
          <a:endParaRPr lang="en-US"/>
        </a:p>
      </dgm:t>
    </dgm:pt>
    <dgm:pt modelId="{45CDE2C6-F934-4B85-A9F8-6550A9C2BBBF}">
      <dgm:prSet custT="1"/>
      <dgm:spPr>
        <a:solidFill>
          <a:schemeClr val="accent2">
            <a:lumMod val="60000"/>
            <a:lumOff val="40000"/>
          </a:schemeClr>
        </a:solidFill>
      </dgm:spPr>
      <dgm:t>
        <a:bodyPr/>
        <a:lstStyle/>
        <a:p>
          <a:r>
            <a:rPr lang="en-US" sz="2400" b="1" dirty="0">
              <a:solidFill>
                <a:schemeClr val="tx1"/>
              </a:solidFill>
            </a:rPr>
            <a:t>2. Maintaining Relationships:</a:t>
          </a:r>
          <a:endParaRPr lang="en-US" sz="1800" dirty="0">
            <a:solidFill>
              <a:schemeClr val="tx1"/>
            </a:solidFill>
          </a:endParaRPr>
        </a:p>
      </dgm:t>
    </dgm:pt>
    <dgm:pt modelId="{4A1D05A1-1414-4EF6-9F27-10F638120787}" type="parTrans" cxnId="{151B42B0-035B-47C5-843C-9A77BD402239}">
      <dgm:prSet/>
      <dgm:spPr/>
      <dgm:t>
        <a:bodyPr/>
        <a:lstStyle/>
        <a:p>
          <a:endParaRPr lang="en-US"/>
        </a:p>
      </dgm:t>
    </dgm:pt>
    <dgm:pt modelId="{5662321F-3530-4479-8DDF-B788EF81F64C}" type="sibTrans" cxnId="{151B42B0-035B-47C5-843C-9A77BD402239}">
      <dgm:prSet/>
      <dgm:spPr/>
      <dgm:t>
        <a:bodyPr/>
        <a:lstStyle/>
        <a:p>
          <a:endParaRPr lang="en-US"/>
        </a:p>
      </dgm:t>
    </dgm:pt>
    <dgm:pt modelId="{9B79D4C2-88E1-4513-9670-9BDADB174BD6}">
      <dgm:prSet/>
      <dgm:spPr>
        <a:solidFill>
          <a:schemeClr val="accent2">
            <a:lumMod val="60000"/>
            <a:lumOff val="40000"/>
          </a:schemeClr>
        </a:solidFill>
      </dgm:spPr>
      <dgm:t>
        <a:bodyPr/>
        <a:lstStyle/>
        <a:p>
          <a:r>
            <a:rPr lang="en-US" dirty="0">
              <a:solidFill>
                <a:schemeClr val="tx1"/>
              </a:solidFill>
            </a:rPr>
            <a:t>Relationships strategies are used to keep a relationship going smoothly and satisfactorily (Dindia, 2009).</a:t>
          </a:r>
        </a:p>
      </dgm:t>
    </dgm:pt>
    <dgm:pt modelId="{8E4CB5CB-F421-49F1-BEC9-81A091F5C915}" type="parTrans" cxnId="{03DC96B7-35A3-4526-920C-DB4E5DE2F02E}">
      <dgm:prSet/>
      <dgm:spPr/>
      <dgm:t>
        <a:bodyPr/>
        <a:lstStyle/>
        <a:p>
          <a:endParaRPr lang="en-US"/>
        </a:p>
      </dgm:t>
    </dgm:pt>
    <dgm:pt modelId="{FBF8F65E-EB6B-4BE8-AF2C-C317474AA997}" type="sibTrans" cxnId="{03DC96B7-35A3-4526-920C-DB4E5DE2F02E}">
      <dgm:prSet/>
      <dgm:spPr/>
      <dgm:t>
        <a:bodyPr/>
        <a:lstStyle/>
        <a:p>
          <a:endParaRPr lang="en-US"/>
        </a:p>
      </dgm:t>
    </dgm:pt>
    <dgm:pt modelId="{82699FD9-2C19-4032-AB61-2A0B2D678C40}">
      <dgm:prSet/>
      <dgm:spPr/>
      <dgm:t>
        <a:bodyPr/>
        <a:lstStyle/>
        <a:p>
          <a:r>
            <a:rPr lang="en-US" dirty="0"/>
            <a:t>Socially supportive behaviors: </a:t>
          </a:r>
          <a:r>
            <a:rPr lang="en-US" i="1" dirty="0"/>
            <a:t>celebrations, gift exchanges, being polite, praising, help offerings, small sacrifices, things sharing, showing affection, … </a:t>
          </a:r>
        </a:p>
      </dgm:t>
    </dgm:pt>
    <dgm:pt modelId="{000D278A-1327-457E-8251-E5B52477BF39}" type="parTrans" cxnId="{9C370258-CC8F-4C10-92C6-FAF936E3CD59}">
      <dgm:prSet/>
      <dgm:spPr/>
      <dgm:t>
        <a:bodyPr/>
        <a:lstStyle/>
        <a:p>
          <a:endParaRPr lang="en-US"/>
        </a:p>
      </dgm:t>
    </dgm:pt>
    <dgm:pt modelId="{D9C5952B-2E2A-4B97-8F86-FF0A331B7019}" type="sibTrans" cxnId="{9C370258-CC8F-4C10-92C6-FAF936E3CD59}">
      <dgm:prSet/>
      <dgm:spPr/>
      <dgm:t>
        <a:bodyPr/>
        <a:lstStyle/>
        <a:p>
          <a:endParaRPr lang="en-US"/>
        </a:p>
      </dgm:t>
    </dgm:pt>
    <dgm:pt modelId="{227621F6-D58F-43D3-B9AF-EB2313139463}">
      <dgm:prSet/>
      <dgm:spPr/>
      <dgm:t>
        <a:bodyPr/>
        <a:lstStyle/>
        <a:p>
          <a:r>
            <a:rPr lang="en-US"/>
            <a:t>More and frequent time is spent.</a:t>
          </a:r>
        </a:p>
      </dgm:t>
    </dgm:pt>
    <dgm:pt modelId="{8B62BBD2-1125-4471-87D9-E62AAC941C91}" type="parTrans" cxnId="{F2D79F1C-2EA4-4605-99A8-2D750181BB25}">
      <dgm:prSet/>
      <dgm:spPr/>
      <dgm:t>
        <a:bodyPr/>
        <a:lstStyle/>
        <a:p>
          <a:endParaRPr lang="en-US"/>
        </a:p>
      </dgm:t>
    </dgm:pt>
    <dgm:pt modelId="{4A3679B6-49D7-4E25-B34C-63C1D4B52052}" type="sibTrans" cxnId="{F2D79F1C-2EA4-4605-99A8-2D750181BB25}">
      <dgm:prSet/>
      <dgm:spPr/>
      <dgm:t>
        <a:bodyPr/>
        <a:lstStyle/>
        <a:p>
          <a:endParaRPr lang="en-US"/>
        </a:p>
      </dgm:t>
    </dgm:pt>
    <dgm:pt modelId="{A225110D-E88D-426C-84F1-141F14ED7DBA}">
      <dgm:prSet/>
      <dgm:spPr/>
      <dgm:t>
        <a:bodyPr/>
        <a:lstStyle/>
        <a:p>
          <a:r>
            <a:rPr lang="en-US"/>
            <a:t>Minor mistakes are overlooked to save from hurt.</a:t>
          </a:r>
        </a:p>
      </dgm:t>
    </dgm:pt>
    <dgm:pt modelId="{E7F42FD4-DD19-40A1-BC81-B563AC77E84B}" type="parTrans" cxnId="{02577BA5-B88A-46EB-85D0-1B86CF30A5DC}">
      <dgm:prSet/>
      <dgm:spPr/>
      <dgm:t>
        <a:bodyPr/>
        <a:lstStyle/>
        <a:p>
          <a:endParaRPr lang="en-US"/>
        </a:p>
      </dgm:t>
    </dgm:pt>
    <dgm:pt modelId="{CC6D7516-EB6D-484D-8E02-04D7ABA63B16}" type="sibTrans" cxnId="{02577BA5-B88A-46EB-85D0-1B86CF30A5DC}">
      <dgm:prSet/>
      <dgm:spPr/>
      <dgm:t>
        <a:bodyPr/>
        <a:lstStyle/>
        <a:p>
          <a:endParaRPr lang="en-US"/>
        </a:p>
      </dgm:t>
    </dgm:pt>
    <dgm:pt modelId="{7F9FE2E7-1BDF-4244-A276-73E47C075F38}" type="pres">
      <dgm:prSet presAssocID="{525DC884-A97A-4ACA-BEC9-DBAA2D99E88B}" presName="diagram" presStyleCnt="0">
        <dgm:presLayoutVars>
          <dgm:chPref val="1"/>
          <dgm:dir/>
          <dgm:animOne val="branch"/>
          <dgm:animLvl val="lvl"/>
          <dgm:resizeHandles val="exact"/>
        </dgm:presLayoutVars>
      </dgm:prSet>
      <dgm:spPr/>
      <dgm:t>
        <a:bodyPr/>
        <a:lstStyle/>
        <a:p>
          <a:endParaRPr lang="en-US"/>
        </a:p>
      </dgm:t>
    </dgm:pt>
    <dgm:pt modelId="{9F79ED8B-C61A-44FD-B833-65BC85A50021}" type="pres">
      <dgm:prSet presAssocID="{45CDE2C6-F934-4B85-A9F8-6550A9C2BBBF}" presName="root1" presStyleCnt="0"/>
      <dgm:spPr/>
    </dgm:pt>
    <dgm:pt modelId="{CDF3D95A-714F-4FCA-A055-5D308854F663}" type="pres">
      <dgm:prSet presAssocID="{45CDE2C6-F934-4B85-A9F8-6550A9C2BBBF}" presName="LevelOneTextNode" presStyleLbl="node0" presStyleIdx="0" presStyleCnt="2">
        <dgm:presLayoutVars>
          <dgm:chPref val="3"/>
        </dgm:presLayoutVars>
      </dgm:prSet>
      <dgm:spPr/>
      <dgm:t>
        <a:bodyPr/>
        <a:lstStyle/>
        <a:p>
          <a:endParaRPr lang="en-US"/>
        </a:p>
      </dgm:t>
    </dgm:pt>
    <dgm:pt modelId="{EAD5293D-0675-432C-80FE-A5A5D6BD5922}" type="pres">
      <dgm:prSet presAssocID="{45CDE2C6-F934-4B85-A9F8-6550A9C2BBBF}" presName="level2hierChild" presStyleCnt="0"/>
      <dgm:spPr/>
    </dgm:pt>
    <dgm:pt modelId="{B9C74653-1EA6-4462-ADF9-C8F0BAA706B1}" type="pres">
      <dgm:prSet presAssocID="{9B79D4C2-88E1-4513-9670-9BDADB174BD6}" presName="root1" presStyleCnt="0"/>
      <dgm:spPr/>
    </dgm:pt>
    <dgm:pt modelId="{D9BB4CB9-F4E0-42F2-BBCD-6CEA03E3E707}" type="pres">
      <dgm:prSet presAssocID="{9B79D4C2-88E1-4513-9670-9BDADB174BD6}" presName="LevelOneTextNode" presStyleLbl="node0" presStyleIdx="1" presStyleCnt="2" custLinFactNeighborX="-292" custLinFactNeighborY="-2337">
        <dgm:presLayoutVars>
          <dgm:chPref val="3"/>
        </dgm:presLayoutVars>
      </dgm:prSet>
      <dgm:spPr/>
      <dgm:t>
        <a:bodyPr/>
        <a:lstStyle/>
        <a:p>
          <a:endParaRPr lang="en-US"/>
        </a:p>
      </dgm:t>
    </dgm:pt>
    <dgm:pt modelId="{F287CA4F-EF67-4B35-8816-CB0E5CF75A79}" type="pres">
      <dgm:prSet presAssocID="{9B79D4C2-88E1-4513-9670-9BDADB174BD6}" presName="level2hierChild" presStyleCnt="0"/>
      <dgm:spPr/>
    </dgm:pt>
    <dgm:pt modelId="{1C310879-94E1-4F43-A783-193572ED89CC}" type="pres">
      <dgm:prSet presAssocID="{000D278A-1327-457E-8251-E5B52477BF39}" presName="conn2-1" presStyleLbl="parChTrans1D2" presStyleIdx="0" presStyleCnt="3"/>
      <dgm:spPr/>
      <dgm:t>
        <a:bodyPr/>
        <a:lstStyle/>
        <a:p>
          <a:endParaRPr lang="en-US"/>
        </a:p>
      </dgm:t>
    </dgm:pt>
    <dgm:pt modelId="{1C083E99-8A99-47F2-930F-4385B426B3FC}" type="pres">
      <dgm:prSet presAssocID="{000D278A-1327-457E-8251-E5B52477BF39}" presName="connTx" presStyleLbl="parChTrans1D2" presStyleIdx="0" presStyleCnt="3"/>
      <dgm:spPr/>
      <dgm:t>
        <a:bodyPr/>
        <a:lstStyle/>
        <a:p>
          <a:endParaRPr lang="en-US"/>
        </a:p>
      </dgm:t>
    </dgm:pt>
    <dgm:pt modelId="{9901A12F-D47A-4274-82FB-CC4E56D8995C}" type="pres">
      <dgm:prSet presAssocID="{82699FD9-2C19-4032-AB61-2A0B2D678C40}" presName="root2" presStyleCnt="0"/>
      <dgm:spPr/>
    </dgm:pt>
    <dgm:pt modelId="{71F82828-9C8A-4916-8054-58542501FB16}" type="pres">
      <dgm:prSet presAssocID="{82699FD9-2C19-4032-AB61-2A0B2D678C40}" presName="LevelTwoTextNode" presStyleLbl="node2" presStyleIdx="0" presStyleCnt="3">
        <dgm:presLayoutVars>
          <dgm:chPref val="3"/>
        </dgm:presLayoutVars>
      </dgm:prSet>
      <dgm:spPr/>
      <dgm:t>
        <a:bodyPr/>
        <a:lstStyle/>
        <a:p>
          <a:endParaRPr lang="en-US"/>
        </a:p>
      </dgm:t>
    </dgm:pt>
    <dgm:pt modelId="{7475C602-BA45-4191-8514-4EFEFB0E5661}" type="pres">
      <dgm:prSet presAssocID="{82699FD9-2C19-4032-AB61-2A0B2D678C40}" presName="level3hierChild" presStyleCnt="0"/>
      <dgm:spPr/>
    </dgm:pt>
    <dgm:pt modelId="{D53DB131-6CF5-40A3-B31B-56CEB358F2BC}" type="pres">
      <dgm:prSet presAssocID="{8B62BBD2-1125-4471-87D9-E62AAC941C91}" presName="conn2-1" presStyleLbl="parChTrans1D2" presStyleIdx="1" presStyleCnt="3"/>
      <dgm:spPr/>
      <dgm:t>
        <a:bodyPr/>
        <a:lstStyle/>
        <a:p>
          <a:endParaRPr lang="en-US"/>
        </a:p>
      </dgm:t>
    </dgm:pt>
    <dgm:pt modelId="{DF637B05-213E-4DE8-A1CC-5D4C1CD0D620}" type="pres">
      <dgm:prSet presAssocID="{8B62BBD2-1125-4471-87D9-E62AAC941C91}" presName="connTx" presStyleLbl="parChTrans1D2" presStyleIdx="1" presStyleCnt="3"/>
      <dgm:spPr/>
      <dgm:t>
        <a:bodyPr/>
        <a:lstStyle/>
        <a:p>
          <a:endParaRPr lang="en-US"/>
        </a:p>
      </dgm:t>
    </dgm:pt>
    <dgm:pt modelId="{F883529B-50FD-42C2-9DD0-E0B9B68BE2DF}" type="pres">
      <dgm:prSet presAssocID="{227621F6-D58F-43D3-B9AF-EB2313139463}" presName="root2" presStyleCnt="0"/>
      <dgm:spPr/>
    </dgm:pt>
    <dgm:pt modelId="{342B03E9-E739-4BB3-99CE-2102973EEC06}" type="pres">
      <dgm:prSet presAssocID="{227621F6-D58F-43D3-B9AF-EB2313139463}" presName="LevelTwoTextNode" presStyleLbl="node2" presStyleIdx="1" presStyleCnt="3">
        <dgm:presLayoutVars>
          <dgm:chPref val="3"/>
        </dgm:presLayoutVars>
      </dgm:prSet>
      <dgm:spPr/>
      <dgm:t>
        <a:bodyPr/>
        <a:lstStyle/>
        <a:p>
          <a:endParaRPr lang="en-US"/>
        </a:p>
      </dgm:t>
    </dgm:pt>
    <dgm:pt modelId="{2CFD90CE-BD1D-4796-94D5-964724442EB2}" type="pres">
      <dgm:prSet presAssocID="{227621F6-D58F-43D3-B9AF-EB2313139463}" presName="level3hierChild" presStyleCnt="0"/>
      <dgm:spPr/>
    </dgm:pt>
    <dgm:pt modelId="{5860E9AF-8A71-471B-8F94-B37F2C668203}" type="pres">
      <dgm:prSet presAssocID="{E7F42FD4-DD19-40A1-BC81-B563AC77E84B}" presName="conn2-1" presStyleLbl="parChTrans1D2" presStyleIdx="2" presStyleCnt="3"/>
      <dgm:spPr/>
      <dgm:t>
        <a:bodyPr/>
        <a:lstStyle/>
        <a:p>
          <a:endParaRPr lang="en-US"/>
        </a:p>
      </dgm:t>
    </dgm:pt>
    <dgm:pt modelId="{F9B470C4-F937-4553-A318-163D11E2494C}" type="pres">
      <dgm:prSet presAssocID="{E7F42FD4-DD19-40A1-BC81-B563AC77E84B}" presName="connTx" presStyleLbl="parChTrans1D2" presStyleIdx="2" presStyleCnt="3"/>
      <dgm:spPr/>
      <dgm:t>
        <a:bodyPr/>
        <a:lstStyle/>
        <a:p>
          <a:endParaRPr lang="en-US"/>
        </a:p>
      </dgm:t>
    </dgm:pt>
    <dgm:pt modelId="{F498A367-896F-4E8C-9DF0-7095020918B6}" type="pres">
      <dgm:prSet presAssocID="{A225110D-E88D-426C-84F1-141F14ED7DBA}" presName="root2" presStyleCnt="0"/>
      <dgm:spPr/>
    </dgm:pt>
    <dgm:pt modelId="{8C986C3A-9D61-4D25-89B5-1E06646EE225}" type="pres">
      <dgm:prSet presAssocID="{A225110D-E88D-426C-84F1-141F14ED7DBA}" presName="LevelTwoTextNode" presStyleLbl="node2" presStyleIdx="2" presStyleCnt="3">
        <dgm:presLayoutVars>
          <dgm:chPref val="3"/>
        </dgm:presLayoutVars>
      </dgm:prSet>
      <dgm:spPr/>
      <dgm:t>
        <a:bodyPr/>
        <a:lstStyle/>
        <a:p>
          <a:endParaRPr lang="en-US"/>
        </a:p>
      </dgm:t>
    </dgm:pt>
    <dgm:pt modelId="{C7D12405-7F99-43D5-9770-7BCD3A3276BD}" type="pres">
      <dgm:prSet presAssocID="{A225110D-E88D-426C-84F1-141F14ED7DBA}" presName="level3hierChild" presStyleCnt="0"/>
      <dgm:spPr/>
    </dgm:pt>
  </dgm:ptLst>
  <dgm:cxnLst>
    <dgm:cxn modelId="{103B8FA9-749B-415C-9C5F-7A3218997A5A}" type="presOf" srcId="{E7F42FD4-DD19-40A1-BC81-B563AC77E84B}" destId="{F9B470C4-F937-4553-A318-163D11E2494C}" srcOrd="1" destOrd="0" presId="urn:microsoft.com/office/officeart/2005/8/layout/hierarchy2"/>
    <dgm:cxn modelId="{D9B93BA5-A2BB-4092-B2C6-FC7540EAC8F2}" type="presOf" srcId="{45CDE2C6-F934-4B85-A9F8-6550A9C2BBBF}" destId="{CDF3D95A-714F-4FCA-A055-5D308854F663}" srcOrd="0" destOrd="0" presId="urn:microsoft.com/office/officeart/2005/8/layout/hierarchy2"/>
    <dgm:cxn modelId="{86498263-8227-4498-B917-5680C713F2E8}" type="presOf" srcId="{82699FD9-2C19-4032-AB61-2A0B2D678C40}" destId="{71F82828-9C8A-4916-8054-58542501FB16}" srcOrd="0" destOrd="0" presId="urn:microsoft.com/office/officeart/2005/8/layout/hierarchy2"/>
    <dgm:cxn modelId="{5230D429-A98C-495A-8160-AAAB5A356F84}" type="presOf" srcId="{8B62BBD2-1125-4471-87D9-E62AAC941C91}" destId="{D53DB131-6CF5-40A3-B31B-56CEB358F2BC}" srcOrd="0" destOrd="0" presId="urn:microsoft.com/office/officeart/2005/8/layout/hierarchy2"/>
    <dgm:cxn modelId="{D94B2FBA-E87A-4F32-8919-9A57A8DE416B}" type="presOf" srcId="{525DC884-A97A-4ACA-BEC9-DBAA2D99E88B}" destId="{7F9FE2E7-1BDF-4244-A276-73E47C075F38}" srcOrd="0" destOrd="0" presId="urn:microsoft.com/office/officeart/2005/8/layout/hierarchy2"/>
    <dgm:cxn modelId="{DE6A3C3C-A046-4014-8539-D9CE3DCA31D8}" type="presOf" srcId="{8B62BBD2-1125-4471-87D9-E62AAC941C91}" destId="{DF637B05-213E-4DE8-A1CC-5D4C1CD0D620}" srcOrd="1" destOrd="0" presId="urn:microsoft.com/office/officeart/2005/8/layout/hierarchy2"/>
    <dgm:cxn modelId="{F2D79F1C-2EA4-4605-99A8-2D750181BB25}" srcId="{9B79D4C2-88E1-4513-9670-9BDADB174BD6}" destId="{227621F6-D58F-43D3-B9AF-EB2313139463}" srcOrd="1" destOrd="0" parTransId="{8B62BBD2-1125-4471-87D9-E62AAC941C91}" sibTransId="{4A3679B6-49D7-4E25-B34C-63C1D4B52052}"/>
    <dgm:cxn modelId="{151B42B0-035B-47C5-843C-9A77BD402239}" srcId="{525DC884-A97A-4ACA-BEC9-DBAA2D99E88B}" destId="{45CDE2C6-F934-4B85-A9F8-6550A9C2BBBF}" srcOrd="0" destOrd="0" parTransId="{4A1D05A1-1414-4EF6-9F27-10F638120787}" sibTransId="{5662321F-3530-4479-8DDF-B788EF81F64C}"/>
    <dgm:cxn modelId="{B9C5A646-2E92-498D-B87A-BF1D69F6C01F}" type="presOf" srcId="{000D278A-1327-457E-8251-E5B52477BF39}" destId="{1C083E99-8A99-47F2-930F-4385B426B3FC}" srcOrd="1" destOrd="0" presId="urn:microsoft.com/office/officeart/2005/8/layout/hierarchy2"/>
    <dgm:cxn modelId="{37061D62-216C-4068-BE1F-B9D59CF09C43}" type="presOf" srcId="{9B79D4C2-88E1-4513-9670-9BDADB174BD6}" destId="{D9BB4CB9-F4E0-42F2-BBCD-6CEA03E3E707}" srcOrd="0" destOrd="0" presId="urn:microsoft.com/office/officeart/2005/8/layout/hierarchy2"/>
    <dgm:cxn modelId="{9C370258-CC8F-4C10-92C6-FAF936E3CD59}" srcId="{9B79D4C2-88E1-4513-9670-9BDADB174BD6}" destId="{82699FD9-2C19-4032-AB61-2A0B2D678C40}" srcOrd="0" destOrd="0" parTransId="{000D278A-1327-457E-8251-E5B52477BF39}" sibTransId="{D9C5952B-2E2A-4B97-8F86-FF0A331B7019}"/>
    <dgm:cxn modelId="{02577BA5-B88A-46EB-85D0-1B86CF30A5DC}" srcId="{9B79D4C2-88E1-4513-9670-9BDADB174BD6}" destId="{A225110D-E88D-426C-84F1-141F14ED7DBA}" srcOrd="2" destOrd="0" parTransId="{E7F42FD4-DD19-40A1-BC81-B563AC77E84B}" sibTransId="{CC6D7516-EB6D-484D-8E02-04D7ABA63B16}"/>
    <dgm:cxn modelId="{2F6CE24F-5CCC-4620-B2BC-C82BE6DF0587}" type="presOf" srcId="{A225110D-E88D-426C-84F1-141F14ED7DBA}" destId="{8C986C3A-9D61-4D25-89B5-1E06646EE225}" srcOrd="0" destOrd="0" presId="urn:microsoft.com/office/officeart/2005/8/layout/hierarchy2"/>
    <dgm:cxn modelId="{8FF42D86-6BBB-49F6-A364-4CBE2CF40595}" type="presOf" srcId="{227621F6-D58F-43D3-B9AF-EB2313139463}" destId="{342B03E9-E739-4BB3-99CE-2102973EEC06}" srcOrd="0" destOrd="0" presId="urn:microsoft.com/office/officeart/2005/8/layout/hierarchy2"/>
    <dgm:cxn modelId="{393CA5AB-6D1B-4644-8AFB-B6B6A4BA55CA}" type="presOf" srcId="{000D278A-1327-457E-8251-E5B52477BF39}" destId="{1C310879-94E1-4F43-A783-193572ED89CC}" srcOrd="0" destOrd="0" presId="urn:microsoft.com/office/officeart/2005/8/layout/hierarchy2"/>
    <dgm:cxn modelId="{03DC96B7-35A3-4526-920C-DB4E5DE2F02E}" srcId="{525DC884-A97A-4ACA-BEC9-DBAA2D99E88B}" destId="{9B79D4C2-88E1-4513-9670-9BDADB174BD6}" srcOrd="1" destOrd="0" parTransId="{8E4CB5CB-F421-49F1-BEC9-81A091F5C915}" sibTransId="{FBF8F65E-EB6B-4BE8-AF2C-C317474AA997}"/>
    <dgm:cxn modelId="{D9DBF6FE-0871-49C5-96C4-50AFFE0A5CC6}" type="presOf" srcId="{E7F42FD4-DD19-40A1-BC81-B563AC77E84B}" destId="{5860E9AF-8A71-471B-8F94-B37F2C668203}" srcOrd="0" destOrd="0" presId="urn:microsoft.com/office/officeart/2005/8/layout/hierarchy2"/>
    <dgm:cxn modelId="{431ECCD8-2D53-4DCE-9A7D-7A002AF2A617}" type="presParOf" srcId="{7F9FE2E7-1BDF-4244-A276-73E47C075F38}" destId="{9F79ED8B-C61A-44FD-B833-65BC85A50021}" srcOrd="0" destOrd="0" presId="urn:microsoft.com/office/officeart/2005/8/layout/hierarchy2"/>
    <dgm:cxn modelId="{66BCA5E5-E429-420F-BEE7-16E07A11949D}" type="presParOf" srcId="{9F79ED8B-C61A-44FD-B833-65BC85A50021}" destId="{CDF3D95A-714F-4FCA-A055-5D308854F663}" srcOrd="0" destOrd="0" presId="urn:microsoft.com/office/officeart/2005/8/layout/hierarchy2"/>
    <dgm:cxn modelId="{46F8A1E3-9181-4A89-8941-74A653E29AA1}" type="presParOf" srcId="{9F79ED8B-C61A-44FD-B833-65BC85A50021}" destId="{EAD5293D-0675-432C-80FE-A5A5D6BD5922}" srcOrd="1" destOrd="0" presId="urn:microsoft.com/office/officeart/2005/8/layout/hierarchy2"/>
    <dgm:cxn modelId="{072A831B-3E7D-4596-93E5-9E55674AC150}" type="presParOf" srcId="{7F9FE2E7-1BDF-4244-A276-73E47C075F38}" destId="{B9C74653-1EA6-4462-ADF9-C8F0BAA706B1}" srcOrd="1" destOrd="0" presId="urn:microsoft.com/office/officeart/2005/8/layout/hierarchy2"/>
    <dgm:cxn modelId="{A610138D-3531-4B34-AEDA-FF7A14520FC5}" type="presParOf" srcId="{B9C74653-1EA6-4462-ADF9-C8F0BAA706B1}" destId="{D9BB4CB9-F4E0-42F2-BBCD-6CEA03E3E707}" srcOrd="0" destOrd="0" presId="urn:microsoft.com/office/officeart/2005/8/layout/hierarchy2"/>
    <dgm:cxn modelId="{45868527-1CE4-4C3E-B3A0-5D1FF9B7BA08}" type="presParOf" srcId="{B9C74653-1EA6-4462-ADF9-C8F0BAA706B1}" destId="{F287CA4F-EF67-4B35-8816-CB0E5CF75A79}" srcOrd="1" destOrd="0" presId="urn:microsoft.com/office/officeart/2005/8/layout/hierarchy2"/>
    <dgm:cxn modelId="{A9ECFE63-0732-4A64-B884-BF9D3F9F2BBF}" type="presParOf" srcId="{F287CA4F-EF67-4B35-8816-CB0E5CF75A79}" destId="{1C310879-94E1-4F43-A783-193572ED89CC}" srcOrd="0" destOrd="0" presId="urn:microsoft.com/office/officeart/2005/8/layout/hierarchy2"/>
    <dgm:cxn modelId="{FB3603FF-956A-40FE-B0A5-845C4FC92034}" type="presParOf" srcId="{1C310879-94E1-4F43-A783-193572ED89CC}" destId="{1C083E99-8A99-47F2-930F-4385B426B3FC}" srcOrd="0" destOrd="0" presId="urn:microsoft.com/office/officeart/2005/8/layout/hierarchy2"/>
    <dgm:cxn modelId="{B8EF72EB-285A-4A85-85D7-0F754D69E192}" type="presParOf" srcId="{F287CA4F-EF67-4B35-8816-CB0E5CF75A79}" destId="{9901A12F-D47A-4274-82FB-CC4E56D8995C}" srcOrd="1" destOrd="0" presId="urn:microsoft.com/office/officeart/2005/8/layout/hierarchy2"/>
    <dgm:cxn modelId="{62B6BAB8-9564-42B0-B500-3B149AC43157}" type="presParOf" srcId="{9901A12F-D47A-4274-82FB-CC4E56D8995C}" destId="{71F82828-9C8A-4916-8054-58542501FB16}" srcOrd="0" destOrd="0" presId="urn:microsoft.com/office/officeart/2005/8/layout/hierarchy2"/>
    <dgm:cxn modelId="{239707B0-2618-4CB9-ABA2-B7277A335591}" type="presParOf" srcId="{9901A12F-D47A-4274-82FB-CC4E56D8995C}" destId="{7475C602-BA45-4191-8514-4EFEFB0E5661}" srcOrd="1" destOrd="0" presId="urn:microsoft.com/office/officeart/2005/8/layout/hierarchy2"/>
    <dgm:cxn modelId="{E9BC0B90-92D4-4AC1-AB38-2B12BAA2B546}" type="presParOf" srcId="{F287CA4F-EF67-4B35-8816-CB0E5CF75A79}" destId="{D53DB131-6CF5-40A3-B31B-56CEB358F2BC}" srcOrd="2" destOrd="0" presId="urn:microsoft.com/office/officeart/2005/8/layout/hierarchy2"/>
    <dgm:cxn modelId="{A4CE8CF5-3CD3-4E94-9EDF-8FACE9E8F5CC}" type="presParOf" srcId="{D53DB131-6CF5-40A3-B31B-56CEB358F2BC}" destId="{DF637B05-213E-4DE8-A1CC-5D4C1CD0D620}" srcOrd="0" destOrd="0" presId="urn:microsoft.com/office/officeart/2005/8/layout/hierarchy2"/>
    <dgm:cxn modelId="{4807681F-02BC-409A-8E25-DD3B5605576A}" type="presParOf" srcId="{F287CA4F-EF67-4B35-8816-CB0E5CF75A79}" destId="{F883529B-50FD-42C2-9DD0-E0B9B68BE2DF}" srcOrd="3" destOrd="0" presId="urn:microsoft.com/office/officeart/2005/8/layout/hierarchy2"/>
    <dgm:cxn modelId="{A4CDB8CB-1209-4DB8-A8E9-C63BB22520AD}" type="presParOf" srcId="{F883529B-50FD-42C2-9DD0-E0B9B68BE2DF}" destId="{342B03E9-E739-4BB3-99CE-2102973EEC06}" srcOrd="0" destOrd="0" presId="urn:microsoft.com/office/officeart/2005/8/layout/hierarchy2"/>
    <dgm:cxn modelId="{2E393DD4-1CBF-4DF9-B620-BE088D765F9F}" type="presParOf" srcId="{F883529B-50FD-42C2-9DD0-E0B9B68BE2DF}" destId="{2CFD90CE-BD1D-4796-94D5-964724442EB2}" srcOrd="1" destOrd="0" presId="urn:microsoft.com/office/officeart/2005/8/layout/hierarchy2"/>
    <dgm:cxn modelId="{3A47295A-C731-4D93-BD56-BB8F170584D6}" type="presParOf" srcId="{F287CA4F-EF67-4B35-8816-CB0E5CF75A79}" destId="{5860E9AF-8A71-471B-8F94-B37F2C668203}" srcOrd="4" destOrd="0" presId="urn:microsoft.com/office/officeart/2005/8/layout/hierarchy2"/>
    <dgm:cxn modelId="{9F81CF9F-EDEC-49CA-9A36-BF5D4FA6053D}" type="presParOf" srcId="{5860E9AF-8A71-471B-8F94-B37F2C668203}" destId="{F9B470C4-F937-4553-A318-163D11E2494C}" srcOrd="0" destOrd="0" presId="urn:microsoft.com/office/officeart/2005/8/layout/hierarchy2"/>
    <dgm:cxn modelId="{561DF15F-2E6C-4CA4-8559-A6BB9AEB7FE6}" type="presParOf" srcId="{F287CA4F-EF67-4B35-8816-CB0E5CF75A79}" destId="{F498A367-896F-4E8C-9DF0-7095020918B6}" srcOrd="5" destOrd="0" presId="urn:microsoft.com/office/officeart/2005/8/layout/hierarchy2"/>
    <dgm:cxn modelId="{8A51AFD2-69AB-4C7D-BF6B-6B490857A1A8}" type="presParOf" srcId="{F498A367-896F-4E8C-9DF0-7095020918B6}" destId="{8C986C3A-9D61-4D25-89B5-1E06646EE225}" srcOrd="0" destOrd="0" presId="urn:microsoft.com/office/officeart/2005/8/layout/hierarchy2"/>
    <dgm:cxn modelId="{E61570BF-925B-4569-9FE1-D50F3C547444}" type="presParOf" srcId="{F498A367-896F-4E8C-9DF0-7095020918B6}" destId="{C7D12405-7F99-43D5-9770-7BCD3A3276BD}"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BF83AA7-DA16-4813-84A5-626C2343868F}"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673B768F-547E-4BB8-A549-DBF433068292}">
      <dgm:prSet custT="1"/>
      <dgm:spPr/>
      <dgm:t>
        <a:bodyPr/>
        <a:lstStyle/>
        <a:p>
          <a:pPr algn="just"/>
          <a:r>
            <a:rPr lang="en-US" sz="2400" dirty="0">
              <a:solidFill>
                <a:schemeClr val="tx1"/>
              </a:solidFill>
            </a:rPr>
            <a:t>The relational dialects are the “tug-of-war” between opposing needs. There are three competing psychological tensions that exist in relationships. </a:t>
          </a:r>
        </a:p>
      </dgm:t>
    </dgm:pt>
    <dgm:pt modelId="{CF7D5A93-0E37-4277-9DC3-D575859DBD3D}" type="parTrans" cxnId="{0BFFD86A-2B4B-40BA-BE2B-E3AB1F94845B}">
      <dgm:prSet/>
      <dgm:spPr/>
      <dgm:t>
        <a:bodyPr/>
        <a:lstStyle/>
        <a:p>
          <a:endParaRPr lang="en-US"/>
        </a:p>
      </dgm:t>
    </dgm:pt>
    <dgm:pt modelId="{94A0D809-D0B2-4F74-8B90-0DC3A69D6288}" type="sibTrans" cxnId="{0BFFD86A-2B4B-40BA-BE2B-E3AB1F94845B}">
      <dgm:prSet/>
      <dgm:spPr/>
      <dgm:t>
        <a:bodyPr/>
        <a:lstStyle/>
        <a:p>
          <a:endParaRPr lang="en-US"/>
        </a:p>
      </dgm:t>
    </dgm:pt>
    <dgm:pt modelId="{CC8E653D-5638-4B92-A809-34C54CD89A5D}">
      <dgm:prSet custT="1"/>
      <dgm:spPr/>
      <dgm:t>
        <a:bodyPr/>
        <a:lstStyle/>
        <a:p>
          <a:r>
            <a:rPr lang="en-US" sz="2000" dirty="0">
              <a:highlight>
                <a:srgbClr val="FFFF00"/>
              </a:highlight>
            </a:rPr>
            <a:t>Autonomy vs. Connection: </a:t>
          </a:r>
          <a:r>
            <a:rPr lang="en-US" sz="2000" i="1" dirty="0"/>
            <a:t>“I need space to work.” vs. “We need to sync. for this project. ”</a:t>
          </a:r>
          <a:br>
            <a:rPr lang="en-US" sz="2000" i="1" dirty="0"/>
          </a:br>
          <a:endParaRPr lang="en-US" sz="2000" dirty="0"/>
        </a:p>
      </dgm:t>
    </dgm:pt>
    <dgm:pt modelId="{00EDD22D-611E-499D-877F-E92486BD3339}" type="parTrans" cxnId="{2682DC02-2C77-4135-BA97-969212CBAC84}">
      <dgm:prSet/>
      <dgm:spPr/>
      <dgm:t>
        <a:bodyPr/>
        <a:lstStyle/>
        <a:p>
          <a:endParaRPr lang="en-US"/>
        </a:p>
      </dgm:t>
    </dgm:pt>
    <dgm:pt modelId="{A8025569-6F54-4189-AE0D-B73351BDD07A}" type="sibTrans" cxnId="{2682DC02-2C77-4135-BA97-969212CBAC84}">
      <dgm:prSet/>
      <dgm:spPr/>
      <dgm:t>
        <a:bodyPr/>
        <a:lstStyle/>
        <a:p>
          <a:endParaRPr lang="en-US"/>
        </a:p>
      </dgm:t>
    </dgm:pt>
    <dgm:pt modelId="{CE71F13A-5B4A-4FD0-B82F-3571A7ED6DF3}">
      <dgm:prSet custT="1"/>
      <dgm:spPr/>
      <dgm:t>
        <a:bodyPr/>
        <a:lstStyle/>
        <a:p>
          <a:r>
            <a:rPr lang="en-US" sz="2000" dirty="0">
              <a:highlight>
                <a:srgbClr val="FFFF00"/>
              </a:highlight>
            </a:rPr>
            <a:t>Openness vs. Closeness:</a:t>
          </a:r>
          <a:r>
            <a:rPr lang="en-US" sz="2000" dirty="0"/>
            <a:t> </a:t>
          </a:r>
          <a:r>
            <a:rPr lang="en-US" sz="2000" i="1" dirty="0"/>
            <a:t>“Sharing data/feelings.” vs. “Privacy.”</a:t>
          </a:r>
          <a:br>
            <a:rPr lang="en-US" sz="2000" i="1" dirty="0"/>
          </a:br>
          <a:endParaRPr lang="en-US" sz="2000" dirty="0"/>
        </a:p>
      </dgm:t>
    </dgm:pt>
    <dgm:pt modelId="{C0BC35DC-06CC-454B-8A81-1BAC7F59CAB2}" type="parTrans" cxnId="{3E3AF6F3-6BC9-4C63-88E8-72B082ABF124}">
      <dgm:prSet/>
      <dgm:spPr/>
      <dgm:t>
        <a:bodyPr/>
        <a:lstStyle/>
        <a:p>
          <a:endParaRPr lang="en-US"/>
        </a:p>
      </dgm:t>
    </dgm:pt>
    <dgm:pt modelId="{9918A865-020A-4FDA-985A-277B5CC8CBC1}" type="sibTrans" cxnId="{3E3AF6F3-6BC9-4C63-88E8-72B082ABF124}">
      <dgm:prSet/>
      <dgm:spPr/>
      <dgm:t>
        <a:bodyPr/>
        <a:lstStyle/>
        <a:p>
          <a:endParaRPr lang="en-US"/>
        </a:p>
      </dgm:t>
    </dgm:pt>
    <dgm:pt modelId="{BB6733DE-E9C8-4859-B866-C4D2293CC49F}">
      <dgm:prSet custT="1"/>
      <dgm:spPr/>
      <dgm:t>
        <a:bodyPr/>
        <a:lstStyle/>
        <a:p>
          <a:r>
            <a:rPr lang="en-US" sz="2000" dirty="0">
              <a:highlight>
                <a:srgbClr val="FFFF00"/>
              </a:highlight>
            </a:rPr>
            <a:t>Predictability vs. Novelty: </a:t>
          </a:r>
          <a:r>
            <a:rPr lang="en-US" sz="2000" i="1" dirty="0"/>
            <a:t>“Routine vs. Innovation.”</a:t>
          </a:r>
          <a:endParaRPr lang="en-US" sz="2000" dirty="0"/>
        </a:p>
      </dgm:t>
    </dgm:pt>
    <dgm:pt modelId="{54FEE49D-E9C8-4FCD-AF81-3100A0E1979E}" type="parTrans" cxnId="{7326694F-0F05-4D01-AE23-ECDDFF2C9F99}">
      <dgm:prSet/>
      <dgm:spPr/>
      <dgm:t>
        <a:bodyPr/>
        <a:lstStyle/>
        <a:p>
          <a:endParaRPr lang="en-US"/>
        </a:p>
      </dgm:t>
    </dgm:pt>
    <dgm:pt modelId="{03FE200C-76B3-4FDB-A84A-8F93B554B3F6}" type="sibTrans" cxnId="{7326694F-0F05-4D01-AE23-ECDDFF2C9F99}">
      <dgm:prSet/>
      <dgm:spPr/>
      <dgm:t>
        <a:bodyPr/>
        <a:lstStyle/>
        <a:p>
          <a:endParaRPr lang="en-US"/>
        </a:p>
      </dgm:t>
    </dgm:pt>
    <dgm:pt modelId="{92F8994E-D970-43D8-9408-F5751F1AF2DB}" type="pres">
      <dgm:prSet presAssocID="{BBF83AA7-DA16-4813-84A5-626C2343868F}" presName="linear" presStyleCnt="0">
        <dgm:presLayoutVars>
          <dgm:animLvl val="lvl"/>
          <dgm:resizeHandles val="exact"/>
        </dgm:presLayoutVars>
      </dgm:prSet>
      <dgm:spPr/>
      <dgm:t>
        <a:bodyPr/>
        <a:lstStyle/>
        <a:p>
          <a:endParaRPr lang="en-US"/>
        </a:p>
      </dgm:t>
    </dgm:pt>
    <dgm:pt modelId="{2E7D2688-98FF-4AE4-ADB4-CAEEAF199D8F}" type="pres">
      <dgm:prSet presAssocID="{673B768F-547E-4BB8-A549-DBF433068292}" presName="parentText" presStyleLbl="node1" presStyleIdx="0" presStyleCnt="1" custLinFactNeighborY="-16182">
        <dgm:presLayoutVars>
          <dgm:chMax val="0"/>
          <dgm:bulletEnabled val="1"/>
        </dgm:presLayoutVars>
      </dgm:prSet>
      <dgm:spPr/>
      <dgm:t>
        <a:bodyPr/>
        <a:lstStyle/>
        <a:p>
          <a:endParaRPr lang="en-US"/>
        </a:p>
      </dgm:t>
    </dgm:pt>
    <dgm:pt modelId="{F0D3F440-CDC8-4F48-8D16-EE97D88C92F2}" type="pres">
      <dgm:prSet presAssocID="{673B768F-547E-4BB8-A549-DBF433068292}" presName="childText" presStyleLbl="revTx" presStyleIdx="0" presStyleCnt="1" custLinFactNeighborY="-7457">
        <dgm:presLayoutVars>
          <dgm:bulletEnabled val="1"/>
        </dgm:presLayoutVars>
      </dgm:prSet>
      <dgm:spPr/>
      <dgm:t>
        <a:bodyPr/>
        <a:lstStyle/>
        <a:p>
          <a:endParaRPr lang="en-US"/>
        </a:p>
      </dgm:t>
    </dgm:pt>
  </dgm:ptLst>
  <dgm:cxnLst>
    <dgm:cxn modelId="{D0D2A645-C9AB-4089-9476-217FC15A5DA5}" type="presOf" srcId="{CE71F13A-5B4A-4FD0-B82F-3571A7ED6DF3}" destId="{F0D3F440-CDC8-4F48-8D16-EE97D88C92F2}" srcOrd="0" destOrd="1" presId="urn:microsoft.com/office/officeart/2005/8/layout/vList2"/>
    <dgm:cxn modelId="{1628BCCD-B1B1-4BB3-B8C0-6B958D89BBAA}" type="presOf" srcId="{BBF83AA7-DA16-4813-84A5-626C2343868F}" destId="{92F8994E-D970-43D8-9408-F5751F1AF2DB}" srcOrd="0" destOrd="0" presId="urn:microsoft.com/office/officeart/2005/8/layout/vList2"/>
    <dgm:cxn modelId="{2682DC02-2C77-4135-BA97-969212CBAC84}" srcId="{673B768F-547E-4BB8-A549-DBF433068292}" destId="{CC8E653D-5638-4B92-A809-34C54CD89A5D}" srcOrd="0" destOrd="0" parTransId="{00EDD22D-611E-499D-877F-E92486BD3339}" sibTransId="{A8025569-6F54-4189-AE0D-B73351BDD07A}"/>
    <dgm:cxn modelId="{D20C40F1-B4EC-46E1-8BCB-BA9527C93B11}" type="presOf" srcId="{BB6733DE-E9C8-4859-B866-C4D2293CC49F}" destId="{F0D3F440-CDC8-4F48-8D16-EE97D88C92F2}" srcOrd="0" destOrd="2" presId="urn:microsoft.com/office/officeart/2005/8/layout/vList2"/>
    <dgm:cxn modelId="{7E5D0A5B-45EA-4AAA-ACA8-2B3FDCE6D96E}" type="presOf" srcId="{673B768F-547E-4BB8-A549-DBF433068292}" destId="{2E7D2688-98FF-4AE4-ADB4-CAEEAF199D8F}" srcOrd="0" destOrd="0" presId="urn:microsoft.com/office/officeart/2005/8/layout/vList2"/>
    <dgm:cxn modelId="{7326694F-0F05-4D01-AE23-ECDDFF2C9F99}" srcId="{673B768F-547E-4BB8-A549-DBF433068292}" destId="{BB6733DE-E9C8-4859-B866-C4D2293CC49F}" srcOrd="2" destOrd="0" parTransId="{54FEE49D-E9C8-4FCD-AF81-3100A0E1979E}" sibTransId="{03FE200C-76B3-4FDB-A84A-8F93B554B3F6}"/>
    <dgm:cxn modelId="{3E3AF6F3-6BC9-4C63-88E8-72B082ABF124}" srcId="{673B768F-547E-4BB8-A549-DBF433068292}" destId="{CE71F13A-5B4A-4FD0-B82F-3571A7ED6DF3}" srcOrd="1" destOrd="0" parTransId="{C0BC35DC-06CC-454B-8A81-1BAC7F59CAB2}" sibTransId="{9918A865-020A-4FDA-985A-277B5CC8CBC1}"/>
    <dgm:cxn modelId="{7875558B-A4A6-40BB-8301-2C2F183A72BF}" type="presOf" srcId="{CC8E653D-5638-4B92-A809-34C54CD89A5D}" destId="{F0D3F440-CDC8-4F48-8D16-EE97D88C92F2}" srcOrd="0" destOrd="0" presId="urn:microsoft.com/office/officeart/2005/8/layout/vList2"/>
    <dgm:cxn modelId="{0BFFD86A-2B4B-40BA-BE2B-E3AB1F94845B}" srcId="{BBF83AA7-DA16-4813-84A5-626C2343868F}" destId="{673B768F-547E-4BB8-A549-DBF433068292}" srcOrd="0" destOrd="0" parTransId="{CF7D5A93-0E37-4277-9DC3-D575859DBD3D}" sibTransId="{94A0D809-D0B2-4F74-8B90-0DC3A69D6288}"/>
    <dgm:cxn modelId="{1BD4A97E-2D35-471E-8E36-3CA25CC30C09}" type="presParOf" srcId="{92F8994E-D970-43D8-9408-F5751F1AF2DB}" destId="{2E7D2688-98FF-4AE4-ADB4-CAEEAF199D8F}" srcOrd="0" destOrd="0" presId="urn:microsoft.com/office/officeart/2005/8/layout/vList2"/>
    <dgm:cxn modelId="{AAFA7E0C-391F-4904-964A-CF32058BD691}" type="presParOf" srcId="{92F8994E-D970-43D8-9408-F5751F1AF2DB}" destId="{F0D3F440-CDC8-4F48-8D16-EE97D88C92F2}"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0F2111E-C5A4-43D8-A4AF-CA399192BDDE}"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9AF8DA7F-A7AC-4A7B-ACC5-9CF6C7CA1063}">
      <dgm:prSet custT="1"/>
      <dgm:spPr/>
      <dgm:t>
        <a:bodyPr/>
        <a:lstStyle/>
        <a:p>
          <a:pPr algn="just"/>
          <a:r>
            <a:rPr lang="en-US" sz="2400" b="1" dirty="0">
              <a:solidFill>
                <a:schemeClr val="tx1"/>
              </a:solidFill>
            </a:rPr>
            <a:t>Scenario: </a:t>
          </a:r>
          <a:r>
            <a:rPr lang="en-US" sz="2400" dirty="0">
              <a:solidFill>
                <a:schemeClr val="tx1"/>
              </a:solidFill>
            </a:rPr>
            <a:t>A senior engineer wants a strict hierarchy in the organization; a junior wants an open-door policy.</a:t>
          </a:r>
        </a:p>
      </dgm:t>
    </dgm:pt>
    <dgm:pt modelId="{61DAA941-612A-4322-89B4-E1E31C7B67AE}" type="parTrans" cxnId="{95A9FDC7-566E-4086-9C1C-862D0813C430}">
      <dgm:prSet/>
      <dgm:spPr/>
      <dgm:t>
        <a:bodyPr/>
        <a:lstStyle/>
        <a:p>
          <a:endParaRPr lang="en-US"/>
        </a:p>
      </dgm:t>
    </dgm:pt>
    <dgm:pt modelId="{1E85191E-81BE-4AD3-B432-36EEEC6C37E7}" type="sibTrans" cxnId="{95A9FDC7-566E-4086-9C1C-862D0813C430}">
      <dgm:prSet/>
      <dgm:spPr/>
      <dgm:t>
        <a:bodyPr/>
        <a:lstStyle/>
        <a:p>
          <a:endParaRPr lang="en-US"/>
        </a:p>
      </dgm:t>
    </dgm:pt>
    <dgm:pt modelId="{AB589C1E-66B6-440C-85C3-C381D3608BC6}">
      <dgm:prSet custT="1"/>
      <dgm:spPr>
        <a:solidFill>
          <a:schemeClr val="accent3">
            <a:lumMod val="40000"/>
            <a:lumOff val="60000"/>
          </a:schemeClr>
        </a:solidFill>
      </dgm:spPr>
      <dgm:t>
        <a:bodyPr/>
        <a:lstStyle/>
        <a:p>
          <a:r>
            <a:rPr lang="en-US" sz="2000" b="1" dirty="0">
              <a:solidFill>
                <a:schemeClr val="tx1"/>
              </a:solidFill>
            </a:rPr>
            <a:t>The Question: </a:t>
          </a:r>
        </a:p>
        <a:p>
          <a:r>
            <a:rPr lang="en-US" sz="2000" dirty="0">
              <a:solidFill>
                <a:schemeClr val="tx1"/>
              </a:solidFill>
            </a:rPr>
            <a:t>How do they manage the </a:t>
          </a:r>
          <a:r>
            <a:rPr lang="en-US" sz="2000" i="1" dirty="0">
              <a:solidFill>
                <a:schemeClr val="tx1"/>
              </a:solidFill>
            </a:rPr>
            <a:t>Openness</a:t>
          </a:r>
          <a:r>
            <a:rPr lang="en-US" sz="2000" dirty="0">
              <a:solidFill>
                <a:schemeClr val="tx1"/>
              </a:solidFill>
            </a:rPr>
            <a:t> vs. </a:t>
          </a:r>
          <a:r>
            <a:rPr lang="en-US" sz="2000" i="1" dirty="0">
              <a:solidFill>
                <a:schemeClr val="tx1"/>
              </a:solidFill>
            </a:rPr>
            <a:t>Closedness tension?</a:t>
          </a:r>
          <a:endParaRPr lang="en-US" sz="2000" dirty="0">
            <a:solidFill>
              <a:schemeClr val="tx1"/>
            </a:solidFill>
          </a:endParaRPr>
        </a:p>
      </dgm:t>
    </dgm:pt>
    <dgm:pt modelId="{9C435AEB-AF00-45C8-895A-4E7E4B7468EC}" type="sibTrans" cxnId="{5AAC219B-8FB8-4AAB-9169-F16D0768E43E}">
      <dgm:prSet/>
      <dgm:spPr/>
      <dgm:t>
        <a:bodyPr/>
        <a:lstStyle/>
        <a:p>
          <a:endParaRPr lang="en-US"/>
        </a:p>
      </dgm:t>
    </dgm:pt>
    <dgm:pt modelId="{5A286423-5319-43CC-A1FB-4D17824D042E}" type="parTrans" cxnId="{5AAC219B-8FB8-4AAB-9169-F16D0768E43E}">
      <dgm:prSet/>
      <dgm:spPr/>
      <dgm:t>
        <a:bodyPr/>
        <a:lstStyle/>
        <a:p>
          <a:endParaRPr lang="en-US"/>
        </a:p>
      </dgm:t>
    </dgm:pt>
    <dgm:pt modelId="{9D027E9D-176A-4F5E-858E-D76F0052E301}" type="pres">
      <dgm:prSet presAssocID="{90F2111E-C5A4-43D8-A4AF-CA399192BDDE}" presName="linear" presStyleCnt="0">
        <dgm:presLayoutVars>
          <dgm:animLvl val="lvl"/>
          <dgm:resizeHandles val="exact"/>
        </dgm:presLayoutVars>
      </dgm:prSet>
      <dgm:spPr/>
      <dgm:t>
        <a:bodyPr/>
        <a:lstStyle/>
        <a:p>
          <a:endParaRPr lang="en-US"/>
        </a:p>
      </dgm:t>
    </dgm:pt>
    <dgm:pt modelId="{88B9DFC1-5699-4782-A36B-35F30CED849A}" type="pres">
      <dgm:prSet presAssocID="{9AF8DA7F-A7AC-4A7B-ACC5-9CF6C7CA1063}" presName="parentText" presStyleLbl="node1" presStyleIdx="0" presStyleCnt="2">
        <dgm:presLayoutVars>
          <dgm:chMax val="0"/>
          <dgm:bulletEnabled val="1"/>
        </dgm:presLayoutVars>
      </dgm:prSet>
      <dgm:spPr/>
      <dgm:t>
        <a:bodyPr/>
        <a:lstStyle/>
        <a:p>
          <a:endParaRPr lang="en-US"/>
        </a:p>
      </dgm:t>
    </dgm:pt>
    <dgm:pt modelId="{CFEA3658-D89F-4417-84C2-E45CE0ED3706}" type="pres">
      <dgm:prSet presAssocID="{1E85191E-81BE-4AD3-B432-36EEEC6C37E7}" presName="spacer" presStyleCnt="0"/>
      <dgm:spPr/>
    </dgm:pt>
    <dgm:pt modelId="{32576C89-8A80-4635-BCF3-277456832883}" type="pres">
      <dgm:prSet presAssocID="{AB589C1E-66B6-440C-85C3-C381D3608BC6}" presName="parentText" presStyleLbl="node1" presStyleIdx="1" presStyleCnt="2">
        <dgm:presLayoutVars>
          <dgm:chMax val="0"/>
          <dgm:bulletEnabled val="1"/>
        </dgm:presLayoutVars>
      </dgm:prSet>
      <dgm:spPr/>
      <dgm:t>
        <a:bodyPr/>
        <a:lstStyle/>
        <a:p>
          <a:endParaRPr lang="en-US"/>
        </a:p>
      </dgm:t>
    </dgm:pt>
  </dgm:ptLst>
  <dgm:cxnLst>
    <dgm:cxn modelId="{486D2121-5D75-4273-8B13-5782434E946C}" type="presOf" srcId="{90F2111E-C5A4-43D8-A4AF-CA399192BDDE}" destId="{9D027E9D-176A-4F5E-858E-D76F0052E301}" srcOrd="0" destOrd="0" presId="urn:microsoft.com/office/officeart/2005/8/layout/vList2"/>
    <dgm:cxn modelId="{5AAC219B-8FB8-4AAB-9169-F16D0768E43E}" srcId="{90F2111E-C5A4-43D8-A4AF-CA399192BDDE}" destId="{AB589C1E-66B6-440C-85C3-C381D3608BC6}" srcOrd="1" destOrd="0" parTransId="{5A286423-5319-43CC-A1FB-4D17824D042E}" sibTransId="{9C435AEB-AF00-45C8-895A-4E7E4B7468EC}"/>
    <dgm:cxn modelId="{6163BC38-A4D0-4541-878F-9A0847F4F5E7}" type="presOf" srcId="{9AF8DA7F-A7AC-4A7B-ACC5-9CF6C7CA1063}" destId="{88B9DFC1-5699-4782-A36B-35F30CED849A}" srcOrd="0" destOrd="0" presId="urn:microsoft.com/office/officeart/2005/8/layout/vList2"/>
    <dgm:cxn modelId="{95A9FDC7-566E-4086-9C1C-862D0813C430}" srcId="{90F2111E-C5A4-43D8-A4AF-CA399192BDDE}" destId="{9AF8DA7F-A7AC-4A7B-ACC5-9CF6C7CA1063}" srcOrd="0" destOrd="0" parTransId="{61DAA941-612A-4322-89B4-E1E31C7B67AE}" sibTransId="{1E85191E-81BE-4AD3-B432-36EEEC6C37E7}"/>
    <dgm:cxn modelId="{CE278658-767D-4410-A264-DC3037738047}" type="presOf" srcId="{AB589C1E-66B6-440C-85C3-C381D3608BC6}" destId="{32576C89-8A80-4635-BCF3-277456832883}" srcOrd="0" destOrd="0" presId="urn:microsoft.com/office/officeart/2005/8/layout/vList2"/>
    <dgm:cxn modelId="{27BBC562-FF20-4A9B-A2C3-B085780A24FD}" type="presParOf" srcId="{9D027E9D-176A-4F5E-858E-D76F0052E301}" destId="{88B9DFC1-5699-4782-A36B-35F30CED849A}" srcOrd="0" destOrd="0" presId="urn:microsoft.com/office/officeart/2005/8/layout/vList2"/>
    <dgm:cxn modelId="{A14899C1-E74F-4034-BA3F-32CFC1ED002E}" type="presParOf" srcId="{9D027E9D-176A-4F5E-858E-D76F0052E301}" destId="{CFEA3658-D89F-4417-84C2-E45CE0ED3706}" srcOrd="1" destOrd="0" presId="urn:microsoft.com/office/officeart/2005/8/layout/vList2"/>
    <dgm:cxn modelId="{C487B837-6C31-475E-A33C-D39DA159BA87}" type="presParOf" srcId="{9D027E9D-176A-4F5E-858E-D76F0052E301}" destId="{32576C89-8A80-4635-BCF3-277456832883}"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490898-BF11-4217-87F3-847B4C837B6C}">
      <dsp:nvSpPr>
        <dsp:cNvPr id="0" name=""/>
        <dsp:cNvSpPr/>
      </dsp:nvSpPr>
      <dsp:spPr>
        <a:xfrm>
          <a:off x="0" y="815"/>
          <a:ext cx="8025563"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A5044F-F17C-451A-93C3-B8D576F6E103}">
      <dsp:nvSpPr>
        <dsp:cNvPr id="0" name=""/>
        <dsp:cNvSpPr/>
      </dsp:nvSpPr>
      <dsp:spPr>
        <a:xfrm>
          <a:off x="0" y="815"/>
          <a:ext cx="8025563" cy="1335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kern="1200" dirty="0"/>
            <a:t>This understanding breaks down the “lone genius” narrative and myth. </a:t>
          </a:r>
        </a:p>
      </dsp:txBody>
      <dsp:txXfrm>
        <a:off x="0" y="815"/>
        <a:ext cx="8025563" cy="1335981"/>
      </dsp:txXfrm>
    </dsp:sp>
    <dsp:sp modelId="{E20AEC28-9582-4C79-AB36-7FB33204FA11}">
      <dsp:nvSpPr>
        <dsp:cNvPr id="0" name=""/>
        <dsp:cNvSpPr/>
      </dsp:nvSpPr>
      <dsp:spPr>
        <a:xfrm>
          <a:off x="0" y="1336796"/>
          <a:ext cx="8025563" cy="0"/>
        </a:xfrm>
        <a:prstGeom prst="line">
          <a:avLst/>
        </a:prstGeom>
        <a:solidFill>
          <a:schemeClr val="accent2">
            <a:hueOff val="113291"/>
            <a:satOff val="-11998"/>
            <a:lumOff val="-294"/>
            <a:alphaOff val="0"/>
          </a:schemeClr>
        </a:solidFill>
        <a:ln w="15875" cap="rnd" cmpd="sng" algn="ctr">
          <a:solidFill>
            <a:schemeClr val="accent2">
              <a:hueOff val="113291"/>
              <a:satOff val="-11998"/>
              <a:lumOff val="-29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084169-DFBB-4730-A58B-5E83CF9341CD}">
      <dsp:nvSpPr>
        <dsp:cNvPr id="0" name=""/>
        <dsp:cNvSpPr/>
      </dsp:nvSpPr>
      <dsp:spPr>
        <a:xfrm>
          <a:off x="0" y="1336796"/>
          <a:ext cx="8025563" cy="1335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kern="1200" dirty="0"/>
            <a:t>That someone is tucked away in a garage, or a dark studio, or in a weird looking lab, building something brilliant all on its own. Alone and determined to win. </a:t>
          </a:r>
        </a:p>
      </dsp:txBody>
      <dsp:txXfrm>
        <a:off x="0" y="1336796"/>
        <a:ext cx="8025563" cy="1335981"/>
      </dsp:txXfrm>
    </dsp:sp>
    <dsp:sp modelId="{167FB794-6FBC-4881-A1E2-DA375328F15F}">
      <dsp:nvSpPr>
        <dsp:cNvPr id="0" name=""/>
        <dsp:cNvSpPr/>
      </dsp:nvSpPr>
      <dsp:spPr>
        <a:xfrm>
          <a:off x="0" y="2672777"/>
          <a:ext cx="8025563" cy="0"/>
        </a:xfrm>
        <a:prstGeom prst="line">
          <a:avLst/>
        </a:prstGeom>
        <a:solidFill>
          <a:schemeClr val="accent2">
            <a:hueOff val="226582"/>
            <a:satOff val="-23996"/>
            <a:lumOff val="-588"/>
            <a:alphaOff val="0"/>
          </a:schemeClr>
        </a:solidFill>
        <a:ln w="15875" cap="rnd" cmpd="sng" algn="ctr">
          <a:solidFill>
            <a:schemeClr val="accent2">
              <a:hueOff val="226582"/>
              <a:satOff val="-23996"/>
              <a:lumOff val="-58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DBCFE3-927F-4027-9EA8-76A5C6652895}">
      <dsp:nvSpPr>
        <dsp:cNvPr id="0" name=""/>
        <dsp:cNvSpPr/>
      </dsp:nvSpPr>
      <dsp:spPr>
        <a:xfrm>
          <a:off x="0" y="2736945"/>
          <a:ext cx="8025563" cy="1335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i="1" kern="1200" dirty="0"/>
            <a:t>Steve Jobs brings Apple’s revolution. But he had partners (Steve Wozniak – the co-founder), and the real working human team.</a:t>
          </a:r>
          <a:endParaRPr lang="en-US" sz="2400" kern="1200" dirty="0"/>
        </a:p>
      </dsp:txBody>
      <dsp:txXfrm>
        <a:off x="0" y="2736945"/>
        <a:ext cx="8025563" cy="1335981"/>
      </dsp:txXfrm>
    </dsp:sp>
    <dsp:sp modelId="{676DF132-B1BF-4128-ACD4-A4F64ED26CEE}">
      <dsp:nvSpPr>
        <dsp:cNvPr id="0" name=""/>
        <dsp:cNvSpPr/>
      </dsp:nvSpPr>
      <dsp:spPr>
        <a:xfrm>
          <a:off x="0" y="4008759"/>
          <a:ext cx="8025563" cy="0"/>
        </a:xfrm>
        <a:prstGeom prst="line">
          <a:avLst/>
        </a:prstGeom>
        <a:solidFill>
          <a:schemeClr val="accent2">
            <a:hueOff val="339874"/>
            <a:satOff val="-35995"/>
            <a:lumOff val="-882"/>
            <a:alphaOff val="0"/>
          </a:schemeClr>
        </a:solidFill>
        <a:ln w="15875" cap="rnd" cmpd="sng" algn="ctr">
          <a:solidFill>
            <a:schemeClr val="accent2">
              <a:hueOff val="339874"/>
              <a:satOff val="-35995"/>
              <a:lumOff val="-88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D85665-DF58-4898-8AFC-8E66B72DB3AB}">
      <dsp:nvSpPr>
        <dsp:cNvPr id="0" name=""/>
        <dsp:cNvSpPr/>
      </dsp:nvSpPr>
      <dsp:spPr>
        <a:xfrm>
          <a:off x="0" y="4008759"/>
          <a:ext cx="8025563" cy="1335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kern="1200" dirty="0"/>
            <a:t>The focus shifts to the development of an active, professional team building.</a:t>
          </a:r>
        </a:p>
      </dsp:txBody>
      <dsp:txXfrm>
        <a:off x="0" y="4008759"/>
        <a:ext cx="8025563" cy="1335981"/>
      </dsp:txXfrm>
    </dsp:sp>
    <dsp:sp modelId="{80D095A4-3AA2-43C3-8063-761B30B4981D}">
      <dsp:nvSpPr>
        <dsp:cNvPr id="0" name=""/>
        <dsp:cNvSpPr/>
      </dsp:nvSpPr>
      <dsp:spPr>
        <a:xfrm>
          <a:off x="0" y="5344740"/>
          <a:ext cx="8025563" cy="0"/>
        </a:xfrm>
        <a:prstGeom prst="line">
          <a:avLst/>
        </a:prstGeom>
        <a:solidFill>
          <a:schemeClr val="accent2">
            <a:hueOff val="453165"/>
            <a:satOff val="-47993"/>
            <a:lumOff val="-1176"/>
            <a:alphaOff val="0"/>
          </a:schemeClr>
        </a:solidFill>
        <a:ln w="15875" cap="rnd" cmpd="sng" algn="ctr">
          <a:solidFill>
            <a:schemeClr val="accent2">
              <a:hueOff val="453165"/>
              <a:satOff val="-47993"/>
              <a:lumOff val="-117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03DB3C-36AE-42AB-A007-484B0A765C3C}">
      <dsp:nvSpPr>
        <dsp:cNvPr id="0" name=""/>
        <dsp:cNvSpPr/>
      </dsp:nvSpPr>
      <dsp:spPr>
        <a:xfrm>
          <a:off x="0" y="5344740"/>
          <a:ext cx="8025563" cy="1335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kern="1200" dirty="0"/>
            <a:t>Consequently – return-on-investment (ROI) = better projects outcomes and reduced technical duty.</a:t>
          </a:r>
        </a:p>
      </dsp:txBody>
      <dsp:txXfrm>
        <a:off x="0" y="5344740"/>
        <a:ext cx="8025563" cy="13359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F3D95A-714F-4FCA-A055-5D308854F663}">
      <dsp:nvSpPr>
        <dsp:cNvPr id="0" name=""/>
        <dsp:cNvSpPr/>
      </dsp:nvSpPr>
      <dsp:spPr>
        <a:xfrm>
          <a:off x="1876" y="373619"/>
          <a:ext cx="3365501" cy="1682750"/>
        </a:xfrm>
        <a:prstGeom prst="roundRect">
          <a:avLst>
            <a:gd name="adj" fmla="val 10000"/>
          </a:avLst>
        </a:prstGeom>
        <a:solidFill>
          <a:schemeClr val="accent2">
            <a:lumMod val="60000"/>
            <a:lumOff val="4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2. Maintaining Relationships:</a:t>
          </a:r>
          <a:endParaRPr lang="en-US" sz="1800" kern="1200" dirty="0">
            <a:solidFill>
              <a:schemeClr val="tx1"/>
            </a:solidFill>
          </a:endParaRPr>
        </a:p>
      </dsp:txBody>
      <dsp:txXfrm>
        <a:off x="51162" y="422905"/>
        <a:ext cx="3266929" cy="1584178"/>
      </dsp:txXfrm>
    </dsp:sp>
    <dsp:sp modelId="{D9BB4CB9-F4E0-42F2-BBCD-6CEA03E3E707}">
      <dsp:nvSpPr>
        <dsp:cNvPr id="0" name=""/>
        <dsp:cNvSpPr/>
      </dsp:nvSpPr>
      <dsp:spPr>
        <a:xfrm>
          <a:off x="0" y="2269457"/>
          <a:ext cx="3365501" cy="1682750"/>
        </a:xfrm>
        <a:prstGeom prst="roundRect">
          <a:avLst>
            <a:gd name="adj" fmla="val 10000"/>
          </a:avLst>
        </a:prstGeom>
        <a:solidFill>
          <a:schemeClr val="accent2">
            <a:lumMod val="60000"/>
            <a:lumOff val="4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a:solidFill>
                <a:schemeClr val="tx1"/>
              </a:solidFill>
            </a:rPr>
            <a:t>Relationships strategies are used to keep a relationship going smoothly and satisfactorily (Dindia, 2009).</a:t>
          </a:r>
        </a:p>
      </dsp:txBody>
      <dsp:txXfrm>
        <a:off x="49286" y="2318743"/>
        <a:ext cx="3266929" cy="1584178"/>
      </dsp:txXfrm>
    </dsp:sp>
    <dsp:sp modelId="{1C310879-94E1-4F43-A783-193572ED89CC}">
      <dsp:nvSpPr>
        <dsp:cNvPr id="0" name=""/>
        <dsp:cNvSpPr/>
      </dsp:nvSpPr>
      <dsp:spPr>
        <a:xfrm rot="18324934">
          <a:off x="2876407" y="2138875"/>
          <a:ext cx="2326265" cy="48076"/>
        </a:xfrm>
        <a:custGeom>
          <a:avLst/>
          <a:gdLst/>
          <a:ahLst/>
          <a:cxnLst/>
          <a:rect l="0" t="0" r="0" b="0"/>
          <a:pathLst>
            <a:path>
              <a:moveTo>
                <a:pt x="0" y="24038"/>
              </a:moveTo>
              <a:lnTo>
                <a:pt x="2326265" y="24038"/>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55600">
            <a:lnSpc>
              <a:spcPct val="90000"/>
            </a:lnSpc>
            <a:spcBef>
              <a:spcPct val="0"/>
            </a:spcBef>
            <a:spcAft>
              <a:spcPct val="35000"/>
            </a:spcAft>
          </a:pPr>
          <a:endParaRPr lang="en-US" sz="800" kern="1200"/>
        </a:p>
      </dsp:txBody>
      <dsp:txXfrm>
        <a:off x="3981383" y="2104757"/>
        <a:ext cx="116313" cy="116313"/>
      </dsp:txXfrm>
    </dsp:sp>
    <dsp:sp modelId="{71F82828-9C8A-4916-8054-58542501FB16}">
      <dsp:nvSpPr>
        <dsp:cNvPr id="0" name=""/>
        <dsp:cNvSpPr/>
      </dsp:nvSpPr>
      <dsp:spPr>
        <a:xfrm>
          <a:off x="4713578" y="373619"/>
          <a:ext cx="3365501" cy="1682750"/>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a:t>Socially supportive behaviors: </a:t>
          </a:r>
          <a:r>
            <a:rPr lang="en-US" sz="1800" i="1" kern="1200" dirty="0"/>
            <a:t>celebrations, gift exchanges, being polite, praising, help offerings, small sacrifices, things sharing, showing affection, … </a:t>
          </a:r>
        </a:p>
      </dsp:txBody>
      <dsp:txXfrm>
        <a:off x="4762864" y="422905"/>
        <a:ext cx="3266929" cy="1584178"/>
      </dsp:txXfrm>
    </dsp:sp>
    <dsp:sp modelId="{D53DB131-6CF5-40A3-B31B-56CEB358F2BC}">
      <dsp:nvSpPr>
        <dsp:cNvPr id="0" name=""/>
        <dsp:cNvSpPr/>
      </dsp:nvSpPr>
      <dsp:spPr>
        <a:xfrm rot="100257">
          <a:off x="3365214" y="3106457"/>
          <a:ext cx="1348650" cy="48076"/>
        </a:xfrm>
        <a:custGeom>
          <a:avLst/>
          <a:gdLst/>
          <a:ahLst/>
          <a:cxnLst/>
          <a:rect l="0" t="0" r="0" b="0"/>
          <a:pathLst>
            <a:path>
              <a:moveTo>
                <a:pt x="0" y="24038"/>
              </a:moveTo>
              <a:lnTo>
                <a:pt x="1348650" y="24038"/>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005823" y="3096779"/>
        <a:ext cx="67432" cy="67432"/>
      </dsp:txXfrm>
    </dsp:sp>
    <dsp:sp modelId="{342B03E9-E739-4BB3-99CE-2102973EEC06}">
      <dsp:nvSpPr>
        <dsp:cNvPr id="0" name=""/>
        <dsp:cNvSpPr/>
      </dsp:nvSpPr>
      <dsp:spPr>
        <a:xfrm>
          <a:off x="4713578" y="2308783"/>
          <a:ext cx="3365501" cy="1682750"/>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a:t>More and frequent time is spent.</a:t>
          </a:r>
        </a:p>
      </dsp:txBody>
      <dsp:txXfrm>
        <a:off x="4762864" y="2358069"/>
        <a:ext cx="3266929" cy="1584178"/>
      </dsp:txXfrm>
    </dsp:sp>
    <dsp:sp modelId="{5860E9AF-8A71-471B-8F94-B37F2C668203}">
      <dsp:nvSpPr>
        <dsp:cNvPr id="0" name=""/>
        <dsp:cNvSpPr/>
      </dsp:nvSpPr>
      <dsp:spPr>
        <a:xfrm rot="3340608">
          <a:off x="2844140" y="4074039"/>
          <a:ext cx="2390798" cy="48076"/>
        </a:xfrm>
        <a:custGeom>
          <a:avLst/>
          <a:gdLst/>
          <a:ahLst/>
          <a:cxnLst/>
          <a:rect l="0" t="0" r="0" b="0"/>
          <a:pathLst>
            <a:path>
              <a:moveTo>
                <a:pt x="0" y="24038"/>
              </a:moveTo>
              <a:lnTo>
                <a:pt x="2390798" y="24038"/>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55600">
            <a:lnSpc>
              <a:spcPct val="90000"/>
            </a:lnSpc>
            <a:spcBef>
              <a:spcPct val="0"/>
            </a:spcBef>
            <a:spcAft>
              <a:spcPct val="35000"/>
            </a:spcAft>
          </a:pPr>
          <a:endParaRPr lang="en-US" sz="800" kern="1200"/>
        </a:p>
      </dsp:txBody>
      <dsp:txXfrm>
        <a:off x="3979769" y="4038307"/>
        <a:ext cx="119539" cy="119539"/>
      </dsp:txXfrm>
    </dsp:sp>
    <dsp:sp modelId="{8C986C3A-9D61-4D25-89B5-1E06646EE225}">
      <dsp:nvSpPr>
        <dsp:cNvPr id="0" name=""/>
        <dsp:cNvSpPr/>
      </dsp:nvSpPr>
      <dsp:spPr>
        <a:xfrm>
          <a:off x="4713578" y="4243946"/>
          <a:ext cx="3365501" cy="1682750"/>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a:t>Minor mistakes are overlooked to save from hurt.</a:t>
          </a:r>
        </a:p>
      </dsp:txBody>
      <dsp:txXfrm>
        <a:off x="4762864" y="4293232"/>
        <a:ext cx="3266929" cy="15841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7D2688-98FF-4AE4-ADB4-CAEEAF199D8F}">
      <dsp:nvSpPr>
        <dsp:cNvPr id="0" name=""/>
        <dsp:cNvSpPr/>
      </dsp:nvSpPr>
      <dsp:spPr>
        <a:xfrm>
          <a:off x="0" y="0"/>
          <a:ext cx="7992198" cy="1711125"/>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en-US" sz="2400" kern="1200" dirty="0">
              <a:solidFill>
                <a:schemeClr val="tx1"/>
              </a:solidFill>
            </a:rPr>
            <a:t>The relational dialects are the “tug-of-war” between opposing needs. There are three competing psychological tensions that exist in relationships. </a:t>
          </a:r>
        </a:p>
      </dsp:txBody>
      <dsp:txXfrm>
        <a:off x="83530" y="83530"/>
        <a:ext cx="7825138" cy="1544065"/>
      </dsp:txXfrm>
    </dsp:sp>
    <dsp:sp modelId="{F0D3F440-CDC8-4F48-8D16-EE97D88C92F2}">
      <dsp:nvSpPr>
        <dsp:cNvPr id="0" name=""/>
        <dsp:cNvSpPr/>
      </dsp:nvSpPr>
      <dsp:spPr>
        <a:xfrm>
          <a:off x="0" y="1898323"/>
          <a:ext cx="7992198" cy="215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75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highlight>
                <a:srgbClr val="FFFF00"/>
              </a:highlight>
            </a:rPr>
            <a:t>Autonomy vs. Connection: </a:t>
          </a:r>
          <a:r>
            <a:rPr lang="en-US" sz="2000" i="1" kern="1200" dirty="0"/>
            <a:t>“I need space to work.” vs. “We need to sync. for this project. ”</a:t>
          </a:r>
          <a:br>
            <a:rPr lang="en-US" sz="2000" i="1" kern="1200" dirty="0"/>
          </a:br>
          <a:endParaRPr lang="en-US" sz="2000" kern="1200" dirty="0"/>
        </a:p>
        <a:p>
          <a:pPr marL="228600" lvl="1" indent="-228600" algn="l" defTabSz="889000">
            <a:lnSpc>
              <a:spcPct val="90000"/>
            </a:lnSpc>
            <a:spcBef>
              <a:spcPct val="0"/>
            </a:spcBef>
            <a:spcAft>
              <a:spcPct val="20000"/>
            </a:spcAft>
            <a:buChar char="••"/>
          </a:pPr>
          <a:r>
            <a:rPr lang="en-US" sz="2000" kern="1200" dirty="0">
              <a:highlight>
                <a:srgbClr val="FFFF00"/>
              </a:highlight>
            </a:rPr>
            <a:t>Openness vs. Closeness:</a:t>
          </a:r>
          <a:r>
            <a:rPr lang="en-US" sz="2000" kern="1200" dirty="0"/>
            <a:t> </a:t>
          </a:r>
          <a:r>
            <a:rPr lang="en-US" sz="2000" i="1" kern="1200" dirty="0"/>
            <a:t>“Sharing data/feelings.” vs. “Privacy.”</a:t>
          </a:r>
          <a:br>
            <a:rPr lang="en-US" sz="2000" i="1" kern="1200" dirty="0"/>
          </a:br>
          <a:endParaRPr lang="en-US" sz="2000" kern="1200" dirty="0"/>
        </a:p>
        <a:p>
          <a:pPr marL="228600" lvl="1" indent="-228600" algn="l" defTabSz="889000">
            <a:lnSpc>
              <a:spcPct val="90000"/>
            </a:lnSpc>
            <a:spcBef>
              <a:spcPct val="0"/>
            </a:spcBef>
            <a:spcAft>
              <a:spcPct val="20000"/>
            </a:spcAft>
            <a:buChar char="••"/>
          </a:pPr>
          <a:r>
            <a:rPr lang="en-US" sz="2000" kern="1200" dirty="0">
              <a:highlight>
                <a:srgbClr val="FFFF00"/>
              </a:highlight>
            </a:rPr>
            <a:t>Predictability vs. Novelty: </a:t>
          </a:r>
          <a:r>
            <a:rPr lang="en-US" sz="2000" i="1" kern="1200" dirty="0"/>
            <a:t>“Routine vs. Innovation.”</a:t>
          </a:r>
          <a:endParaRPr lang="en-US" sz="2000" kern="1200" dirty="0"/>
        </a:p>
      </dsp:txBody>
      <dsp:txXfrm>
        <a:off x="0" y="1898323"/>
        <a:ext cx="7992198" cy="21528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6C0F7F-EE8A-4486-843C-DE1165423C2F}"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C04AA7-9317-4077-AE9D-4FAF0EE01E86}" type="slidenum">
              <a:rPr lang="en-US" smtClean="0"/>
              <a:t>‹#›</a:t>
            </a:fld>
            <a:endParaRPr lang="en-US"/>
          </a:p>
        </p:txBody>
      </p:sp>
    </p:spTree>
    <p:extLst>
      <p:ext uri="{BB962C8B-B14F-4D97-AF65-F5344CB8AC3E}">
        <p14:creationId xmlns:p14="http://schemas.microsoft.com/office/powerpoint/2010/main" val="2497892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lone genius narrative is a pervasive cultural myth holding that major innovations, scientific breakthroughs, and artistic masterpieces are produced by solitary, exceptionally gifted individuals acting alone</a:t>
            </a:r>
            <a:r>
              <a:rPr lang="en-US" sz="1200" b="0" i="0" kern="1200" dirty="0">
                <a:solidFill>
                  <a:schemeClr val="tx1"/>
                </a:solidFill>
                <a:effectLst/>
                <a:latin typeface="+mn-lt"/>
                <a:ea typeface="+mn-ea"/>
                <a:cs typeface="+mn-cs"/>
              </a:rPr>
              <a:t>. In reality, breakthroughs are almost always the result of collaboration, accumulated knowledge, and institutional support.</a:t>
            </a:r>
            <a:endParaRPr lang="en-US" dirty="0"/>
          </a:p>
        </p:txBody>
      </p:sp>
      <p:sp>
        <p:nvSpPr>
          <p:cNvPr id="4" name="Slide Number Placeholder 3"/>
          <p:cNvSpPr>
            <a:spLocks noGrp="1"/>
          </p:cNvSpPr>
          <p:nvPr>
            <p:ph type="sldNum" sz="quarter" idx="5"/>
          </p:nvPr>
        </p:nvSpPr>
        <p:spPr/>
        <p:txBody>
          <a:bodyPr/>
          <a:lstStyle/>
          <a:p>
            <a:fld id="{72C04AA7-9317-4077-AE9D-4FAF0EE01E86}" type="slidenum">
              <a:rPr lang="en-US" smtClean="0"/>
              <a:t>3</a:t>
            </a:fld>
            <a:endParaRPr lang="en-US"/>
          </a:p>
        </p:txBody>
      </p:sp>
    </p:spTree>
    <p:extLst>
      <p:ext uri="{BB962C8B-B14F-4D97-AF65-F5344CB8AC3E}">
        <p14:creationId xmlns:p14="http://schemas.microsoft.com/office/powerpoint/2010/main" val="2329301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en-US" sz="1200" dirty="0" smtClean="0">
                <a:solidFill>
                  <a:schemeClr val="tx1"/>
                </a:solidFill>
              </a:rPr>
              <a:t>Example: A best friend or partner you trust with your deepest thoughts.</a:t>
            </a:r>
          </a:p>
          <a:p>
            <a:pPr>
              <a:lnSpc>
                <a:spcPct val="100000"/>
              </a:lnSpc>
            </a:pPr>
            <a:endParaRPr lang="en-US" sz="1200" dirty="0" smtClean="0">
              <a:solidFill>
                <a:schemeClr val="tx1"/>
              </a:solidFill>
            </a:endParaRPr>
          </a:p>
          <a:p>
            <a:endParaRPr lang="en-US" dirty="0"/>
          </a:p>
        </p:txBody>
      </p:sp>
      <p:sp>
        <p:nvSpPr>
          <p:cNvPr id="4" name="Slide Number Placeholder 3"/>
          <p:cNvSpPr>
            <a:spLocks noGrp="1"/>
          </p:cNvSpPr>
          <p:nvPr>
            <p:ph type="sldNum" sz="quarter" idx="10"/>
          </p:nvPr>
        </p:nvSpPr>
        <p:spPr/>
        <p:txBody>
          <a:bodyPr/>
          <a:lstStyle/>
          <a:p>
            <a:fld id="{72C04AA7-9317-4077-AE9D-4FAF0EE01E86}" type="slidenum">
              <a:rPr lang="en-US" smtClean="0"/>
              <a:t>4</a:t>
            </a:fld>
            <a:endParaRPr lang="en-US"/>
          </a:p>
        </p:txBody>
      </p:sp>
    </p:spTree>
    <p:extLst>
      <p:ext uri="{BB962C8B-B14F-4D97-AF65-F5344CB8AC3E}">
        <p14:creationId xmlns:p14="http://schemas.microsoft.com/office/powerpoint/2010/main" val="76777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C04AA7-9317-4077-AE9D-4FAF0EE01E86}" type="slidenum">
              <a:rPr lang="en-US" smtClean="0"/>
              <a:t>11</a:t>
            </a:fld>
            <a:endParaRPr lang="en-US"/>
          </a:p>
        </p:txBody>
      </p:sp>
    </p:spTree>
    <p:extLst>
      <p:ext uri="{BB962C8B-B14F-4D97-AF65-F5344CB8AC3E}">
        <p14:creationId xmlns:p14="http://schemas.microsoft.com/office/powerpoint/2010/main" val="62998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Autonomy vs. Connection</a:t>
            </a:r>
          </a:p>
          <a:p>
            <a:r>
              <a:rPr lang="en-US" b="1" dirty="0"/>
              <a:t>Autonomy (independence):</a:t>
            </a:r>
            <a:r>
              <a:rPr lang="en-US" dirty="0"/>
              <a:t/>
            </a:r>
            <a:br>
              <a:rPr lang="en-US" dirty="0"/>
            </a:br>
            <a:r>
              <a:rPr lang="en-US" dirty="0"/>
              <a:t>“I’ll finish my part of the project on my own and update you later.” </a:t>
            </a:r>
          </a:p>
          <a:p>
            <a:r>
              <a:rPr lang="en-US" b="1" dirty="0"/>
              <a:t>Connection (collaboration):</a:t>
            </a:r>
            <a:r>
              <a:rPr lang="en-US" dirty="0"/>
              <a:t/>
            </a:r>
            <a:br>
              <a:rPr lang="en-US" dirty="0"/>
            </a:br>
            <a:r>
              <a:rPr lang="en-US" dirty="0"/>
              <a:t>“Let’s have a quick meeting to make sure we’re on the same page before we continue.” </a:t>
            </a:r>
          </a:p>
          <a:p>
            <a:r>
              <a:rPr lang="en-US" dirty="0"/>
              <a:t/>
            </a:r>
            <a:br>
              <a:rPr lang="en-US" dirty="0"/>
            </a:br>
            <a:endParaRPr lang="en-US" dirty="0"/>
          </a:p>
          <a:p>
            <a:r>
              <a:rPr lang="en-US" b="1" dirty="0"/>
              <a:t>2. Openness vs. Closeness</a:t>
            </a:r>
          </a:p>
          <a:p>
            <a:r>
              <a:rPr lang="en-US" b="1" dirty="0"/>
              <a:t>Openness (sharing):</a:t>
            </a:r>
            <a:r>
              <a:rPr lang="en-US" dirty="0"/>
              <a:t/>
            </a:r>
            <a:br>
              <a:rPr lang="en-US" dirty="0"/>
            </a:br>
            <a:r>
              <a:rPr lang="en-US" dirty="0"/>
              <a:t>“I’m feeling stressed about this deadline, and I think I need help.” </a:t>
            </a:r>
          </a:p>
          <a:p>
            <a:r>
              <a:rPr lang="en-US" b="1" dirty="0"/>
              <a:t>Closeness (privacy):</a:t>
            </a:r>
            <a:r>
              <a:rPr lang="en-US" dirty="0"/>
              <a:t/>
            </a:r>
            <a:br>
              <a:rPr lang="en-US" dirty="0"/>
            </a:br>
            <a:r>
              <a:rPr lang="en-US" dirty="0"/>
              <a:t>“I’d prefer to keep my personal concerns to myself and focus on the work.” </a:t>
            </a:r>
          </a:p>
          <a:p>
            <a:r>
              <a:rPr lang="en-US" dirty="0"/>
              <a:t/>
            </a:r>
            <a:br>
              <a:rPr lang="en-US" dirty="0"/>
            </a:br>
            <a:endParaRPr lang="en-US" dirty="0"/>
          </a:p>
          <a:p>
            <a:r>
              <a:rPr lang="en-US" b="1" dirty="0"/>
              <a:t>3. Predictability vs. Novelty</a:t>
            </a:r>
          </a:p>
          <a:p>
            <a:r>
              <a:rPr lang="en-US" b="1" dirty="0"/>
              <a:t>Predictability (routine):</a:t>
            </a:r>
            <a:r>
              <a:rPr lang="en-US" dirty="0"/>
              <a:t/>
            </a:r>
            <a:br>
              <a:rPr lang="en-US" dirty="0"/>
            </a:br>
            <a:r>
              <a:rPr lang="en-US" dirty="0"/>
              <a:t>“Let’s follow the same process we used last time—it worked well.” </a:t>
            </a:r>
          </a:p>
          <a:p>
            <a:r>
              <a:rPr lang="en-US" b="1" dirty="0"/>
              <a:t>Novelty (change/innovation):</a:t>
            </a:r>
            <a:r>
              <a:rPr lang="en-US" dirty="0"/>
              <a:t/>
            </a:r>
            <a:br>
              <a:rPr lang="en-US" dirty="0"/>
            </a:br>
            <a:r>
              <a:rPr lang="en-US" dirty="0"/>
              <a:t>“Why don’t we try a new approach this time to see if we can get better results?” </a:t>
            </a:r>
          </a:p>
          <a:p>
            <a:endParaRPr lang="en-US" dirty="0"/>
          </a:p>
        </p:txBody>
      </p:sp>
      <p:sp>
        <p:nvSpPr>
          <p:cNvPr id="4" name="Slide Number Placeholder 3"/>
          <p:cNvSpPr>
            <a:spLocks noGrp="1"/>
          </p:cNvSpPr>
          <p:nvPr>
            <p:ph type="sldNum" sz="quarter" idx="5"/>
          </p:nvPr>
        </p:nvSpPr>
        <p:spPr/>
        <p:txBody>
          <a:bodyPr/>
          <a:lstStyle/>
          <a:p>
            <a:fld id="{72C04AA7-9317-4077-AE9D-4FAF0EE01E86}" type="slidenum">
              <a:rPr lang="en-US" smtClean="0"/>
              <a:t>12</a:t>
            </a:fld>
            <a:endParaRPr lang="en-US"/>
          </a:p>
        </p:txBody>
      </p:sp>
    </p:spTree>
    <p:extLst>
      <p:ext uri="{BB962C8B-B14F-4D97-AF65-F5344CB8AC3E}">
        <p14:creationId xmlns:p14="http://schemas.microsoft.com/office/powerpoint/2010/main" val="1100299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C04AA7-9317-4077-AE9D-4FAF0EE01E86}" type="slidenum">
              <a:rPr lang="en-US" smtClean="0"/>
              <a:t>14</a:t>
            </a:fld>
            <a:endParaRPr lang="en-US"/>
          </a:p>
        </p:txBody>
      </p:sp>
    </p:spTree>
    <p:extLst>
      <p:ext uri="{BB962C8B-B14F-4D97-AF65-F5344CB8AC3E}">
        <p14:creationId xmlns:p14="http://schemas.microsoft.com/office/powerpoint/2010/main" val="1423364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9BC72F-C1B8-44FC-840A-863B1AF86726}" type="slidenum">
              <a:rPr lang="en-US" smtClean="0"/>
              <a:t>22</a:t>
            </a:fld>
            <a:endParaRPr lang="en-US"/>
          </a:p>
        </p:txBody>
      </p:sp>
    </p:spTree>
    <p:extLst>
      <p:ext uri="{BB962C8B-B14F-4D97-AF65-F5344CB8AC3E}">
        <p14:creationId xmlns:p14="http://schemas.microsoft.com/office/powerpoint/2010/main" val="2844860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9BC72F-C1B8-44FC-840A-863B1AF86726}" type="slidenum">
              <a:rPr lang="en-US" smtClean="0"/>
              <a:t>24</a:t>
            </a:fld>
            <a:endParaRPr lang="en-US"/>
          </a:p>
        </p:txBody>
      </p:sp>
    </p:spTree>
    <p:extLst>
      <p:ext uri="{BB962C8B-B14F-4D97-AF65-F5344CB8AC3E}">
        <p14:creationId xmlns:p14="http://schemas.microsoft.com/office/powerpoint/2010/main" val="2247980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9BC72F-C1B8-44FC-840A-863B1AF86726}" type="slidenum">
              <a:rPr lang="en-US" smtClean="0"/>
              <a:t>26</a:t>
            </a:fld>
            <a:endParaRPr lang="en-US"/>
          </a:p>
        </p:txBody>
      </p:sp>
    </p:spTree>
    <p:extLst>
      <p:ext uri="{BB962C8B-B14F-4D97-AF65-F5344CB8AC3E}">
        <p14:creationId xmlns:p14="http://schemas.microsoft.com/office/powerpoint/2010/main" val="3786207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Passive Behavior</a:t>
            </a:r>
          </a:p>
          <a:p>
            <a:r>
              <a:rPr lang="en-US" dirty="0"/>
              <a:t>Passive people avoid expressing their opinions or needs to prevent conflict. This can lead to frustration and resentment because their concerns remain unspoken.</a:t>
            </a:r>
          </a:p>
          <a:p>
            <a:r>
              <a:rPr lang="en-US" b="1" dirty="0"/>
              <a:t>2. Assertive Behavior</a:t>
            </a:r>
          </a:p>
          <a:p>
            <a:r>
              <a:rPr lang="en-US" dirty="0"/>
              <a:t>Assertive people express their thoughts, feelings, and needs clearly while respecting others. This approach encourages healthy communication and problem-solving.</a:t>
            </a:r>
          </a:p>
          <a:p>
            <a:r>
              <a:rPr lang="en-US" b="1" dirty="0"/>
              <a:t>3. Aggressive Behavior</a:t>
            </a:r>
          </a:p>
          <a:p>
            <a:r>
              <a:rPr lang="en-US" dirty="0"/>
              <a:t>Aggressive people express their opinions or needs in a way that violates or disrespects others. This often creates tension, resentment, and escalates conflicts.</a:t>
            </a:r>
          </a:p>
        </p:txBody>
      </p:sp>
      <p:sp>
        <p:nvSpPr>
          <p:cNvPr id="4" name="Slide Number Placeholder 3"/>
          <p:cNvSpPr>
            <a:spLocks noGrp="1"/>
          </p:cNvSpPr>
          <p:nvPr>
            <p:ph type="sldNum" sz="quarter" idx="5"/>
          </p:nvPr>
        </p:nvSpPr>
        <p:spPr/>
        <p:txBody>
          <a:bodyPr/>
          <a:lstStyle/>
          <a:p>
            <a:fld id="{72C04AA7-9317-4077-AE9D-4FAF0EE01E86}" type="slidenum">
              <a:rPr lang="en-US" smtClean="0"/>
              <a:t>31</a:t>
            </a:fld>
            <a:endParaRPr lang="en-US"/>
          </a:p>
        </p:txBody>
      </p:sp>
    </p:spTree>
    <p:extLst>
      <p:ext uri="{BB962C8B-B14F-4D97-AF65-F5344CB8AC3E}">
        <p14:creationId xmlns:p14="http://schemas.microsoft.com/office/powerpoint/2010/main" val="2024601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9BC72F-C1B8-44FC-840A-863B1AF86726}" type="slidenum">
              <a:rPr lang="en-US" smtClean="0"/>
              <a:t>32</a:t>
            </a:fld>
            <a:endParaRPr lang="en-US"/>
          </a:p>
        </p:txBody>
      </p:sp>
    </p:spTree>
    <p:extLst>
      <p:ext uri="{BB962C8B-B14F-4D97-AF65-F5344CB8AC3E}">
        <p14:creationId xmlns:p14="http://schemas.microsoft.com/office/powerpoint/2010/main" val="2962467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9BC72F-C1B8-44FC-840A-863B1AF86726}" type="slidenum">
              <a:rPr lang="en-US" smtClean="0"/>
              <a:t>33</a:t>
            </a:fld>
            <a:endParaRPr lang="en-US"/>
          </a:p>
        </p:txBody>
      </p:sp>
    </p:spTree>
    <p:extLst>
      <p:ext uri="{BB962C8B-B14F-4D97-AF65-F5344CB8AC3E}">
        <p14:creationId xmlns:p14="http://schemas.microsoft.com/office/powerpoint/2010/main" val="3783787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28FA71-3A18-48C0-980F-4B68F7F63042}" type="datetime1">
              <a:rPr lang="en-US" smtClean="0"/>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74185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C1210E-201E-4473-82AC-2466F5386C38}" type="datetime1">
              <a:rPr lang="en-US" smtClean="0"/>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79874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EA198-6CAB-4B8F-B93F-1F9C8C4B6CE7}" type="datetime1">
              <a:rPr lang="en-US" smtClean="0"/>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95616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6041F-4525-44D5-AA4F-332294BF1F56}" type="datetime1">
              <a:rPr lang="en-US" smtClean="0"/>
              <a:t>4/2/2026</a:t>
            </a:fld>
            <a:endParaRPr lang="en-US"/>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23407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557091-BBDF-4EB9-BA6B-2BB67AC4FC0F}" type="datetime1">
              <a:rPr lang="en-US" smtClean="0"/>
              <a:t>4/2/2026</a:t>
            </a:fld>
            <a:endParaRPr lang="en-US"/>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91127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6B226B-77A6-410C-9796-083F278E0125}" type="datetime1">
              <a:rPr lang="en-US" smtClean="0"/>
              <a:t>4/2/2026</a:t>
            </a:fld>
            <a:endParaRPr lang="en-US"/>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71325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A578B-D289-4C40-8593-3D356C49DA58}" type="datetime1">
              <a:rPr lang="en-US" smtClean="0"/>
              <a:t>4/2/2026</a:t>
            </a:fld>
            <a:endParaRPr lang="en-US"/>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25358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3DFAE3-14DB-48A7-A80F-80DDB072CE3D}" type="datetime1">
              <a:rPr lang="en-US" smtClean="0"/>
              <a:t>4/2/2026</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24250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t>4/2/2026</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69994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3029958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C057153-B650-4DEB-B370-79DDCFDCE934}"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9142782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7F45AC6-C491-4585-A584-9CE2AF7D5500}" type="datetime1">
              <a:rPr lang="en-US" smtClean="0"/>
              <a:t>4/2/2026</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8369383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7F45AC6-C491-4585-A584-9CE2AF7D5500}" type="datetime1">
              <a:rPr lang="en-US" smtClean="0"/>
              <a:t>4/2/2026</a:t>
            </a:fld>
            <a:endParaRPr lang="en-US"/>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C057153-B650-4DEB-B370-79DDCFDCE934}"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3093982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7F45AC6-C491-4585-A584-9CE2AF7D5500}" type="datetime1">
              <a:rPr lang="en-US" smtClean="0"/>
              <a:t>4/2/2026</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931571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4EDB3-C0E8-45F8-9E1D-1B6C8D1880C0}" type="datetime1">
              <a:rPr lang="en-US" smtClean="0"/>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893499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t>4/2/2026</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09408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7F45AC6-C491-4585-A584-9CE2AF7D5500}" type="datetime1">
              <a:rPr lang="en-US" smtClean="0"/>
              <a:t>4/2/2026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26072938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f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Hands holding each other's wrists and interlinked to form a circle">
            <a:extLst>
              <a:ext uri="{FF2B5EF4-FFF2-40B4-BE49-F238E27FC236}">
                <a16:creationId xmlns="" xmlns:a16="http://schemas.microsoft.com/office/drawing/2014/main" id="{C493EC22-19A6-4918-EF39-647E4721B04F}"/>
              </a:ext>
            </a:extLst>
          </p:cNvPr>
          <p:cNvPicPr>
            <a:picLocks noChangeAspect="1"/>
          </p:cNvPicPr>
          <p:nvPr/>
        </p:nvPicPr>
        <p:blipFill>
          <a:blip r:embed="rId2">
            <a:alphaModFix amt="60000"/>
          </a:blip>
          <a:srcRect b="15730"/>
          <a:stretch>
            <a:fillRect/>
          </a:stretch>
        </p:blipFill>
        <p:spPr>
          <a:xfrm>
            <a:off x="14748" y="-176980"/>
            <a:ext cx="12192000" cy="6857999"/>
          </a:xfrm>
          <a:prstGeom prst="rect">
            <a:avLst/>
          </a:prstGeom>
        </p:spPr>
      </p:pic>
      <p:sp>
        <p:nvSpPr>
          <p:cNvPr id="2" name="Title 1">
            <a:extLst>
              <a:ext uri="{FF2B5EF4-FFF2-40B4-BE49-F238E27FC236}">
                <a16:creationId xmlns="" xmlns:a16="http://schemas.microsoft.com/office/drawing/2014/main" id="{F95001D6-4AF0-3D88-7024-481B27C96948}"/>
              </a:ext>
            </a:extLst>
          </p:cNvPr>
          <p:cNvSpPr>
            <a:spLocks noGrp="1"/>
          </p:cNvSpPr>
          <p:nvPr>
            <p:ph type="ctrTitle"/>
          </p:nvPr>
        </p:nvSpPr>
        <p:spPr>
          <a:xfrm>
            <a:off x="2301923" y="1482602"/>
            <a:ext cx="7588155" cy="2236264"/>
          </a:xfrm>
        </p:spPr>
        <p:txBody>
          <a:bodyPr>
            <a:normAutofit/>
          </a:bodyPr>
          <a:lstStyle/>
          <a:p>
            <a:r>
              <a:rPr lang="en-US" sz="5000" dirty="0">
                <a:solidFill>
                  <a:srgbClr val="FFFFFF"/>
                </a:solidFill>
              </a:rPr>
              <a:t>Ch. 7. Interpersonal Relationships </a:t>
            </a:r>
            <a:br>
              <a:rPr lang="en-US" sz="5000" dirty="0">
                <a:solidFill>
                  <a:srgbClr val="FFFFFF"/>
                </a:solidFill>
              </a:rPr>
            </a:br>
            <a:r>
              <a:rPr lang="en-US" sz="3600" dirty="0">
                <a:solidFill>
                  <a:srgbClr val="FFFFFF"/>
                </a:solidFill>
              </a:rPr>
              <a:t>(CLO-4)</a:t>
            </a:r>
            <a:endParaRPr lang="en-US" sz="5000" dirty="0">
              <a:solidFill>
                <a:srgbClr val="FFFFFF"/>
              </a:solidFill>
            </a:endParaRPr>
          </a:p>
        </p:txBody>
      </p:sp>
      <p:sp>
        <p:nvSpPr>
          <p:cNvPr id="3" name="Subtitle 2">
            <a:extLst>
              <a:ext uri="{FF2B5EF4-FFF2-40B4-BE49-F238E27FC236}">
                <a16:creationId xmlns="" xmlns:a16="http://schemas.microsoft.com/office/drawing/2014/main" id="{62911E46-90F8-8AED-763D-385CDC63E7DB}"/>
              </a:ext>
            </a:extLst>
          </p:cNvPr>
          <p:cNvSpPr>
            <a:spLocks noGrp="1"/>
          </p:cNvSpPr>
          <p:nvPr>
            <p:ph type="subTitle" idx="1"/>
          </p:nvPr>
        </p:nvSpPr>
        <p:spPr>
          <a:xfrm>
            <a:off x="2301923" y="4079072"/>
            <a:ext cx="7588155" cy="1741624"/>
          </a:xfrm>
        </p:spPr>
        <p:txBody>
          <a:bodyPr>
            <a:normAutofit lnSpcReduction="10000"/>
          </a:bodyPr>
          <a:lstStyle/>
          <a:p>
            <a:r>
              <a:rPr lang="en-US" sz="2200" dirty="0">
                <a:solidFill>
                  <a:srgbClr val="FFFFFF"/>
                </a:solidFill>
              </a:rPr>
              <a:t>EE. 4ABC. Spring 2026</a:t>
            </a:r>
          </a:p>
          <a:p>
            <a:r>
              <a:rPr lang="en-US" sz="2600" dirty="0">
                <a:solidFill>
                  <a:srgbClr val="FFFFFF"/>
                </a:solidFill>
              </a:rPr>
              <a:t>Technical Communication Skills Course (SS2011)</a:t>
            </a:r>
          </a:p>
          <a:p>
            <a:r>
              <a:rPr lang="en-US" sz="2200" dirty="0">
                <a:solidFill>
                  <a:srgbClr val="FFFFFF"/>
                </a:solidFill>
              </a:rPr>
              <a:t>2 Cr. Hrs.</a:t>
            </a:r>
          </a:p>
        </p:txBody>
      </p:sp>
    </p:spTree>
    <p:extLst>
      <p:ext uri="{BB962C8B-B14F-4D97-AF65-F5344CB8AC3E}">
        <p14:creationId xmlns:p14="http://schemas.microsoft.com/office/powerpoint/2010/main" val="120212670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type="wd">
                                    <p:tmPct val="15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1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000"/>
                                  </p:stCondLst>
                                  <p:iterate type="wd">
                                    <p:tmPct val="15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D7577E-A56D-4A30-77BC-A5E74DF51C41}"/>
              </a:ext>
            </a:extLst>
          </p:cNvPr>
          <p:cNvSpPr>
            <a:spLocks noGrp="1"/>
          </p:cNvSpPr>
          <p:nvPr>
            <p:ph type="title"/>
          </p:nvPr>
        </p:nvSpPr>
        <p:spPr>
          <a:xfrm>
            <a:off x="419099" y="548640"/>
            <a:ext cx="11516227" cy="670720"/>
          </a:xfrm>
        </p:spPr>
        <p:style>
          <a:lnRef idx="2">
            <a:schemeClr val="accent1"/>
          </a:lnRef>
          <a:fillRef idx="1">
            <a:schemeClr val="lt1"/>
          </a:fillRef>
          <a:effectRef idx="0">
            <a:schemeClr val="accent1"/>
          </a:effectRef>
          <a:fontRef idx="minor">
            <a:schemeClr val="dk1"/>
          </a:fontRef>
        </p:style>
        <p:txBody>
          <a:bodyPr anchor="b">
            <a:normAutofit/>
          </a:bodyPr>
          <a:lstStyle/>
          <a:p>
            <a:r>
              <a:rPr lang="en-US" sz="2800" dirty="0"/>
              <a:t>Interpersonal Communication v/s Interpersonal Relationships</a:t>
            </a:r>
          </a:p>
        </p:txBody>
      </p:sp>
      <p:sp>
        <p:nvSpPr>
          <p:cNvPr id="3" name="Content Placeholder 2">
            <a:extLst>
              <a:ext uri="{FF2B5EF4-FFF2-40B4-BE49-F238E27FC236}">
                <a16:creationId xmlns="" xmlns:a16="http://schemas.microsoft.com/office/drawing/2014/main" id="{DD038308-514B-CFD9-6330-BDD4E484C3B3}"/>
              </a:ext>
            </a:extLst>
          </p:cNvPr>
          <p:cNvSpPr>
            <a:spLocks noGrp="1"/>
          </p:cNvSpPr>
          <p:nvPr>
            <p:ph idx="1"/>
          </p:nvPr>
        </p:nvSpPr>
        <p:spPr>
          <a:xfrm>
            <a:off x="419099" y="1627854"/>
            <a:ext cx="9174079" cy="5230146"/>
          </a:xfrm>
          <a:solidFill>
            <a:schemeClr val="bg1"/>
          </a:solidFill>
        </p:spPr>
        <p:txBody>
          <a:bodyPr>
            <a:normAutofit/>
          </a:bodyPr>
          <a:lstStyle/>
          <a:p>
            <a:pPr marL="0" indent="0" algn="just">
              <a:lnSpc>
                <a:spcPct val="110000"/>
              </a:lnSpc>
              <a:buNone/>
            </a:pPr>
            <a:r>
              <a:rPr lang="en-US" b="1" dirty="0"/>
              <a:t>Interpersonal Communication</a:t>
            </a:r>
            <a:r>
              <a:rPr lang="en-US" dirty="0"/>
              <a:t>: all those interactions that occur between two people to help start, build, maintain, end, or redefine our interpersonal relationships. </a:t>
            </a:r>
          </a:p>
          <a:p>
            <a:pPr algn="just">
              <a:lnSpc>
                <a:spcPct val="110000"/>
              </a:lnSpc>
            </a:pPr>
            <a:r>
              <a:rPr lang="en-US" dirty="0"/>
              <a:t>These are on professional grounds; </a:t>
            </a:r>
            <a:r>
              <a:rPr lang="en-US" i="1" dirty="0"/>
              <a:t>mentors, peers, sub-ordinates, clients, other professionals.</a:t>
            </a:r>
          </a:p>
          <a:p>
            <a:pPr marL="0" indent="0" algn="just">
              <a:lnSpc>
                <a:spcPct val="110000"/>
              </a:lnSpc>
              <a:buNone/>
            </a:pPr>
            <a:r>
              <a:rPr lang="en-US" b="1" dirty="0"/>
              <a:t>Interpersonal Relationships:</a:t>
            </a:r>
            <a:r>
              <a:rPr lang="en-US" dirty="0"/>
              <a:t> the sets of expectations two people have for each other based on their previous interactions (Little john &amp; Foss, 2011).</a:t>
            </a:r>
          </a:p>
          <a:p>
            <a:pPr algn="just">
              <a:lnSpc>
                <a:spcPct val="110000"/>
              </a:lnSpc>
            </a:pPr>
            <a:r>
              <a:rPr lang="en-US" dirty="0"/>
              <a:t>These are on personal grounds; </a:t>
            </a:r>
            <a:r>
              <a:rPr lang="en-US" i="1" dirty="0"/>
              <a:t>family, friendships, life partners.</a:t>
            </a:r>
          </a:p>
          <a:p>
            <a:pPr algn="just">
              <a:lnSpc>
                <a:spcPct val="110000"/>
              </a:lnSpc>
            </a:pPr>
            <a:r>
              <a:rPr lang="en-US" dirty="0"/>
              <a:t>They help satisfy our innate human need to feel connected with others.</a:t>
            </a:r>
          </a:p>
          <a:p>
            <a:pPr algn="just">
              <a:lnSpc>
                <a:spcPct val="110000"/>
              </a:lnSpc>
            </a:pPr>
            <a:r>
              <a:rPr lang="en-US" dirty="0"/>
              <a:t>Healthy relationships are satisfying and beneficial to all those involved.</a:t>
            </a:r>
          </a:p>
          <a:p>
            <a:pPr algn="just">
              <a:lnSpc>
                <a:spcPct val="110000"/>
              </a:lnSpc>
            </a:pPr>
            <a:r>
              <a:rPr lang="en-US" dirty="0"/>
              <a:t>Unhealthy ones do the opposite: dissatisfying, counterproductive, and are damaging.</a:t>
            </a:r>
          </a:p>
        </p:txBody>
      </p:sp>
      <p:pic>
        <p:nvPicPr>
          <p:cNvPr id="7" name="Graphic 6" descr="Share With Person">
            <a:extLst>
              <a:ext uri="{FF2B5EF4-FFF2-40B4-BE49-F238E27FC236}">
                <a16:creationId xmlns="" xmlns:a16="http://schemas.microsoft.com/office/drawing/2014/main" id="{719BB5DC-8D56-02CE-0D58-9615DD5F9F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p:blipFill>
        <p:spPr>
          <a:xfrm>
            <a:off x="9593178" y="1219360"/>
            <a:ext cx="2470485" cy="5230146"/>
          </a:xfrm>
          <a:prstGeom prst="rect">
            <a:avLst/>
          </a:prstGeom>
        </p:spPr>
      </p:pic>
      <p:pic>
        <p:nvPicPr>
          <p:cNvPr id="4" name="Picture 3"/>
          <p:cNvPicPr>
            <a:picLocks noChangeAspect="1"/>
          </p:cNvPicPr>
          <p:nvPr/>
        </p:nvPicPr>
        <p:blipFill>
          <a:blip r:embed="rId3"/>
          <a:stretch>
            <a:fillRect/>
          </a:stretch>
        </p:blipFill>
        <p:spPr>
          <a:xfrm>
            <a:off x="9593178" y="1300162"/>
            <a:ext cx="2598822" cy="4069280"/>
          </a:xfrm>
          <a:prstGeom prst="rect">
            <a:avLst/>
          </a:prstGeom>
        </p:spPr>
      </p:pic>
    </p:spTree>
    <p:extLst>
      <p:ext uri="{BB962C8B-B14F-4D97-AF65-F5344CB8AC3E}">
        <p14:creationId xmlns:p14="http://schemas.microsoft.com/office/powerpoint/2010/main" val="1906339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15EFDD-B3AD-6B56-5E74-8D26FE44BCF6}"/>
              </a:ext>
            </a:extLst>
          </p:cNvPr>
          <p:cNvSpPr>
            <a:spLocks noGrp="1"/>
          </p:cNvSpPr>
          <p:nvPr>
            <p:ph type="title"/>
          </p:nvPr>
        </p:nvSpPr>
        <p:spPr>
          <a:xfrm>
            <a:off x="323893" y="548638"/>
            <a:ext cx="3361283" cy="5788152"/>
          </a:xfrm>
        </p:spPr>
        <p:style>
          <a:lnRef idx="2">
            <a:schemeClr val="accent1"/>
          </a:lnRef>
          <a:fillRef idx="1">
            <a:schemeClr val="lt1"/>
          </a:fillRef>
          <a:effectRef idx="0">
            <a:schemeClr val="accent1"/>
          </a:effectRef>
          <a:fontRef idx="minor">
            <a:schemeClr val="dk1"/>
          </a:fontRef>
        </p:style>
        <p:txBody>
          <a:bodyPr anchor="ctr">
            <a:normAutofit/>
          </a:bodyPr>
          <a:lstStyle/>
          <a:p>
            <a:r>
              <a:rPr lang="en-US" sz="3200" b="1" dirty="0"/>
              <a:t>Why engineers need this skill and understanding?</a:t>
            </a:r>
          </a:p>
        </p:txBody>
      </p:sp>
      <p:graphicFrame>
        <p:nvGraphicFramePr>
          <p:cNvPr id="5" name="Content Placeholder 2">
            <a:extLst>
              <a:ext uri="{FF2B5EF4-FFF2-40B4-BE49-F238E27FC236}">
                <a16:creationId xmlns="" xmlns:a16="http://schemas.microsoft.com/office/drawing/2014/main" id="{AD62D076-0E6A-BC82-B9DA-12AEF2965539}"/>
              </a:ext>
            </a:extLst>
          </p:cNvPr>
          <p:cNvGraphicFramePr>
            <a:graphicFrameLocks noGrp="1"/>
          </p:cNvGraphicFramePr>
          <p:nvPr>
            <p:ph idx="1"/>
            <p:extLst>
              <p:ext uri="{D42A27DB-BD31-4B8C-83A1-F6EECF244321}">
                <p14:modId xmlns:p14="http://schemas.microsoft.com/office/powerpoint/2010/main" val="1878618345"/>
              </p:ext>
            </p:extLst>
          </p:nvPr>
        </p:nvGraphicFramePr>
        <p:xfrm>
          <a:off x="3842544" y="294450"/>
          <a:ext cx="8025563" cy="66815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9275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5A9A4D-4800-4C84-1440-D5C3B2C09586}"/>
              </a:ext>
            </a:extLst>
          </p:cNvPr>
          <p:cNvSpPr>
            <a:spLocks noGrp="1"/>
          </p:cNvSpPr>
          <p:nvPr>
            <p:ph type="title"/>
          </p:nvPr>
        </p:nvSpPr>
        <p:spPr>
          <a:xfrm>
            <a:off x="2986213" y="-96253"/>
            <a:ext cx="9133598" cy="850232"/>
          </a:xfrm>
        </p:spPr>
        <p:txBody>
          <a:bodyPr anchor="ctr">
            <a:normAutofit/>
          </a:bodyPr>
          <a:lstStyle/>
          <a:p>
            <a:r>
              <a:rPr lang="en-US" sz="3200" dirty="0">
                <a:latin typeface="Times New Roman" panose="02020603050405020304" pitchFamily="18" charset="0"/>
                <a:cs typeface="Times New Roman" panose="02020603050405020304" pitchFamily="18" charset="0"/>
              </a:rPr>
              <a:t>Types of Relationships</a:t>
            </a:r>
          </a:p>
        </p:txBody>
      </p:sp>
      <p:sp>
        <p:nvSpPr>
          <p:cNvPr id="4" name="Content Placeholder 3">
            <a:extLst>
              <a:ext uri="{FF2B5EF4-FFF2-40B4-BE49-F238E27FC236}">
                <a16:creationId xmlns="" xmlns:a16="http://schemas.microsoft.com/office/drawing/2014/main" id="{F0DD3BAA-D545-14F7-AF09-87BFDA88315F}"/>
              </a:ext>
            </a:extLst>
          </p:cNvPr>
          <p:cNvSpPr>
            <a:spLocks noGrp="1"/>
          </p:cNvSpPr>
          <p:nvPr>
            <p:ph idx="1"/>
          </p:nvPr>
        </p:nvSpPr>
        <p:spPr>
          <a:xfrm>
            <a:off x="1" y="563526"/>
            <a:ext cx="12429460" cy="6294474"/>
          </a:xfrm>
          <a:solidFill>
            <a:schemeClr val="bg1"/>
          </a:solidFill>
        </p:spPr>
        <p:txBody>
          <a:bodyPr>
            <a:noAutofit/>
          </a:bodyPr>
          <a:lstStyle/>
          <a:p>
            <a:pPr marL="0" indent="0">
              <a:lnSpc>
                <a:spcPct val="100000"/>
              </a:lnSpc>
              <a:buNone/>
            </a:pPr>
            <a:r>
              <a:rPr lang="en-US" sz="2000" dirty="0">
                <a:solidFill>
                  <a:schemeClr val="tx1"/>
                </a:solidFill>
              </a:rPr>
              <a:t>The difference is mainly about </a:t>
            </a:r>
            <a:r>
              <a:rPr lang="en-US" sz="2000" b="1" dirty="0">
                <a:solidFill>
                  <a:schemeClr val="tx1"/>
                </a:solidFill>
              </a:rPr>
              <a:t>level of closeness, trust, and sharing</a:t>
            </a:r>
            <a:r>
              <a:rPr lang="en-US" sz="2000" dirty="0">
                <a:solidFill>
                  <a:schemeClr val="tx1"/>
                </a:solidFill>
              </a:rPr>
              <a:t>:</a:t>
            </a:r>
          </a:p>
          <a:p>
            <a:pPr marL="0" indent="0">
              <a:buNone/>
            </a:pPr>
            <a:r>
              <a:rPr lang="en-US" sz="2000" b="1" dirty="0">
                <a:solidFill>
                  <a:schemeClr val="tx1"/>
                </a:solidFill>
              </a:rPr>
              <a:t>1. Acquaintance</a:t>
            </a:r>
          </a:p>
          <a:p>
            <a:r>
              <a:rPr lang="en-US" sz="2000" dirty="0">
                <a:solidFill>
                  <a:schemeClr val="tx1"/>
                </a:solidFill>
              </a:rPr>
              <a:t>Very limited connection </a:t>
            </a:r>
          </a:p>
          <a:p>
            <a:r>
              <a:rPr lang="en-US" sz="2000" dirty="0">
                <a:solidFill>
                  <a:schemeClr val="tx1"/>
                </a:solidFill>
              </a:rPr>
              <a:t>Basic interaction (e.g., greetings, small talk) </a:t>
            </a:r>
          </a:p>
          <a:p>
            <a:r>
              <a:rPr lang="en-US" sz="2000" dirty="0">
                <a:solidFill>
                  <a:schemeClr val="tx1"/>
                </a:solidFill>
              </a:rPr>
              <a:t>No deep personal sharing. Example: Someone in your class you say “hello” </a:t>
            </a:r>
            <a:r>
              <a:rPr lang="en-US" sz="2000" dirty="0" smtClean="0">
                <a:solidFill>
                  <a:schemeClr val="tx1"/>
                </a:solidFill>
              </a:rPr>
              <a:t>but </a:t>
            </a:r>
            <a:r>
              <a:rPr lang="en-US" sz="2000" dirty="0">
                <a:solidFill>
                  <a:schemeClr val="tx1"/>
                </a:solidFill>
              </a:rPr>
              <a:t>don’t really </a:t>
            </a:r>
            <a:r>
              <a:rPr lang="en-US" sz="2000" dirty="0" smtClean="0">
                <a:solidFill>
                  <a:schemeClr val="tx1"/>
                </a:solidFill>
              </a:rPr>
              <a:t>know</a:t>
            </a:r>
            <a:endParaRPr lang="en-US" sz="2000" dirty="0">
              <a:solidFill>
                <a:schemeClr val="tx1"/>
              </a:solidFill>
            </a:endParaRPr>
          </a:p>
          <a:p>
            <a:pPr marL="0" indent="0">
              <a:buNone/>
            </a:pPr>
            <a:r>
              <a:rPr lang="en-US" sz="2000" b="1" dirty="0">
                <a:solidFill>
                  <a:schemeClr val="tx1"/>
                </a:solidFill>
              </a:rPr>
              <a:t>2. Friend</a:t>
            </a:r>
          </a:p>
          <a:p>
            <a:r>
              <a:rPr lang="en-US" sz="2000" dirty="0">
                <a:solidFill>
                  <a:schemeClr val="tx1"/>
                </a:solidFill>
              </a:rPr>
              <a:t>Moderate closeness </a:t>
            </a:r>
          </a:p>
          <a:p>
            <a:r>
              <a:rPr lang="en-US" sz="2000" dirty="0">
                <a:solidFill>
                  <a:schemeClr val="tx1"/>
                </a:solidFill>
              </a:rPr>
              <a:t>You spend time together and share some personal thoughts </a:t>
            </a:r>
          </a:p>
          <a:p>
            <a:r>
              <a:rPr lang="en-US" sz="2000" dirty="0">
                <a:solidFill>
                  <a:schemeClr val="tx1"/>
                </a:solidFill>
              </a:rPr>
              <a:t>Trust is present, but not very deep.  Example: A friend you hang out with and talk about daily life.</a:t>
            </a:r>
          </a:p>
          <a:p>
            <a:pPr marL="0" indent="0">
              <a:buNone/>
            </a:pPr>
            <a:r>
              <a:rPr lang="en-US" sz="2000" b="1" dirty="0">
                <a:solidFill>
                  <a:schemeClr val="tx1"/>
                </a:solidFill>
              </a:rPr>
              <a:t>3. Intimate Relationship</a:t>
            </a:r>
          </a:p>
          <a:p>
            <a:r>
              <a:rPr lang="en-US" sz="2000" dirty="0">
                <a:solidFill>
                  <a:schemeClr val="tx1"/>
                </a:solidFill>
              </a:rPr>
              <a:t>Deep emotional </a:t>
            </a:r>
            <a:r>
              <a:rPr lang="en-US" sz="2000" dirty="0" smtClean="0">
                <a:solidFill>
                  <a:schemeClr val="tx1"/>
                </a:solidFill>
              </a:rPr>
              <a:t>closeness.</a:t>
            </a:r>
          </a:p>
          <a:p>
            <a:r>
              <a:rPr lang="en-US" sz="2000" dirty="0" smtClean="0">
                <a:solidFill>
                  <a:schemeClr val="tx1"/>
                </a:solidFill>
              </a:rPr>
              <a:t> High </a:t>
            </a:r>
            <a:r>
              <a:rPr lang="en-US" sz="2000" dirty="0">
                <a:solidFill>
                  <a:schemeClr val="tx1"/>
                </a:solidFill>
              </a:rPr>
              <a:t>level of trust and openness </a:t>
            </a:r>
          </a:p>
          <a:p>
            <a:r>
              <a:rPr lang="en-US" sz="2000" dirty="0">
                <a:solidFill>
                  <a:schemeClr val="tx1"/>
                </a:solidFill>
              </a:rPr>
              <a:t>Share personal feelings, fears, and private matters </a:t>
            </a:r>
          </a:p>
          <a:p>
            <a:r>
              <a:rPr lang="en-US" sz="2000" dirty="0">
                <a:solidFill>
                  <a:schemeClr val="tx1"/>
                </a:solidFill>
              </a:rPr>
              <a:t>Strong support and understanding.  </a:t>
            </a:r>
            <a:r>
              <a:rPr lang="en-US" sz="2000" dirty="0" smtClean="0">
                <a:solidFill>
                  <a:schemeClr val="tx1"/>
                </a:solidFill>
              </a:rPr>
              <a:t> </a:t>
            </a:r>
            <a:endParaRPr lang="en-US" sz="2000" dirty="0">
              <a:solidFill>
                <a:schemeClr val="tx1"/>
              </a:solidFill>
            </a:endParaRPr>
          </a:p>
          <a:p>
            <a:endParaRPr lang="en-US" sz="2000" dirty="0">
              <a:solidFill>
                <a:schemeClr val="tx1"/>
              </a:solidFill>
            </a:endParaRPr>
          </a:p>
        </p:txBody>
      </p:sp>
    </p:spTree>
    <p:extLst>
      <p:ext uri="{BB962C8B-B14F-4D97-AF65-F5344CB8AC3E}">
        <p14:creationId xmlns:p14="http://schemas.microsoft.com/office/powerpoint/2010/main" val="1519896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6492F4D-85A0-5059-C565-374D64481FA0}"/>
              </a:ext>
            </a:extLst>
          </p:cNvPr>
          <p:cNvSpPr>
            <a:spLocks noGrp="1"/>
          </p:cNvSpPr>
          <p:nvPr>
            <p:ph type="title"/>
          </p:nvPr>
        </p:nvSpPr>
        <p:spPr>
          <a:xfrm>
            <a:off x="1879974" y="291966"/>
            <a:ext cx="8884279" cy="574308"/>
          </a:xfrm>
        </p:spPr>
        <p:txBody>
          <a:bodyPr>
            <a:normAutofit fontScale="90000"/>
          </a:bodyPr>
          <a:lstStyle/>
          <a:p>
            <a:r>
              <a:rPr lang="en-US" dirty="0">
                <a:latin typeface="Times New Roman" panose="02020603050405020304" pitchFamily="18" charset="0"/>
                <a:cs typeface="Times New Roman" panose="02020603050405020304" pitchFamily="18" charset="0"/>
              </a:rPr>
              <a:t>Disclosure in Relationship Life Cycles</a:t>
            </a:r>
          </a:p>
        </p:txBody>
      </p:sp>
      <p:sp>
        <p:nvSpPr>
          <p:cNvPr id="4" name="Rectangle 1">
            <a:extLst>
              <a:ext uri="{FF2B5EF4-FFF2-40B4-BE49-F238E27FC236}">
                <a16:creationId xmlns="" xmlns:a16="http://schemas.microsoft.com/office/drawing/2014/main" id="{6BFBBEDA-E90C-E8AF-513F-60D445CB1FF5}"/>
              </a:ext>
            </a:extLst>
          </p:cNvPr>
          <p:cNvSpPr>
            <a:spLocks noGrp="1" noChangeArrowheads="1"/>
          </p:cNvSpPr>
          <p:nvPr>
            <p:ph idx="1"/>
          </p:nvPr>
        </p:nvSpPr>
        <p:spPr bwMode="auto">
          <a:xfrm>
            <a:off x="815660" y="1510243"/>
            <a:ext cx="994859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Disclosure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relationship life cycles refers to the process of sharing personal information, thoughts, and feelings with another person. It usually increases as the relationship develops, helping build trust and intimacy between individuals. However, the level of disclosure depends on comfort, trust, and the stage of the relationship.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4861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 xmlns:a16="http://schemas.microsoft.com/office/drawing/2014/main" id="{C88F8D45-4594-B6C1-6D15-E686BC2E0B75}"/>
              </a:ext>
            </a:extLst>
          </p:cNvPr>
          <p:cNvSpPr>
            <a:spLocks noGrp="1" noChangeArrowheads="1"/>
          </p:cNvSpPr>
          <p:nvPr>
            <p:ph type="title"/>
          </p:nvPr>
        </p:nvSpPr>
        <p:spPr bwMode="auto">
          <a:xfrm>
            <a:off x="532437" y="270054"/>
            <a:ext cx="6750678" cy="1938992"/>
          </a:xfrm>
          <a:prstGeom prst="rect">
            <a:avLst/>
          </a:prstGeom>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Social Penetration Theory</a:t>
            </a:r>
            <a:r>
              <a:rPr kumimoji="0" lang="en-US" altLang="en-US" sz="2000" b="0" i="0" u="none" strike="noStrike" cap="none" normalizeH="0" baseline="0" dirty="0">
                <a:ln>
                  <a:noFill/>
                </a:ln>
                <a:solidFill>
                  <a:schemeClr val="tx1"/>
                </a:solidFill>
                <a:effectLst/>
                <a:latin typeface="Arial" panose="020B0604020202020204" pitchFamily="34" charset="0"/>
              </a:rPr>
              <a:t>, proposed by Irwin Altman and Dalmas Taylor, explains how relationships develop through gradual self-disclosure. As people interact, they move from superficial topics to deeper, more personal information. This process increases intimacy and strengthens the relationship over time.</a:t>
            </a:r>
          </a:p>
        </p:txBody>
      </p:sp>
      <p:pic>
        <p:nvPicPr>
          <p:cNvPr id="10" name="Content Placeholder 9">
            <a:extLst>
              <a:ext uri="{FF2B5EF4-FFF2-40B4-BE49-F238E27FC236}">
                <a16:creationId xmlns="" xmlns:a16="http://schemas.microsoft.com/office/drawing/2014/main" id="{C13A8889-8C76-C6D5-4DC0-9FE19A13255B}"/>
              </a:ext>
            </a:extLst>
          </p:cNvPr>
          <p:cNvPicPr>
            <a:picLocks noGrp="1" noChangeAspect="1"/>
          </p:cNvPicPr>
          <p:nvPr>
            <p:ph idx="1"/>
          </p:nvPr>
        </p:nvPicPr>
        <p:blipFill>
          <a:blip r:embed="rId2"/>
          <a:srcRect l="21935" t="34235" r="11044" b="10232"/>
          <a:stretch>
            <a:fillRect/>
          </a:stretch>
        </p:blipFill>
        <p:spPr>
          <a:xfrm>
            <a:off x="4247536" y="1402467"/>
            <a:ext cx="9256207" cy="5061284"/>
          </a:xfrm>
          <a:prstGeom prst="rect">
            <a:avLst/>
          </a:prstGeom>
        </p:spPr>
      </p:pic>
      <p:sp>
        <p:nvSpPr>
          <p:cNvPr id="12" name="TextBox 11">
            <a:extLst>
              <a:ext uri="{FF2B5EF4-FFF2-40B4-BE49-F238E27FC236}">
                <a16:creationId xmlns="" xmlns:a16="http://schemas.microsoft.com/office/drawing/2014/main" id="{1EF01CDF-C006-FAF8-0F15-0165599BE7AD}"/>
              </a:ext>
            </a:extLst>
          </p:cNvPr>
          <p:cNvSpPr txBox="1"/>
          <p:nvPr/>
        </p:nvSpPr>
        <p:spPr>
          <a:xfrm>
            <a:off x="532436" y="2759976"/>
            <a:ext cx="6750679" cy="3477875"/>
          </a:xfrm>
          <a:prstGeom prst="rect">
            <a:avLst/>
          </a:prstGeom>
          <a:solidFill>
            <a:schemeClr val="bg1"/>
          </a:solidFill>
        </p:spPr>
        <p:txBody>
          <a:bodyPr wrap="square">
            <a:spAutoFit/>
          </a:bodyPr>
          <a:lstStyle/>
          <a:p>
            <a:r>
              <a:rPr lang="en-US" sz="2000" b="1" dirty="0"/>
              <a:t>Social Penetration</a:t>
            </a:r>
            <a:r>
              <a:rPr lang="en-US" sz="2000" dirty="0"/>
              <a:t> explains that not all self-disclosure is the same—some information is more personal than others. Irwin Altman and Dalmas Taylor described it using two ideas: </a:t>
            </a:r>
            <a:r>
              <a:rPr lang="en-US" sz="2000" b="1" dirty="0"/>
              <a:t>breadth</a:t>
            </a:r>
            <a:r>
              <a:rPr lang="en-US" sz="2000" dirty="0"/>
              <a:t> (range of topics discussed) and </a:t>
            </a:r>
            <a:r>
              <a:rPr lang="en-US" sz="2000" b="1" dirty="0"/>
              <a:t>depth</a:t>
            </a:r>
            <a:r>
              <a:rPr lang="en-US" sz="2000" dirty="0"/>
              <a:t> (how personal or intimate the information is). In the beginning, people talk about general topics like family or studies, but as the relationship grows, they discuss more subjects and share deeper feelings. Over time, conversations become more personal, moving from simple facts to opinions, emotions, and meaningful life experiences.</a:t>
            </a:r>
          </a:p>
        </p:txBody>
      </p:sp>
    </p:spTree>
    <p:extLst>
      <p:ext uri="{BB962C8B-B14F-4D97-AF65-F5344CB8AC3E}">
        <p14:creationId xmlns:p14="http://schemas.microsoft.com/office/powerpoint/2010/main" val="2330702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9C7BB1-F869-F641-A87C-F0101495D48B}"/>
              </a:ext>
            </a:extLst>
          </p:cNvPr>
          <p:cNvSpPr>
            <a:spLocks noGrp="1"/>
          </p:cNvSpPr>
          <p:nvPr>
            <p:ph type="title"/>
          </p:nvPr>
        </p:nvSpPr>
        <p:spPr>
          <a:xfrm>
            <a:off x="95693" y="606055"/>
            <a:ext cx="8064967" cy="2218633"/>
          </a:xfrm>
        </p:spPr>
        <p:style>
          <a:lnRef idx="2">
            <a:schemeClr val="accent1"/>
          </a:lnRef>
          <a:fillRef idx="1">
            <a:schemeClr val="lt1"/>
          </a:fillRef>
          <a:effectRef idx="0">
            <a:schemeClr val="accent1"/>
          </a:effectRef>
          <a:fontRef idx="minor">
            <a:schemeClr val="dk1"/>
          </a:fontRef>
        </p:style>
        <p:txBody>
          <a:bodyPr anchor="b">
            <a:noAutofit/>
          </a:bodyPr>
          <a:lstStyle/>
          <a:p>
            <a:pPr algn="ctr"/>
            <a:r>
              <a:rPr lang="en-US" sz="2400" b="1" dirty="0">
                <a:latin typeface="Times New Roman" panose="02020603050405020304" pitchFamily="18" charset="0"/>
                <a:cs typeface="Times New Roman" panose="02020603050405020304" pitchFamily="18" charset="0"/>
              </a:rPr>
              <a:t>Johari Window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0" dirty="0">
                <a:latin typeface="Times New Roman" panose="02020603050405020304" pitchFamily="18" charset="0"/>
                <a:cs typeface="Times New Roman" panose="02020603050405020304" pitchFamily="18" charset="0"/>
              </a:rPr>
              <a:t>One way to understand the nature of disclosure and feedback in interpersonal relationships is through the Johari window. The Johari window, named after its two originators, Joe Luft and Harry Ingham (1970), consists of four panes that comprise all information about you. You and your partner each know some (but not all) of this information.</a:t>
            </a:r>
          </a:p>
        </p:txBody>
      </p:sp>
      <p:sp>
        <p:nvSpPr>
          <p:cNvPr id="4" name="Rectangle 1">
            <a:extLst>
              <a:ext uri="{FF2B5EF4-FFF2-40B4-BE49-F238E27FC236}">
                <a16:creationId xmlns="" xmlns:a16="http://schemas.microsoft.com/office/drawing/2014/main" id="{9A6F4EBC-6C3E-0189-357F-4923B525AE12}"/>
              </a:ext>
            </a:extLst>
          </p:cNvPr>
          <p:cNvSpPr>
            <a:spLocks noGrp="1" noChangeArrowheads="1"/>
          </p:cNvSpPr>
          <p:nvPr>
            <p:ph idx="1"/>
          </p:nvPr>
        </p:nvSpPr>
        <p:spPr bwMode="auto">
          <a:xfrm>
            <a:off x="95693" y="2697097"/>
            <a:ext cx="8919970" cy="4033311"/>
          </a:xfrm>
          <a:prstGeom prst="rect">
            <a:avLst/>
          </a:prstGeom>
          <a:extLst/>
        </p:spPr>
        <p:style>
          <a:lnRef idx="2">
            <a:schemeClr val="accent1"/>
          </a:lnRef>
          <a:fillRef idx="1">
            <a:schemeClr val="lt1"/>
          </a:fillRef>
          <a:effectRef idx="0">
            <a:schemeClr val="accent1"/>
          </a:effectRef>
          <a:fontRef idx="minor">
            <a:schemeClr val="dk1"/>
          </a:fontRef>
        </p:style>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10000"/>
              </a:lnSpc>
              <a:spcBef>
                <a:spcPct val="0"/>
              </a:spcBef>
              <a:spcAft>
                <a:spcPts val="600"/>
              </a:spcAft>
              <a:buClrTx/>
              <a:buSzTx/>
              <a:buFontTx/>
              <a:buNone/>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The Johari Window is a model used to understand self-awareness and communication in relationships. It has four areas: </a:t>
            </a:r>
          </a:p>
          <a:p>
            <a:pPr marL="457200" marR="0" lvl="0" indent="-457200" defTabSz="914400" rtl="0" eaLnBrk="0" fontAlgn="base" latinLnBrk="0" hangingPunct="0">
              <a:lnSpc>
                <a:spcPct val="110000"/>
              </a:lnSpc>
              <a:spcBef>
                <a:spcPct val="0"/>
              </a:spcBef>
              <a:spcAft>
                <a:spcPts val="600"/>
              </a:spcAft>
              <a:buClrTx/>
              <a:buSzTx/>
              <a:buFontTx/>
              <a:buAutoNum type="arabicPeriod"/>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open (known to self and others),</a:t>
            </a:r>
          </a:p>
          <a:p>
            <a:pPr marL="457200" marR="0" lvl="0" indent="-457200" defTabSz="914400" rtl="0" eaLnBrk="0" fontAlgn="base" latinLnBrk="0" hangingPunct="0">
              <a:lnSpc>
                <a:spcPct val="110000"/>
              </a:lnSpc>
              <a:spcBef>
                <a:spcPct val="0"/>
              </a:spcBef>
              <a:spcAft>
                <a:spcPts val="600"/>
              </a:spcAft>
              <a:buClrTx/>
              <a:buSzTx/>
              <a:buFontTx/>
              <a:buAutoNum type="arabicPeriod"/>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blind (unknown to self but known to others),</a:t>
            </a:r>
          </a:p>
          <a:p>
            <a:pPr marL="457200" marR="0" lvl="0" indent="-457200" defTabSz="914400" rtl="0" eaLnBrk="0" fontAlgn="base" latinLnBrk="0" hangingPunct="0">
              <a:lnSpc>
                <a:spcPct val="110000"/>
              </a:lnSpc>
              <a:spcBef>
                <a:spcPct val="0"/>
              </a:spcBef>
              <a:spcAft>
                <a:spcPts val="600"/>
              </a:spcAft>
              <a:buClrTx/>
              <a:buSzTx/>
              <a:buFontTx/>
              <a:buAutoNum type="arabicPeriod"/>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hidden (known to self but not others), and </a:t>
            </a:r>
          </a:p>
          <a:p>
            <a:pPr marL="457200" marR="0" lvl="0" indent="-457200" defTabSz="914400" rtl="0" eaLnBrk="0" fontAlgn="base" latinLnBrk="0" hangingPunct="0">
              <a:lnSpc>
                <a:spcPct val="110000"/>
              </a:lnSpc>
              <a:spcBef>
                <a:spcPct val="0"/>
              </a:spcBef>
              <a:spcAft>
                <a:spcPts val="600"/>
              </a:spcAft>
              <a:buClrTx/>
              <a:buSzTx/>
              <a:buFontTx/>
              <a:buAutoNum type="arabicPeriod"/>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unknown (unknown to both). </a:t>
            </a:r>
          </a:p>
          <a:p>
            <a:pPr marL="0" marR="0" lvl="0" indent="0" defTabSz="914400" rtl="0" eaLnBrk="0" fontAlgn="base" latinLnBrk="0" hangingPunct="0">
              <a:lnSpc>
                <a:spcPct val="110000"/>
              </a:lnSpc>
              <a:spcBef>
                <a:spcPct val="0"/>
              </a:spcBef>
              <a:spcAft>
                <a:spcPts val="600"/>
              </a:spcAft>
              <a:buClrTx/>
              <a:buSzTx/>
              <a:buNone/>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It shows how self-disclosure and feedback help expand the open area. This improves trust, understanding, and effective communication in relationships.</a:t>
            </a:r>
          </a:p>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DAB81E51-8956-ADAD-325D-3408DBD75BB9}"/>
              </a:ext>
            </a:extLst>
          </p:cNvPr>
          <p:cNvPicPr>
            <a:picLocks noChangeAspect="1"/>
          </p:cNvPicPr>
          <p:nvPr/>
        </p:nvPicPr>
        <p:blipFill>
          <a:blip r:embed="rId2"/>
          <a:stretch>
            <a:fillRect/>
          </a:stretch>
        </p:blipFill>
        <p:spPr>
          <a:xfrm>
            <a:off x="8566484" y="161575"/>
            <a:ext cx="3625516" cy="4001992"/>
          </a:xfrm>
          <a:prstGeom prst="rect">
            <a:avLst/>
          </a:prstGeom>
        </p:spPr>
      </p:pic>
    </p:spTree>
    <p:extLst>
      <p:ext uri="{BB962C8B-B14F-4D97-AF65-F5344CB8AC3E}">
        <p14:creationId xmlns:p14="http://schemas.microsoft.com/office/powerpoint/2010/main" val="3960138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6BBC0F-949E-C2CC-5BA2-46514497B1F2}"/>
              </a:ext>
            </a:extLst>
          </p:cNvPr>
          <p:cNvSpPr>
            <a:spLocks noGrp="1"/>
          </p:cNvSpPr>
          <p:nvPr>
            <p:ph type="title"/>
          </p:nvPr>
        </p:nvSpPr>
        <p:spPr>
          <a:xfrm>
            <a:off x="3466681" y="720129"/>
            <a:ext cx="5916169" cy="774025"/>
          </a:xfrm>
        </p:spPr>
        <p:txBody>
          <a:bodyPr anchor="b">
            <a:normAutofit/>
          </a:bodyPr>
          <a:lstStyle/>
          <a:p>
            <a:r>
              <a:rPr lang="en-US" b="0" dirty="0"/>
              <a:t>Stages of Relationships:</a:t>
            </a:r>
          </a:p>
        </p:txBody>
      </p:sp>
      <p:sp>
        <p:nvSpPr>
          <p:cNvPr id="3" name="Content Placeholder 2">
            <a:extLst>
              <a:ext uri="{FF2B5EF4-FFF2-40B4-BE49-F238E27FC236}">
                <a16:creationId xmlns="" xmlns:a16="http://schemas.microsoft.com/office/drawing/2014/main" id="{7A43E227-CE84-BA5A-6FC8-13E3BC13E4CB}"/>
              </a:ext>
            </a:extLst>
          </p:cNvPr>
          <p:cNvSpPr>
            <a:spLocks noGrp="1"/>
          </p:cNvSpPr>
          <p:nvPr>
            <p:ph idx="1"/>
          </p:nvPr>
        </p:nvSpPr>
        <p:spPr>
          <a:xfrm>
            <a:off x="3466681" y="1822397"/>
            <a:ext cx="8018021" cy="4095078"/>
          </a:xfrm>
        </p:spPr>
        <p:txBody>
          <a:bodyPr>
            <a:normAutofit/>
          </a:bodyPr>
          <a:lstStyle/>
          <a:p>
            <a:pPr marL="457200" indent="-457200">
              <a:buAutoNum type="arabicPeriod"/>
            </a:pPr>
            <a:r>
              <a:rPr lang="en-US" sz="2400" b="1" dirty="0">
                <a:latin typeface="Times New Roman" panose="02020603050405020304" pitchFamily="18" charset="0"/>
                <a:cs typeface="Times New Roman" panose="02020603050405020304" pitchFamily="18" charset="0"/>
              </a:rPr>
              <a:t>Beginning and Developing Relations</a:t>
            </a:r>
          </a:p>
          <a:p>
            <a:pPr marL="742950" lvl="1" indent="-514350">
              <a:buFont typeface="+mj-lt"/>
              <a:buAutoNum type="alphaLcPeriod"/>
            </a:pPr>
            <a:r>
              <a:rPr lang="en-US" sz="2400" dirty="0">
                <a:latin typeface="Times New Roman" panose="02020603050405020304" pitchFamily="18" charset="0"/>
                <a:cs typeface="Times New Roman" panose="02020603050405020304" pitchFamily="18" charset="0"/>
              </a:rPr>
              <a:t>Relationships begin and are built through initial sharing of mutually interested information.</a:t>
            </a:r>
          </a:p>
          <a:p>
            <a:pPr marL="742950" lvl="1" indent="-514350">
              <a:buFont typeface="+mj-lt"/>
              <a:buAutoNum type="alphaLcPeriod"/>
            </a:pPr>
            <a:r>
              <a:rPr lang="en-US" sz="2400" dirty="0">
                <a:latin typeface="Times New Roman" panose="02020603050405020304" pitchFamily="18" charset="0"/>
                <a:cs typeface="Times New Roman" panose="02020603050405020304" pitchFamily="18" charset="0"/>
              </a:rPr>
              <a:t>Uncertainties are reduced and better disclosure and feedback are shared.</a:t>
            </a:r>
          </a:p>
          <a:p>
            <a:pPr marL="742950" lvl="1" indent="-514350">
              <a:buFont typeface="+mj-lt"/>
              <a:buAutoNum type="alphaLcPeriod"/>
            </a:pPr>
            <a:r>
              <a:rPr lang="en-US" sz="2400" dirty="0">
                <a:latin typeface="Times New Roman" panose="02020603050405020304" pitchFamily="18" charset="0"/>
                <a:cs typeface="Times New Roman" panose="02020603050405020304" pitchFamily="18" charset="0"/>
              </a:rPr>
              <a:t>Can be face-to-face or online.</a:t>
            </a:r>
          </a:p>
          <a:p>
            <a:pPr marL="742950" lvl="1" indent="-514350">
              <a:buFont typeface="+mj-lt"/>
              <a:buAutoNum type="alphaLcPeriod"/>
            </a:pPr>
            <a:r>
              <a:rPr lang="en-US" sz="2400" dirty="0">
                <a:latin typeface="Times New Roman" panose="02020603050405020304" pitchFamily="18" charset="0"/>
                <a:cs typeface="Times New Roman" panose="02020603050405020304" pitchFamily="18" charset="0"/>
              </a:rPr>
              <a:t>Psychological trust is built and more disclosure is done.</a:t>
            </a:r>
          </a:p>
          <a:p>
            <a:pPr marL="457200" indent="-457200">
              <a:buAutoNum type="arabicPeriod"/>
            </a:pPr>
            <a:endParaRPr lang="en-US" sz="2400" dirty="0">
              <a:latin typeface="Times New Roman" panose="02020603050405020304" pitchFamily="18" charset="0"/>
              <a:cs typeface="Times New Roman" panose="02020603050405020304" pitchFamily="18" charset="0"/>
            </a:endParaRPr>
          </a:p>
        </p:txBody>
      </p:sp>
      <p:pic>
        <p:nvPicPr>
          <p:cNvPr id="5" name="Picture 4" descr="Red toy person in front of two lines of white figures">
            <a:extLst>
              <a:ext uri="{FF2B5EF4-FFF2-40B4-BE49-F238E27FC236}">
                <a16:creationId xmlns="" xmlns:a16="http://schemas.microsoft.com/office/drawing/2014/main" id="{D7F71717-8703-87A8-4FEA-D5C3A28A8392}"/>
              </a:ext>
            </a:extLst>
          </p:cNvPr>
          <p:cNvPicPr>
            <a:picLocks noChangeAspect="1"/>
          </p:cNvPicPr>
          <p:nvPr/>
        </p:nvPicPr>
        <p:blipFill>
          <a:blip r:embed="rId2"/>
          <a:srcRect l="28389" r="24534"/>
          <a:stretch>
            <a:fillRect/>
          </a:stretch>
        </p:blipFill>
        <p:spPr>
          <a:xfrm>
            <a:off x="20" y="10"/>
            <a:ext cx="3004437" cy="6857990"/>
          </a:xfrm>
          <a:prstGeom prst="rect">
            <a:avLst/>
          </a:prstGeom>
        </p:spPr>
      </p:pic>
    </p:spTree>
    <p:extLst>
      <p:ext uri="{BB962C8B-B14F-4D97-AF65-F5344CB8AC3E}">
        <p14:creationId xmlns:p14="http://schemas.microsoft.com/office/powerpoint/2010/main" val="3347783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 xmlns:a16="http://schemas.microsoft.com/office/drawing/2014/main" id="{CBC4512F-1C91-9801-F187-5E5FBA162590}"/>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8C8A3C7D-2CA1-C29F-32CF-46C8A0E3A0A3}"/>
              </a:ext>
            </a:extLst>
          </p:cNvPr>
          <p:cNvSpPr>
            <a:spLocks noGrp="1"/>
          </p:cNvSpPr>
          <p:nvPr>
            <p:ph type="title"/>
          </p:nvPr>
        </p:nvSpPr>
        <p:spPr>
          <a:xfrm>
            <a:off x="190919" y="1555973"/>
            <a:ext cx="3094892" cy="2505664"/>
          </a:xfrm>
        </p:spPr>
        <p:style>
          <a:lnRef idx="2">
            <a:schemeClr val="accent1"/>
          </a:lnRef>
          <a:fillRef idx="1">
            <a:schemeClr val="lt1"/>
          </a:fillRef>
          <a:effectRef idx="0">
            <a:schemeClr val="accent1"/>
          </a:effectRef>
          <a:fontRef idx="minor">
            <a:schemeClr val="dk1"/>
          </a:fontRef>
        </p:style>
        <p:txBody>
          <a:bodyPr anchor="t">
            <a:normAutofit/>
          </a:bodyPr>
          <a:lstStyle/>
          <a:p>
            <a:r>
              <a:rPr lang="en-US" b="0" dirty="0"/>
              <a:t>Stages of Relationships (Cont’d):</a:t>
            </a:r>
          </a:p>
        </p:txBody>
      </p:sp>
      <p:graphicFrame>
        <p:nvGraphicFramePr>
          <p:cNvPr id="5" name="Content Placeholder 2">
            <a:extLst>
              <a:ext uri="{FF2B5EF4-FFF2-40B4-BE49-F238E27FC236}">
                <a16:creationId xmlns="" xmlns:a16="http://schemas.microsoft.com/office/drawing/2014/main" id="{5817AB07-78B6-47A1-3051-A09327A3903D}"/>
              </a:ext>
            </a:extLst>
          </p:cNvPr>
          <p:cNvGraphicFramePr>
            <a:graphicFrameLocks noGrp="1"/>
          </p:cNvGraphicFramePr>
          <p:nvPr>
            <p:ph idx="1"/>
            <p:extLst>
              <p:ext uri="{D42A27DB-BD31-4B8C-83A1-F6EECF244321}">
                <p14:modId xmlns:p14="http://schemas.microsoft.com/office/powerpoint/2010/main" val="573181414"/>
              </p:ext>
            </p:extLst>
          </p:nvPr>
        </p:nvGraphicFramePr>
        <p:xfrm>
          <a:off x="3698427" y="140677"/>
          <a:ext cx="8080956" cy="63003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3537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 xmlns:a16="http://schemas.microsoft.com/office/drawing/2014/main" id="{B1392CF0-74DB-8C99-E7DC-817E127BE666}"/>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82C3D775-B882-2A5B-84D8-A08A51CB70B6}"/>
              </a:ext>
            </a:extLst>
          </p:cNvPr>
          <p:cNvSpPr>
            <a:spLocks noGrp="1"/>
          </p:cNvSpPr>
          <p:nvPr>
            <p:ph type="title"/>
          </p:nvPr>
        </p:nvSpPr>
        <p:spPr>
          <a:xfrm>
            <a:off x="2994409" y="633045"/>
            <a:ext cx="6943411" cy="663493"/>
          </a:xfrm>
        </p:spPr>
        <p:txBody>
          <a:bodyPr anchor="b">
            <a:normAutofit/>
          </a:bodyPr>
          <a:lstStyle/>
          <a:p>
            <a:r>
              <a:rPr lang="en-US" sz="3200" b="0" dirty="0"/>
              <a:t>Stages of Relationships (Cont’d):</a:t>
            </a:r>
          </a:p>
        </p:txBody>
      </p:sp>
      <p:sp>
        <p:nvSpPr>
          <p:cNvPr id="3" name="Content Placeholder 2">
            <a:extLst>
              <a:ext uri="{FF2B5EF4-FFF2-40B4-BE49-F238E27FC236}">
                <a16:creationId xmlns="" xmlns:a16="http://schemas.microsoft.com/office/drawing/2014/main" id="{D1AC1642-71B3-DD24-0BAD-B0725055B028}"/>
              </a:ext>
            </a:extLst>
          </p:cNvPr>
          <p:cNvSpPr>
            <a:spLocks noGrp="1"/>
          </p:cNvSpPr>
          <p:nvPr>
            <p:ph idx="1"/>
          </p:nvPr>
        </p:nvSpPr>
        <p:spPr>
          <a:xfrm>
            <a:off x="2994409" y="1485939"/>
            <a:ext cx="8822453" cy="4095078"/>
          </a:xfrm>
        </p:spPr>
        <p:txBody>
          <a:bodyPr>
            <a:normAutofit/>
          </a:bodyPr>
          <a:lstStyle/>
          <a:p>
            <a:pPr marL="0" indent="0">
              <a:lnSpc>
                <a:spcPct val="110000"/>
              </a:lnSpc>
              <a:buNone/>
            </a:pPr>
            <a:r>
              <a:rPr lang="en-US" sz="1700" b="1" dirty="0"/>
              <a:t>3. Declining and Dissolving Relationships</a:t>
            </a:r>
          </a:p>
          <a:p>
            <a:pPr marL="228600" lvl="1" indent="0">
              <a:lnSpc>
                <a:spcPct val="110000"/>
              </a:lnSpc>
              <a:buNone/>
            </a:pPr>
            <a:r>
              <a:rPr lang="en-US" sz="1700" dirty="0"/>
              <a:t>When one or both partners fail to engage in sustained relationships, the relationship begins to fall apart and finally come to an end. This is through four stages:</a:t>
            </a:r>
          </a:p>
          <a:p>
            <a:pPr marL="228600" lvl="1" indent="0">
              <a:lnSpc>
                <a:spcPct val="110000"/>
              </a:lnSpc>
              <a:buNone/>
            </a:pPr>
            <a:endParaRPr lang="en-US" sz="1700" dirty="0"/>
          </a:p>
          <a:p>
            <a:pPr marL="971550" lvl="2" indent="-514350">
              <a:lnSpc>
                <a:spcPct val="150000"/>
              </a:lnSpc>
              <a:buFont typeface="+mj-lt"/>
              <a:buAutoNum type="arabicParenR"/>
            </a:pPr>
            <a:r>
              <a:rPr lang="en-US" sz="1700" dirty="0"/>
              <a:t>Circumscribing: communication decreases in both quality and quantity.</a:t>
            </a:r>
          </a:p>
          <a:p>
            <a:pPr marL="971550" lvl="2" indent="-514350">
              <a:lnSpc>
                <a:spcPct val="150000"/>
              </a:lnSpc>
              <a:buFont typeface="+mj-lt"/>
              <a:buAutoNum type="arabicParenR"/>
            </a:pPr>
            <a:r>
              <a:rPr lang="en-US" sz="1700" dirty="0"/>
              <a:t>Stagnation: emotions and enthusiasm start fading out.</a:t>
            </a:r>
          </a:p>
          <a:p>
            <a:pPr marL="971550" lvl="2" indent="-514350">
              <a:lnSpc>
                <a:spcPct val="150000"/>
              </a:lnSpc>
              <a:buFont typeface="+mj-lt"/>
              <a:buAutoNum type="arabicParenR"/>
            </a:pPr>
            <a:r>
              <a:rPr lang="en-US" sz="1700" dirty="0"/>
              <a:t>Avoiding: stagnation becomes too painful so distances increase.</a:t>
            </a:r>
          </a:p>
          <a:p>
            <a:pPr marL="971550" lvl="2" indent="-514350">
              <a:lnSpc>
                <a:spcPct val="150000"/>
              </a:lnSpc>
              <a:buFont typeface="+mj-lt"/>
              <a:buAutoNum type="arabicParenR"/>
            </a:pPr>
            <a:r>
              <a:rPr lang="en-US" sz="1700" dirty="0"/>
              <a:t>Terminating: it ends when felt there’s no worth in keeping it.</a:t>
            </a:r>
          </a:p>
        </p:txBody>
      </p:sp>
      <p:pic>
        <p:nvPicPr>
          <p:cNvPr id="5" name="Picture 4" descr="Red toy person in front of two lines of white figures">
            <a:extLst>
              <a:ext uri="{FF2B5EF4-FFF2-40B4-BE49-F238E27FC236}">
                <a16:creationId xmlns="" xmlns:a16="http://schemas.microsoft.com/office/drawing/2014/main" id="{52929E75-BBBD-BB05-0FA0-8BF68E07ED04}"/>
              </a:ext>
            </a:extLst>
          </p:cNvPr>
          <p:cNvPicPr>
            <a:picLocks noChangeAspect="1"/>
          </p:cNvPicPr>
          <p:nvPr/>
        </p:nvPicPr>
        <p:blipFill>
          <a:blip r:embed="rId2"/>
          <a:srcRect l="28389" r="24534"/>
          <a:stretch>
            <a:fillRect/>
          </a:stretch>
        </p:blipFill>
        <p:spPr>
          <a:xfrm>
            <a:off x="20" y="10"/>
            <a:ext cx="2542213" cy="6857990"/>
          </a:xfrm>
          <a:prstGeom prst="rect">
            <a:avLst/>
          </a:prstGeom>
        </p:spPr>
      </p:pic>
    </p:spTree>
    <p:extLst>
      <p:ext uri="{BB962C8B-B14F-4D97-AF65-F5344CB8AC3E}">
        <p14:creationId xmlns:p14="http://schemas.microsoft.com/office/powerpoint/2010/main" val="729498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E4B3A8-FE89-3058-7CA1-6C5FDF65952B}"/>
              </a:ext>
            </a:extLst>
          </p:cNvPr>
          <p:cNvSpPr>
            <a:spLocks noGrp="1"/>
          </p:cNvSpPr>
          <p:nvPr>
            <p:ph type="title"/>
          </p:nvPr>
        </p:nvSpPr>
        <p:spPr>
          <a:xfrm>
            <a:off x="279345" y="1684103"/>
            <a:ext cx="4108046" cy="1310305"/>
          </a:xfrm>
        </p:spPr>
        <p:txBody>
          <a:bodyPr anchor="t">
            <a:normAutofit/>
          </a:bodyPr>
          <a:lstStyle/>
          <a:p>
            <a:r>
              <a:rPr lang="en-US" sz="3200" b="0" dirty="0"/>
              <a:t>Role of Technology in Relationships</a:t>
            </a:r>
          </a:p>
        </p:txBody>
      </p:sp>
      <p:sp>
        <p:nvSpPr>
          <p:cNvPr id="3" name="Content Placeholder 2">
            <a:extLst>
              <a:ext uri="{FF2B5EF4-FFF2-40B4-BE49-F238E27FC236}">
                <a16:creationId xmlns="" xmlns:a16="http://schemas.microsoft.com/office/drawing/2014/main" id="{7BECDFC7-0E52-80F5-47A7-2B858F9566A1}"/>
              </a:ext>
            </a:extLst>
          </p:cNvPr>
          <p:cNvSpPr>
            <a:spLocks noGrp="1"/>
          </p:cNvSpPr>
          <p:nvPr>
            <p:ph idx="1"/>
          </p:nvPr>
        </p:nvSpPr>
        <p:spPr>
          <a:xfrm>
            <a:off x="4230356" y="656154"/>
            <a:ext cx="7682299" cy="5760721"/>
          </a:xfrm>
        </p:spPr>
        <p:txBody>
          <a:bodyPr anchor="t">
            <a:normAutofit/>
          </a:bodyPr>
          <a:lstStyle/>
          <a:p>
            <a:pPr>
              <a:lnSpc>
                <a:spcPct val="110000"/>
              </a:lnSpc>
            </a:pPr>
            <a:r>
              <a:rPr lang="en-US" sz="1800" dirty="0"/>
              <a:t>The internet has changed the way we build, manage, and sustained relationships.</a:t>
            </a:r>
          </a:p>
          <a:p>
            <a:pPr>
              <a:lnSpc>
                <a:spcPct val="110000"/>
              </a:lnSpc>
            </a:pPr>
            <a:r>
              <a:rPr lang="en-US" sz="1800" dirty="0"/>
              <a:t>The social media has given the freedom of speech, time, and space.</a:t>
            </a:r>
          </a:p>
          <a:p>
            <a:pPr>
              <a:lnSpc>
                <a:spcPct val="110000"/>
              </a:lnSpc>
            </a:pPr>
            <a:r>
              <a:rPr lang="en-US" sz="1800" dirty="0"/>
              <a:t>Our use of many different mediums to maintain our relationships is known as </a:t>
            </a:r>
            <a:r>
              <a:rPr lang="en-US" sz="1800" i="1" dirty="0"/>
              <a:t>“media multiplexity”.</a:t>
            </a:r>
          </a:p>
          <a:p>
            <a:pPr>
              <a:lnSpc>
                <a:spcPct val="110000"/>
              </a:lnSpc>
            </a:pPr>
            <a:r>
              <a:rPr lang="en-US" sz="1800" dirty="0"/>
              <a:t>Technology is also used to disengage from relationships – fewer mails, calls, texts, …</a:t>
            </a:r>
          </a:p>
          <a:p>
            <a:pPr>
              <a:lnSpc>
                <a:spcPct val="110000"/>
              </a:lnSpc>
            </a:pPr>
            <a:r>
              <a:rPr lang="en-US" sz="1800" dirty="0"/>
              <a:t>Global interactions have created complex communicative communities and diverse ranges of relationships; ranging from constructive projects to crime zones.</a:t>
            </a:r>
          </a:p>
          <a:p>
            <a:pPr>
              <a:lnSpc>
                <a:spcPct val="110000"/>
              </a:lnSpc>
            </a:pPr>
            <a:r>
              <a:rPr lang="en-US" sz="1800" dirty="0"/>
              <a:t>Research suggests that young adults tend to </a:t>
            </a:r>
            <a:r>
              <a:rPr lang="en-US" sz="1800" i="1" dirty="0"/>
              <a:t>“break up” </a:t>
            </a:r>
            <a:r>
              <a:rPr lang="en-US" sz="1800" dirty="0"/>
              <a:t>using technology rather than having a face-to-face conversation …. (Gershon, 2010).</a:t>
            </a:r>
          </a:p>
        </p:txBody>
      </p:sp>
      <p:pic>
        <p:nvPicPr>
          <p:cNvPr id="7" name="Graphic 6" descr="Presentation with Media">
            <a:extLst>
              <a:ext uri="{FF2B5EF4-FFF2-40B4-BE49-F238E27FC236}">
                <a16:creationId xmlns="" xmlns:a16="http://schemas.microsoft.com/office/drawing/2014/main" id="{22A0BF62-3281-5F3B-7276-A7A3BBC605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1229918" y="3137097"/>
            <a:ext cx="1770520" cy="1770520"/>
          </a:xfrm>
          <a:prstGeom prst="rect">
            <a:avLst/>
          </a:prstGeom>
        </p:spPr>
      </p:pic>
    </p:spTree>
    <p:extLst>
      <p:ext uri="{BB962C8B-B14F-4D97-AF65-F5344CB8AC3E}">
        <p14:creationId xmlns:p14="http://schemas.microsoft.com/office/powerpoint/2010/main" val="1600506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03F417-A5CA-FF84-3A8D-38218D18EEA8}"/>
              </a:ext>
            </a:extLst>
          </p:cNvPr>
          <p:cNvSpPr>
            <a:spLocks noGrp="1"/>
          </p:cNvSpPr>
          <p:nvPr>
            <p:ph type="title"/>
          </p:nvPr>
        </p:nvSpPr>
        <p:spPr>
          <a:xfrm>
            <a:off x="255182" y="2255203"/>
            <a:ext cx="2960875" cy="2347594"/>
          </a:xfrm>
          <a:solidFill>
            <a:schemeClr val="bg1"/>
          </a:solidFill>
        </p:spPr>
        <p:txBody>
          <a:bodyPr anchor="ctr">
            <a:normAutofit/>
          </a:bodyPr>
          <a:lstStyle/>
          <a:p>
            <a:r>
              <a:rPr lang="en-US" b="0" dirty="0"/>
              <a:t>Relational Dialects</a:t>
            </a:r>
          </a:p>
        </p:txBody>
      </p:sp>
      <p:graphicFrame>
        <p:nvGraphicFramePr>
          <p:cNvPr id="12" name="Content Placeholder 2">
            <a:extLst>
              <a:ext uri="{FF2B5EF4-FFF2-40B4-BE49-F238E27FC236}">
                <a16:creationId xmlns="" xmlns:a16="http://schemas.microsoft.com/office/drawing/2014/main" id="{3923BC64-6117-D213-4E36-F246F2B642AD}"/>
              </a:ext>
            </a:extLst>
          </p:cNvPr>
          <p:cNvGraphicFramePr>
            <a:graphicFrameLocks noGrp="1"/>
          </p:cNvGraphicFramePr>
          <p:nvPr>
            <p:ph idx="1"/>
            <p:extLst>
              <p:ext uri="{D42A27DB-BD31-4B8C-83A1-F6EECF244321}">
                <p14:modId xmlns:p14="http://schemas.microsoft.com/office/powerpoint/2010/main" val="2934821789"/>
              </p:ext>
            </p:extLst>
          </p:nvPr>
        </p:nvGraphicFramePr>
        <p:xfrm>
          <a:off x="3737686" y="1828799"/>
          <a:ext cx="7992198" cy="44935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29725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0DE92B-FBC0-29EA-1FA3-C2E039DEF068}"/>
              </a:ext>
            </a:extLst>
          </p:cNvPr>
          <p:cNvSpPr>
            <a:spLocks noGrp="1"/>
          </p:cNvSpPr>
          <p:nvPr>
            <p:ph type="title"/>
          </p:nvPr>
        </p:nvSpPr>
        <p:spPr>
          <a:xfrm>
            <a:off x="2612572" y="720795"/>
            <a:ext cx="8781696" cy="944847"/>
          </a:xfrm>
        </p:spPr>
        <p:txBody>
          <a:bodyPr anchor="b">
            <a:normAutofit fontScale="90000"/>
          </a:bodyPr>
          <a:lstStyle/>
          <a:p>
            <a:r>
              <a:rPr lang="en-US" sz="2800" dirty="0"/>
              <a:t>Managing Dialectical Tensions:</a:t>
            </a:r>
            <a:br>
              <a:rPr lang="en-US" sz="2800" dirty="0"/>
            </a:br>
            <a:r>
              <a:rPr lang="en-US" sz="2800" dirty="0"/>
              <a:t> </a:t>
            </a:r>
            <a:r>
              <a:rPr lang="en-US" sz="2800" b="0" dirty="0"/>
              <a:t>– providing for opposing needs</a:t>
            </a:r>
          </a:p>
        </p:txBody>
      </p:sp>
      <p:sp>
        <p:nvSpPr>
          <p:cNvPr id="3" name="Content Placeholder 2">
            <a:extLst>
              <a:ext uri="{FF2B5EF4-FFF2-40B4-BE49-F238E27FC236}">
                <a16:creationId xmlns="" xmlns:a16="http://schemas.microsoft.com/office/drawing/2014/main" id="{05F0199A-B13B-A40D-B70B-E501CBC47EC1}"/>
              </a:ext>
            </a:extLst>
          </p:cNvPr>
          <p:cNvSpPr>
            <a:spLocks noGrp="1"/>
          </p:cNvSpPr>
          <p:nvPr>
            <p:ph idx="1"/>
          </p:nvPr>
        </p:nvSpPr>
        <p:spPr>
          <a:xfrm>
            <a:off x="2612571" y="1922880"/>
            <a:ext cx="9304773" cy="4095078"/>
          </a:xfrm>
        </p:spPr>
        <p:txBody>
          <a:bodyPr>
            <a:normAutofit fontScale="92500"/>
          </a:bodyPr>
          <a:lstStyle/>
          <a:p>
            <a:pPr>
              <a:lnSpc>
                <a:spcPct val="110000"/>
              </a:lnSpc>
            </a:pPr>
            <a:r>
              <a:rPr lang="en-US" sz="2400" b="1" dirty="0"/>
              <a:t>Temporal Selection: </a:t>
            </a:r>
            <a:r>
              <a:rPr lang="en-US" sz="2400" dirty="0"/>
              <a:t>Choosing one desire for other for the time being.</a:t>
            </a:r>
          </a:p>
          <a:p>
            <a:pPr>
              <a:lnSpc>
                <a:spcPct val="110000"/>
              </a:lnSpc>
            </a:pPr>
            <a:r>
              <a:rPr lang="en-US" sz="2400" b="1" dirty="0"/>
              <a:t>Temporal Segmentation: </a:t>
            </a:r>
            <a:r>
              <a:rPr lang="en-US" sz="2400" dirty="0"/>
              <a:t>Being open at home </a:t>
            </a:r>
            <a:r>
              <a:rPr lang="en-US" sz="2400" i="1" dirty="0"/>
              <a:t>(having discussions), </a:t>
            </a:r>
            <a:r>
              <a:rPr lang="en-US" sz="2400" dirty="0"/>
              <a:t>closed at work </a:t>
            </a:r>
            <a:r>
              <a:rPr lang="en-US" sz="2400" i="1" dirty="0"/>
              <a:t>(applying restraint). </a:t>
            </a:r>
          </a:p>
          <a:p>
            <a:pPr>
              <a:lnSpc>
                <a:spcPct val="110000"/>
              </a:lnSpc>
            </a:pPr>
            <a:r>
              <a:rPr lang="en-US" sz="2400" b="1" dirty="0"/>
              <a:t>Neutralization: </a:t>
            </a:r>
            <a:r>
              <a:rPr lang="en-US" sz="2400" dirty="0"/>
              <a:t>Compromising between the desires of one person and the other person. Finding a middle ground.</a:t>
            </a:r>
          </a:p>
          <a:p>
            <a:pPr>
              <a:lnSpc>
                <a:spcPct val="110000"/>
              </a:lnSpc>
            </a:pPr>
            <a:r>
              <a:rPr lang="en-US" sz="2400" b="1" dirty="0" smtClean="0"/>
              <a:t>Reframing</a:t>
            </a:r>
            <a:r>
              <a:rPr lang="en-US" sz="2400" b="1" dirty="0"/>
              <a:t>: </a:t>
            </a:r>
            <a:r>
              <a:rPr lang="en-US" sz="2400" dirty="0"/>
              <a:t>Changing the perception about the opposing desires so they no longer seem so contradictory. The balance shifts more towards similarities rather than differences.</a:t>
            </a:r>
          </a:p>
        </p:txBody>
      </p:sp>
      <p:pic>
        <p:nvPicPr>
          <p:cNvPr id="5" name="Picture 4" descr="White arrows going to the red target">
            <a:extLst>
              <a:ext uri="{FF2B5EF4-FFF2-40B4-BE49-F238E27FC236}">
                <a16:creationId xmlns="" xmlns:a16="http://schemas.microsoft.com/office/drawing/2014/main" id="{9A39BEFE-0827-93A6-E214-7C1B95310ABC}"/>
              </a:ext>
            </a:extLst>
          </p:cNvPr>
          <p:cNvPicPr>
            <a:picLocks noChangeAspect="1"/>
          </p:cNvPicPr>
          <p:nvPr/>
        </p:nvPicPr>
        <p:blipFill>
          <a:blip r:embed="rId2"/>
          <a:srcRect l="43861" r="8346" b="-1"/>
          <a:stretch>
            <a:fillRect/>
          </a:stretch>
        </p:blipFill>
        <p:spPr>
          <a:xfrm>
            <a:off x="20" y="10"/>
            <a:ext cx="2270907" cy="6857990"/>
          </a:xfrm>
          <a:prstGeom prst="rect">
            <a:avLst/>
          </a:prstGeom>
        </p:spPr>
      </p:pic>
    </p:spTree>
    <p:extLst>
      <p:ext uri="{BB962C8B-B14F-4D97-AF65-F5344CB8AC3E}">
        <p14:creationId xmlns:p14="http://schemas.microsoft.com/office/powerpoint/2010/main" val="1131917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696DD2-3D30-28B0-70C0-1749751E895D}"/>
              </a:ext>
            </a:extLst>
          </p:cNvPr>
          <p:cNvSpPr>
            <a:spLocks noGrp="1"/>
          </p:cNvSpPr>
          <p:nvPr>
            <p:ph type="title"/>
          </p:nvPr>
        </p:nvSpPr>
        <p:spPr>
          <a:xfrm>
            <a:off x="153163" y="2548259"/>
            <a:ext cx="3742717" cy="1229919"/>
          </a:xfrm>
        </p:spPr>
        <p:txBody>
          <a:bodyPr anchor="t">
            <a:normAutofit fontScale="90000"/>
          </a:bodyPr>
          <a:lstStyle/>
          <a:p>
            <a:r>
              <a:rPr lang="en-US" sz="3200" b="0" dirty="0"/>
              <a:t>Analyze and Discuss the following Case: </a:t>
            </a:r>
          </a:p>
        </p:txBody>
      </p:sp>
      <p:graphicFrame>
        <p:nvGraphicFramePr>
          <p:cNvPr id="5" name="Content Placeholder 2">
            <a:extLst>
              <a:ext uri="{FF2B5EF4-FFF2-40B4-BE49-F238E27FC236}">
                <a16:creationId xmlns="" xmlns:a16="http://schemas.microsoft.com/office/drawing/2014/main" id="{5DC2956B-B851-7393-BBF1-E023183B1EDC}"/>
              </a:ext>
            </a:extLst>
          </p:cNvPr>
          <p:cNvGraphicFramePr>
            <a:graphicFrameLocks noGrp="1"/>
          </p:cNvGraphicFramePr>
          <p:nvPr>
            <p:ph idx="1"/>
            <p:extLst>
              <p:ext uri="{D42A27DB-BD31-4B8C-83A1-F6EECF244321}">
                <p14:modId xmlns:p14="http://schemas.microsoft.com/office/powerpoint/2010/main" val="2235807385"/>
              </p:ext>
            </p:extLst>
          </p:nvPr>
        </p:nvGraphicFramePr>
        <p:xfrm>
          <a:off x="4202902" y="1113192"/>
          <a:ext cx="7682076" cy="41000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8666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207928-757A-8119-5E85-9C0008BA94D7}"/>
              </a:ext>
            </a:extLst>
          </p:cNvPr>
          <p:cNvSpPr>
            <a:spLocks noGrp="1"/>
          </p:cNvSpPr>
          <p:nvPr>
            <p:ph type="title"/>
          </p:nvPr>
        </p:nvSpPr>
        <p:spPr>
          <a:xfrm>
            <a:off x="1860884" y="131546"/>
            <a:ext cx="10122569" cy="814939"/>
          </a:xfrm>
        </p:spPr>
        <p:txBody>
          <a:bodyPr>
            <a:noAutofit/>
          </a:bodyPr>
          <a:lstStyle/>
          <a:p>
            <a:r>
              <a:rPr lang="en-US" sz="2400" b="0" dirty="0">
                <a:latin typeface="Times New Roman" panose="02020603050405020304" pitchFamily="18" charset="0"/>
                <a:cs typeface="Times New Roman" panose="02020603050405020304" pitchFamily="18" charset="0"/>
              </a:rPr>
              <a:t>They manage the tension by blending openness with boundaries, not choosing one over the other:</a:t>
            </a:r>
            <a:br>
              <a:rPr lang="en-US" sz="2400" b="0" dirty="0">
                <a:latin typeface="Times New Roman" panose="02020603050405020304" pitchFamily="18" charset="0"/>
                <a:cs typeface="Times New Roman" panose="02020603050405020304" pitchFamily="18" charset="0"/>
              </a:rPr>
            </a:br>
            <a:r>
              <a:rPr lang="en-US" sz="2400" b="0" dirty="0">
                <a:latin typeface="Times New Roman" panose="02020603050405020304" pitchFamily="18" charset="0"/>
                <a:cs typeface="Times New Roman" panose="02020603050405020304" pitchFamily="18" charset="0"/>
              </a:rPr>
              <a:t>“Be open where it helps collaboration and closed where it protects structure and clarity.”</a:t>
            </a:r>
            <a:br>
              <a:rPr lang="en-US" sz="2400" b="0" dirty="0">
                <a:latin typeface="Times New Roman" panose="02020603050405020304" pitchFamily="18" charset="0"/>
                <a:cs typeface="Times New Roman" panose="02020603050405020304" pitchFamily="18" charset="0"/>
              </a:rPr>
            </a:br>
            <a:endParaRPr lang="en-US" sz="2400" b="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C042AE3-9287-614A-7029-8C2BCC9BB3D5}"/>
              </a:ext>
            </a:extLst>
          </p:cNvPr>
          <p:cNvSpPr>
            <a:spLocks noGrp="1"/>
          </p:cNvSpPr>
          <p:nvPr>
            <p:ph idx="1"/>
          </p:nvPr>
        </p:nvSpPr>
        <p:spPr>
          <a:xfrm>
            <a:off x="112295" y="1581265"/>
            <a:ext cx="12079705" cy="5605598"/>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1. Agree on “Selective Openness”</a:t>
            </a:r>
          </a:p>
          <a:p>
            <a:r>
              <a:rPr lang="en-US" sz="2400" dirty="0">
                <a:latin typeface="Times New Roman" panose="02020603050405020304" pitchFamily="18" charset="0"/>
                <a:cs typeface="Times New Roman" panose="02020603050405020304" pitchFamily="18" charset="0"/>
              </a:rPr>
              <a:t>They don’t have to choose one extreme.</a:t>
            </a:r>
          </a:p>
          <a:p>
            <a:r>
              <a:rPr lang="en-US" sz="2400" dirty="0">
                <a:latin typeface="Times New Roman" panose="02020603050405020304" pitchFamily="18" charset="0"/>
                <a:cs typeface="Times New Roman" panose="02020603050405020304" pitchFamily="18" charset="0"/>
              </a:rPr>
              <a:t>Keep </a:t>
            </a:r>
            <a:r>
              <a:rPr lang="en-US" sz="2400" b="1" dirty="0">
                <a:latin typeface="Times New Roman" panose="02020603050405020304" pitchFamily="18" charset="0"/>
                <a:cs typeface="Times New Roman" panose="02020603050405020304" pitchFamily="18" charset="0"/>
              </a:rPr>
              <a:t>core decisions and sensitive issues</a:t>
            </a:r>
            <a:r>
              <a:rPr lang="en-US" sz="2400" dirty="0">
                <a:latin typeface="Times New Roman" panose="02020603050405020304" pitchFamily="18" charset="0"/>
                <a:cs typeface="Times New Roman" panose="02020603050405020304" pitchFamily="18" charset="0"/>
              </a:rPr>
              <a:t> (e.g., salaries, high-level strategy) more </a:t>
            </a:r>
            <a:r>
              <a:rPr lang="en-US" sz="2400" b="1" dirty="0">
                <a:latin typeface="Times New Roman" panose="02020603050405020304" pitchFamily="18" charset="0"/>
                <a:cs typeface="Times New Roman" panose="02020603050405020304" pitchFamily="18" charset="0"/>
              </a:rPr>
              <a:t>closed</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Allow </a:t>
            </a:r>
            <a:r>
              <a:rPr lang="en-US" sz="2400" b="1" dirty="0">
                <a:latin typeface="Times New Roman" panose="02020603050405020304" pitchFamily="18" charset="0"/>
                <a:cs typeface="Times New Roman" panose="02020603050405020304" pitchFamily="18" charset="0"/>
              </a:rPr>
              <a:t>general discussions, ideas, and feedback</a:t>
            </a:r>
            <a:r>
              <a:rPr lang="en-US" sz="2400" dirty="0">
                <a:latin typeface="Times New Roman" panose="02020603050405020304" pitchFamily="18" charset="0"/>
                <a:cs typeface="Times New Roman" panose="02020603050405020304" pitchFamily="18" charset="0"/>
              </a:rPr>
              <a:t> to be more </a:t>
            </a:r>
            <a:r>
              <a:rPr lang="en-US" sz="2400" b="1" dirty="0">
                <a:latin typeface="Times New Roman" panose="02020603050405020304" pitchFamily="18" charset="0"/>
                <a:cs typeface="Times New Roman" panose="02020603050405020304" pitchFamily="18" charset="0"/>
              </a:rPr>
              <a:t>open</a:t>
            </a:r>
            <a:r>
              <a:rPr lang="en-US" sz="2400" dirty="0">
                <a:latin typeface="Times New Roman" panose="02020603050405020304" pitchFamily="18" charset="0"/>
                <a:cs typeface="Times New Roman" panose="02020603050405020304" pitchFamily="18" charset="0"/>
              </a:rPr>
              <a:t>. 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senior engineer keeps decision authority clear but allows team members to share ideas before decisions are finalized.            </a:t>
            </a:r>
          </a:p>
          <a:p>
            <a:pPr marL="0" indent="0">
              <a:buNone/>
            </a:pPr>
            <a:r>
              <a:rPr lang="en-US" sz="2400" b="1" dirty="0">
                <a:latin typeface="Times New Roman" panose="02020603050405020304" pitchFamily="18" charset="0"/>
                <a:cs typeface="Times New Roman" panose="02020603050405020304" pitchFamily="18" charset="0"/>
              </a:rPr>
              <a:t>2. Create Structured Open Channels</a:t>
            </a:r>
          </a:p>
          <a:p>
            <a:r>
              <a:rPr lang="en-US" sz="2400" dirty="0">
                <a:latin typeface="Times New Roman" panose="02020603050405020304" pitchFamily="18" charset="0"/>
                <a:cs typeface="Times New Roman" panose="02020603050405020304" pitchFamily="18" charset="0"/>
              </a:rPr>
              <a:t>Instead of a fully open-door policy all the time:</a:t>
            </a:r>
          </a:p>
          <a:p>
            <a:r>
              <a:rPr lang="en-US" sz="2400" dirty="0">
                <a:latin typeface="Times New Roman" panose="02020603050405020304" pitchFamily="18" charset="0"/>
                <a:cs typeface="Times New Roman" panose="02020603050405020304" pitchFamily="18" charset="0"/>
              </a:rPr>
              <a:t>Set </a:t>
            </a:r>
            <a:r>
              <a:rPr lang="en-US" sz="2400" b="1" dirty="0">
                <a:latin typeface="Times New Roman" panose="02020603050405020304" pitchFamily="18" charset="0"/>
                <a:cs typeface="Times New Roman" panose="02020603050405020304" pitchFamily="18" charset="0"/>
              </a:rPr>
              <a:t>specific times or forums</a:t>
            </a:r>
            <a:r>
              <a:rPr lang="en-US" sz="2400" dirty="0">
                <a:latin typeface="Times New Roman" panose="02020603050405020304" pitchFamily="18" charset="0"/>
                <a:cs typeface="Times New Roman" panose="02020603050405020304" pitchFamily="18" charset="0"/>
              </a:rPr>
              <a:t> for openness (e.g., weekly Q&amp;A, feedback sessions). </a:t>
            </a:r>
          </a:p>
          <a:p>
            <a:r>
              <a:rPr lang="en-US" sz="2400" dirty="0">
                <a:latin typeface="Times New Roman" panose="02020603050405020304" pitchFamily="18" charset="0"/>
                <a:cs typeface="Times New Roman" panose="02020603050405020304" pitchFamily="18" charset="0"/>
              </a:rPr>
              <a:t>Maintain hierarchy outside those spaces. 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“Every Friday, anyone can drop in to discuss ideas or concerns.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2594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33C91B4-0E3C-629D-3D6F-DBA8932136EE}"/>
              </a:ext>
            </a:extLst>
          </p:cNvPr>
          <p:cNvSpPr>
            <a:spLocks noGrp="1"/>
          </p:cNvSpPr>
          <p:nvPr>
            <p:ph idx="1"/>
          </p:nvPr>
        </p:nvSpPr>
        <p:spPr>
          <a:xfrm>
            <a:off x="692857" y="179987"/>
            <a:ext cx="11499143" cy="6498026"/>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3. Clarify Boundaries</a:t>
            </a:r>
          </a:p>
          <a:p>
            <a:r>
              <a:rPr lang="en-US" sz="2400" dirty="0">
                <a:latin typeface="Times New Roman" panose="02020603050405020304" pitchFamily="18" charset="0"/>
                <a:cs typeface="Times New Roman" panose="02020603050405020304" pitchFamily="18" charset="0"/>
              </a:rPr>
              <a:t>Define what </a:t>
            </a:r>
            <a:r>
              <a:rPr lang="en-US" sz="2400" i="1" dirty="0">
                <a:latin typeface="Times New Roman" panose="02020603050405020304" pitchFamily="18" charset="0"/>
                <a:cs typeface="Times New Roman" panose="02020603050405020304" pitchFamily="18" charset="0"/>
              </a:rPr>
              <a:t>can</a:t>
            </a:r>
            <a:r>
              <a:rPr lang="en-US" sz="2400" dirty="0">
                <a:latin typeface="Times New Roman" panose="02020603050405020304" pitchFamily="18" charset="0"/>
                <a:cs typeface="Times New Roman" panose="02020603050405020304" pitchFamily="18" charset="0"/>
              </a:rPr>
              <a:t> and </a:t>
            </a:r>
            <a:r>
              <a:rPr lang="en-US" sz="2400" i="1" dirty="0">
                <a:latin typeface="Times New Roman" panose="02020603050405020304" pitchFamily="18" charset="0"/>
                <a:cs typeface="Times New Roman" panose="02020603050405020304" pitchFamily="18" charset="0"/>
              </a:rPr>
              <a:t>cannot</a:t>
            </a:r>
            <a:r>
              <a:rPr lang="en-US" sz="2400" dirty="0">
                <a:latin typeface="Times New Roman" panose="02020603050405020304" pitchFamily="18" charset="0"/>
                <a:cs typeface="Times New Roman" panose="02020603050405020304" pitchFamily="18" charset="0"/>
              </a:rPr>
              <a:t> be openly discussed.</a:t>
            </a:r>
          </a:p>
          <a:p>
            <a:r>
              <a:rPr lang="en-US" sz="2400" dirty="0">
                <a:latin typeface="Times New Roman" panose="02020603050405020304" pitchFamily="18" charset="0"/>
                <a:cs typeface="Times New Roman" panose="02020603050405020304" pitchFamily="18" charset="0"/>
              </a:rPr>
              <a:t>This reduces confusion and protects authority where needed. 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“Project ideas are open for discussion, but final deadlines and assignments are decided by leads.”</a:t>
            </a:r>
          </a:p>
          <a:p>
            <a:pPr marL="0" indent="0">
              <a:buNone/>
            </a:pPr>
            <a:r>
              <a:rPr lang="en-US" sz="2400" b="1" dirty="0">
                <a:latin typeface="Times New Roman" panose="02020603050405020304" pitchFamily="18" charset="0"/>
                <a:cs typeface="Times New Roman" panose="02020603050405020304" pitchFamily="18" charset="0"/>
              </a:rPr>
              <a:t>4. Use Layered Communication</a:t>
            </a:r>
          </a:p>
          <a:p>
            <a:r>
              <a:rPr lang="en-US" sz="2400" dirty="0">
                <a:latin typeface="Times New Roman" panose="02020603050405020304" pitchFamily="18" charset="0"/>
                <a:cs typeface="Times New Roman" panose="02020603050405020304" pitchFamily="18" charset="0"/>
              </a:rPr>
              <a:t>Combine both approaches:</a:t>
            </a:r>
          </a:p>
          <a:p>
            <a:r>
              <a:rPr lang="en-US" sz="2400" dirty="0">
                <a:latin typeface="Times New Roman" panose="02020603050405020304" pitchFamily="18" charset="0"/>
                <a:cs typeface="Times New Roman" panose="02020603050405020304" pitchFamily="18" charset="0"/>
              </a:rPr>
              <a:t>Junior team members can approach </a:t>
            </a:r>
            <a:r>
              <a:rPr lang="en-US" sz="2400" b="1" dirty="0">
                <a:latin typeface="Times New Roman" panose="02020603050405020304" pitchFamily="18" charset="0"/>
                <a:cs typeface="Times New Roman" panose="02020603050405020304" pitchFamily="18" charset="0"/>
              </a:rPr>
              <a:t>team leads first</a:t>
            </a:r>
            <a:r>
              <a:rPr lang="en-US" sz="2400" dirty="0">
                <a:latin typeface="Times New Roman" panose="02020603050405020304" pitchFamily="18" charset="0"/>
                <a:cs typeface="Times New Roman" panose="02020603050405020304" pitchFamily="18" charset="0"/>
              </a:rPr>
              <a:t> (semi-open system). </a:t>
            </a:r>
          </a:p>
          <a:p>
            <a:r>
              <a:rPr lang="en-US" sz="2400" dirty="0">
                <a:latin typeface="Times New Roman" panose="02020603050405020304" pitchFamily="18" charset="0"/>
                <a:cs typeface="Times New Roman" panose="02020603050405020304" pitchFamily="18" charset="0"/>
              </a:rPr>
              <a:t>Escalation to senior engineers is possible when needed. 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junior shares ideas with their lead, who brings them to senior meetings.</a:t>
            </a:r>
          </a:p>
          <a:p>
            <a:pPr marL="0" indent="0">
              <a:buNone/>
            </a:pPr>
            <a:r>
              <a:rPr lang="en-US" sz="2400" b="1" dirty="0">
                <a:latin typeface="Times New Roman" panose="02020603050405020304" pitchFamily="18" charset="0"/>
                <a:cs typeface="Times New Roman" panose="02020603050405020304" pitchFamily="18" charset="0"/>
              </a:rPr>
              <a:t>5. Build Trust Gradually</a:t>
            </a:r>
          </a:p>
          <a:p>
            <a:r>
              <a:rPr lang="en-US" sz="2400" dirty="0">
                <a:latin typeface="Times New Roman" panose="02020603050405020304" pitchFamily="18" charset="0"/>
                <a:cs typeface="Times New Roman" panose="02020603050405020304" pitchFamily="18" charset="0"/>
              </a:rPr>
              <a:t>As trust increases:</a:t>
            </a:r>
          </a:p>
          <a:p>
            <a:r>
              <a:rPr lang="en-US" sz="2400" dirty="0">
                <a:latin typeface="Times New Roman" panose="02020603050405020304" pitchFamily="18" charset="0"/>
                <a:cs typeface="Times New Roman" panose="02020603050405020304" pitchFamily="18" charset="0"/>
              </a:rPr>
              <a:t>The senior engineer may become more open. </a:t>
            </a:r>
          </a:p>
          <a:p>
            <a:r>
              <a:rPr lang="en-US" sz="2400" dirty="0">
                <a:latin typeface="Times New Roman" panose="02020603050405020304" pitchFamily="18" charset="0"/>
                <a:cs typeface="Times New Roman" panose="02020603050405020304" pitchFamily="18" charset="0"/>
              </a:rPr>
              <a:t>The junior learns when discretion is necessary.</a:t>
            </a:r>
          </a:p>
        </p:txBody>
      </p:sp>
    </p:spTree>
    <p:extLst>
      <p:ext uri="{BB962C8B-B14F-4D97-AF65-F5344CB8AC3E}">
        <p14:creationId xmlns:p14="http://schemas.microsoft.com/office/powerpoint/2010/main" val="3419062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6250EA-32A3-CBB4-F886-F51B32F99813}"/>
              </a:ext>
            </a:extLst>
          </p:cNvPr>
          <p:cNvSpPr>
            <a:spLocks noGrp="1"/>
          </p:cNvSpPr>
          <p:nvPr>
            <p:ph type="title"/>
          </p:nvPr>
        </p:nvSpPr>
        <p:spPr>
          <a:xfrm>
            <a:off x="612648" y="548640"/>
            <a:ext cx="10653578" cy="638476"/>
          </a:xfrm>
        </p:spPr>
        <p:txBody>
          <a:bodyPr>
            <a:normAutofit fontScale="90000"/>
          </a:bodyPr>
          <a:lstStyle/>
          <a:p>
            <a:r>
              <a:rPr lang="en-US" b="0" dirty="0"/>
              <a:t>References</a:t>
            </a:r>
          </a:p>
        </p:txBody>
      </p:sp>
      <p:sp>
        <p:nvSpPr>
          <p:cNvPr id="3" name="Content Placeholder 2">
            <a:extLst>
              <a:ext uri="{FF2B5EF4-FFF2-40B4-BE49-F238E27FC236}">
                <a16:creationId xmlns="" xmlns:a16="http://schemas.microsoft.com/office/drawing/2014/main" id="{00FE79D8-2FA4-CACE-7D4A-9E940582F0DF}"/>
              </a:ext>
            </a:extLst>
          </p:cNvPr>
          <p:cNvSpPr>
            <a:spLocks noGrp="1"/>
          </p:cNvSpPr>
          <p:nvPr>
            <p:ph idx="1"/>
          </p:nvPr>
        </p:nvSpPr>
        <p:spPr>
          <a:xfrm>
            <a:off x="691305" y="1273081"/>
            <a:ext cx="10653579" cy="4593828"/>
          </a:xfrm>
        </p:spPr>
        <p:txBody>
          <a:bodyPr/>
          <a:lstStyle/>
          <a:p>
            <a:r>
              <a:rPr lang="en-US" dirty="0"/>
              <a:t>https://thecitizen.com/2025/04/24/the-myth-of-the-lone-genius/</a:t>
            </a:r>
          </a:p>
          <a:p>
            <a:r>
              <a:rPr lang="en-US" dirty="0"/>
              <a:t>Bovee &amp; Thill. (2016) </a:t>
            </a:r>
            <a:r>
              <a:rPr lang="en-US" i="1" dirty="0"/>
              <a:t>Business Communication Today 13</a:t>
            </a:r>
            <a:r>
              <a:rPr lang="en-US" i="1" baseline="30000" dirty="0"/>
              <a:t>th</a:t>
            </a:r>
            <a:r>
              <a:rPr lang="en-US" i="1" dirty="0"/>
              <a:t> Ed. </a:t>
            </a:r>
            <a:r>
              <a:rPr lang="en-US" dirty="0"/>
              <a:t>(</a:t>
            </a:r>
            <a:r>
              <a:rPr lang="en-US" sz="1800" dirty="0"/>
              <a:t>Prentice-Hall</a:t>
            </a:r>
            <a:r>
              <a:rPr lang="en-US" dirty="0"/>
              <a:t>)</a:t>
            </a:r>
          </a:p>
          <a:p>
            <a:r>
              <a:rPr lang="en-US" dirty="0"/>
              <a:t>Kathleen S. Verderber. </a:t>
            </a:r>
            <a:r>
              <a:rPr lang="en-US" i="1" dirty="0"/>
              <a:t>Communicate</a:t>
            </a:r>
            <a:r>
              <a:rPr lang="en-US" dirty="0"/>
              <a:t> </a:t>
            </a:r>
            <a:r>
              <a:rPr lang="en-US" i="1" dirty="0"/>
              <a:t>(13</a:t>
            </a:r>
            <a:r>
              <a:rPr lang="en-US" i="1" baseline="30000" dirty="0"/>
              <a:t>th</a:t>
            </a:r>
            <a:r>
              <a:rPr lang="en-US" i="1" dirty="0"/>
              <a:t> Ed.)</a:t>
            </a:r>
          </a:p>
          <a:p>
            <a:endParaRPr lang="en-US" dirty="0"/>
          </a:p>
        </p:txBody>
      </p:sp>
    </p:spTree>
    <p:extLst>
      <p:ext uri="{BB962C8B-B14F-4D97-AF65-F5344CB8AC3E}">
        <p14:creationId xmlns:p14="http://schemas.microsoft.com/office/powerpoint/2010/main" val="13925990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31307" y="1219025"/>
            <a:ext cx="9833685" cy="2353056"/>
          </a:xfrm>
        </p:spPr>
        <p:txBody>
          <a:bodyPr>
            <a:normAutofit fontScale="90000"/>
          </a:bodyPr>
          <a:lstStyle/>
          <a:p>
            <a:r>
              <a:rPr lang="en-US" sz="3200" b="1" dirty="0"/>
              <a:t>Ch. 8. Interpersonal Communication</a:t>
            </a:r>
            <a:br>
              <a:rPr lang="en-US" sz="3200" b="1" dirty="0"/>
            </a:br>
            <a:r>
              <a:rPr lang="en-US" sz="2400" dirty="0"/>
              <a:t>Providing Emotional Support, Managing Privacy and Disclosure, Negotiating Conflict, Managing Inter-personal conflict.</a:t>
            </a:r>
            <a:r>
              <a:rPr lang="en-US" sz="3200" b="1" dirty="0"/>
              <a:t/>
            </a:r>
            <a:br>
              <a:rPr lang="en-US" sz="3200" b="1" dirty="0"/>
            </a:br>
            <a:r>
              <a:rPr lang="en-US" sz="3200" b="1" dirty="0"/>
              <a:t/>
            </a:r>
            <a:br>
              <a:rPr lang="en-US" sz="3200" b="1" dirty="0"/>
            </a:br>
            <a:r>
              <a:rPr lang="en-US" sz="2700" dirty="0"/>
              <a:t>CLO – 04: </a:t>
            </a:r>
            <a:br>
              <a:rPr lang="en-US" sz="2700" dirty="0"/>
            </a:br>
            <a:r>
              <a:rPr lang="en-US" sz="2700" dirty="0"/>
              <a:t>Identify workplace conflict and develop resolution strategies</a:t>
            </a:r>
            <a:endParaRPr lang="en-US" sz="3200" dirty="0"/>
          </a:p>
        </p:txBody>
      </p:sp>
      <p:sp>
        <p:nvSpPr>
          <p:cNvPr id="3" name="Subtitle 2"/>
          <p:cNvSpPr>
            <a:spLocks noGrp="1"/>
          </p:cNvSpPr>
          <p:nvPr>
            <p:ph type="subTitle" idx="1"/>
          </p:nvPr>
        </p:nvSpPr>
        <p:spPr>
          <a:xfrm>
            <a:off x="3703138" y="4462447"/>
            <a:ext cx="5490024" cy="1044491"/>
          </a:xfrm>
        </p:spPr>
        <p:txBody>
          <a:bodyPr>
            <a:normAutofit/>
          </a:bodyPr>
          <a:lstStyle/>
          <a:p>
            <a:r>
              <a:rPr lang="en-US" dirty="0"/>
              <a:t>EE Communication Skills (SS-2010) Spring 2026</a:t>
            </a:r>
          </a:p>
          <a:p>
            <a:r>
              <a:rPr lang="en-US" dirty="0"/>
              <a:t>Wk. 10.2</a:t>
            </a:r>
          </a:p>
        </p:txBody>
      </p:sp>
    </p:spTree>
    <p:extLst>
      <p:ext uri="{BB962C8B-B14F-4D97-AF65-F5344CB8AC3E}">
        <p14:creationId xmlns:p14="http://schemas.microsoft.com/office/powerpoint/2010/main" val="71137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9744" y="0"/>
            <a:ext cx="8915399" cy="707828"/>
          </a:xfrm>
        </p:spPr>
        <p:txBody>
          <a:bodyPr>
            <a:normAutofit/>
          </a:bodyPr>
          <a:lstStyle/>
          <a:p>
            <a:r>
              <a:rPr lang="en-US" sz="3200" b="1" dirty="0"/>
              <a:t>Learning Objectives </a:t>
            </a:r>
            <a:r>
              <a:rPr lang="en-US" sz="2400" dirty="0"/>
              <a:t>(CLO - 04) </a:t>
            </a:r>
          </a:p>
        </p:txBody>
      </p:sp>
      <p:sp>
        <p:nvSpPr>
          <p:cNvPr id="3" name="Subtitle 2"/>
          <p:cNvSpPr>
            <a:spLocks noGrp="1"/>
          </p:cNvSpPr>
          <p:nvPr>
            <p:ph type="subTitle" idx="1"/>
          </p:nvPr>
        </p:nvSpPr>
        <p:spPr>
          <a:xfrm>
            <a:off x="999744" y="1051638"/>
            <a:ext cx="11192256" cy="5585136"/>
          </a:xfrm>
        </p:spPr>
        <p:txBody>
          <a:bodyPr>
            <a:normAutofit fontScale="92500" lnSpcReduction="10000"/>
          </a:bodyPr>
          <a:lstStyle/>
          <a:p>
            <a:pPr marL="514350" indent="-514350">
              <a:buFont typeface="+mj-lt"/>
              <a:buAutoNum type="arabicPeriod"/>
            </a:pPr>
            <a:r>
              <a:rPr lang="en-US" sz="2800" dirty="0"/>
              <a:t>Describe Characteristics of Comforting Messages</a:t>
            </a:r>
          </a:p>
          <a:p>
            <a:pPr marL="514350" indent="-514350">
              <a:buFont typeface="+mj-lt"/>
              <a:buAutoNum type="arabicPeriod"/>
            </a:pPr>
            <a:r>
              <a:rPr lang="en-US" sz="2800" dirty="0"/>
              <a:t>Apply Disclosure and Privacy Strategies in Relationships</a:t>
            </a:r>
          </a:p>
          <a:p>
            <a:pPr marL="514350" indent="-514350">
              <a:buFont typeface="+mj-lt"/>
              <a:buAutoNum type="arabicPeriod"/>
            </a:pPr>
            <a:r>
              <a:rPr lang="en-US" sz="2800" dirty="0"/>
              <a:t>Inspect People Negotiating Needs, Wants, and Preferences</a:t>
            </a:r>
          </a:p>
          <a:p>
            <a:pPr marL="514350" indent="-514350">
              <a:buFont typeface="+mj-lt"/>
              <a:buAutoNum type="arabicPeriod"/>
            </a:pPr>
            <a:r>
              <a:rPr lang="en-US" sz="2800" b="1" dirty="0"/>
              <a:t>Manage Conflict in Relationships</a:t>
            </a:r>
          </a:p>
          <a:p>
            <a:pPr marL="514350" indent="-514350">
              <a:buFont typeface="+mj-lt"/>
              <a:buAutoNum type="arabicPeriod"/>
            </a:pPr>
            <a:r>
              <a:rPr lang="en-US" sz="2800" b="1" dirty="0"/>
              <a:t>Estimate Collaborative Approach to Conflicts</a:t>
            </a:r>
          </a:p>
          <a:p>
            <a:pPr marL="514350" indent="-514350">
              <a:buFont typeface="+mj-lt"/>
              <a:buAutoNum type="arabicPeriod"/>
            </a:pPr>
            <a:r>
              <a:rPr lang="en-US" sz="2800" dirty="0"/>
              <a:t>Activity #9 (10 marks) (CLO – 04) </a:t>
            </a:r>
          </a:p>
          <a:p>
            <a:pPr marL="514350" indent="-514350">
              <a:buFont typeface="+mj-lt"/>
              <a:buAutoNum type="arabicPeriod"/>
            </a:pPr>
            <a:endParaRPr lang="en-US" sz="2800" dirty="0"/>
          </a:p>
          <a:p>
            <a:pPr marL="514350" indent="-514350">
              <a:buFont typeface="+mj-lt"/>
              <a:buAutoNum type="arabicPeriod"/>
            </a:pPr>
            <a:endParaRPr lang="en-US" sz="2800" dirty="0"/>
          </a:p>
          <a:p>
            <a:pPr marL="514350" indent="-514350">
              <a:buFont typeface="+mj-lt"/>
              <a:buAutoNum type="arabicPeriod"/>
            </a:pPr>
            <a:endParaRPr lang="en-US" sz="2800" dirty="0"/>
          </a:p>
          <a:p>
            <a:r>
              <a:rPr lang="en-US" sz="2800" dirty="0">
                <a:highlight>
                  <a:srgbClr val="FFFF00"/>
                </a:highlight>
              </a:rPr>
              <a:t>Please Note: Points 2 and 3 are for your self-reading in the textbook. Points 4 and 5 are discussed in the upcoming slides.</a:t>
            </a:r>
          </a:p>
        </p:txBody>
      </p:sp>
    </p:spTree>
    <p:extLst>
      <p:ext uri="{BB962C8B-B14F-4D97-AF65-F5344CB8AC3E}">
        <p14:creationId xmlns:p14="http://schemas.microsoft.com/office/powerpoint/2010/main" val="302147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35BB10-D7DB-DEC1-B2E0-AC844CDA8FE1}"/>
              </a:ext>
            </a:extLst>
          </p:cNvPr>
          <p:cNvSpPr>
            <a:spLocks noGrp="1"/>
          </p:cNvSpPr>
          <p:nvPr>
            <p:ph type="title"/>
          </p:nvPr>
        </p:nvSpPr>
        <p:spPr>
          <a:xfrm>
            <a:off x="1956619" y="624110"/>
            <a:ext cx="9547993" cy="831064"/>
          </a:xfrm>
        </p:spPr>
        <p:txBody>
          <a:bodyPr>
            <a:normAutofit/>
          </a:bodyPr>
          <a:lstStyle/>
          <a:p>
            <a:r>
              <a:rPr lang="en-US" dirty="0"/>
              <a:t>1. Characteristics of Comforting Messages </a:t>
            </a:r>
          </a:p>
        </p:txBody>
      </p:sp>
      <p:sp>
        <p:nvSpPr>
          <p:cNvPr id="3" name="Content Placeholder 2">
            <a:extLst>
              <a:ext uri="{FF2B5EF4-FFF2-40B4-BE49-F238E27FC236}">
                <a16:creationId xmlns="" xmlns:a16="http://schemas.microsoft.com/office/drawing/2014/main" id="{4A5FAFC3-E0AB-3A9A-7BA1-E4AF88F00B90}"/>
              </a:ext>
            </a:extLst>
          </p:cNvPr>
          <p:cNvSpPr>
            <a:spLocks noGrp="1"/>
          </p:cNvSpPr>
          <p:nvPr>
            <p:ph idx="1"/>
          </p:nvPr>
        </p:nvSpPr>
        <p:spPr>
          <a:xfrm>
            <a:off x="1553931" y="1455174"/>
            <a:ext cx="10244780" cy="4467321"/>
          </a:xfrm>
        </p:spPr>
        <p:txBody>
          <a:bodyPr>
            <a:normAutofit fontScale="92500" lnSpcReduction="10000"/>
          </a:bodyPr>
          <a:lstStyle/>
          <a:p>
            <a:pPr marL="0" indent="0">
              <a:buNone/>
            </a:pPr>
            <a:r>
              <a:rPr lang="en-US" sz="2600" b="1" dirty="0"/>
              <a:t>Humans do need emotional support and comfort to feel secure, heal, and to revitalize.</a:t>
            </a:r>
          </a:p>
          <a:p>
            <a:pPr>
              <a:buFont typeface="+mj-lt"/>
              <a:buAutoNum type="arabicPeriod"/>
            </a:pPr>
            <a:r>
              <a:rPr lang="en-US" sz="2600" dirty="0"/>
              <a:t>Comforting is helping others feel better about themselves, their behavior or their situation by creating a safe space to express their thoughts and feelings.</a:t>
            </a:r>
          </a:p>
          <a:p>
            <a:pPr>
              <a:buAutoNum type="arabicPeriod" startAt="2"/>
            </a:pPr>
            <a:r>
              <a:rPr lang="en-US" sz="2600" dirty="0"/>
              <a:t>Comfort providers feel enhanced self-esteem and improved relationships with the receivers.</a:t>
            </a:r>
          </a:p>
          <a:p>
            <a:pPr>
              <a:buAutoNum type="arabicPeriod" startAt="2"/>
            </a:pPr>
            <a:r>
              <a:rPr lang="en-US" sz="2600" dirty="0"/>
              <a:t>Per research, both men and women value emotional support from their relationship partners.</a:t>
            </a:r>
          </a:p>
          <a:p>
            <a:pPr>
              <a:buAutoNum type="arabicPeriod" startAt="2"/>
            </a:pPr>
            <a:r>
              <a:rPr lang="en-US" sz="2600" dirty="0"/>
              <a:t>Providing emotional support gets valued across cultural and co-cultural groups.</a:t>
            </a:r>
          </a:p>
        </p:txBody>
      </p:sp>
    </p:spTree>
    <p:extLst>
      <p:ext uri="{BB962C8B-B14F-4D97-AF65-F5344CB8AC3E}">
        <p14:creationId xmlns:p14="http://schemas.microsoft.com/office/powerpoint/2010/main" val="2337253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C235E0-F422-6326-7F63-239C9FD4A637}"/>
              </a:ext>
            </a:extLst>
          </p:cNvPr>
          <p:cNvSpPr>
            <a:spLocks noGrp="1"/>
          </p:cNvSpPr>
          <p:nvPr>
            <p:ph type="title"/>
          </p:nvPr>
        </p:nvSpPr>
        <p:spPr>
          <a:xfrm>
            <a:off x="2592925" y="624110"/>
            <a:ext cx="8911687" cy="840896"/>
          </a:xfrm>
        </p:spPr>
        <p:txBody>
          <a:bodyPr/>
          <a:lstStyle/>
          <a:p>
            <a:r>
              <a:rPr lang="en-US" dirty="0"/>
              <a:t>Comforting Guidelines</a:t>
            </a:r>
          </a:p>
        </p:txBody>
      </p:sp>
      <p:sp>
        <p:nvSpPr>
          <p:cNvPr id="3" name="Content Placeholder 2">
            <a:extLst>
              <a:ext uri="{FF2B5EF4-FFF2-40B4-BE49-F238E27FC236}">
                <a16:creationId xmlns="" xmlns:a16="http://schemas.microsoft.com/office/drawing/2014/main" id="{C9052879-7E54-6725-A039-06226B2BB5A7}"/>
              </a:ext>
            </a:extLst>
          </p:cNvPr>
          <p:cNvSpPr>
            <a:spLocks noGrp="1"/>
          </p:cNvSpPr>
          <p:nvPr>
            <p:ph idx="1"/>
          </p:nvPr>
        </p:nvSpPr>
        <p:spPr>
          <a:xfrm>
            <a:off x="1600200" y="1465006"/>
            <a:ext cx="9904412" cy="4983480"/>
          </a:xfrm>
        </p:spPr>
        <p:txBody>
          <a:bodyPr>
            <a:normAutofit/>
          </a:bodyPr>
          <a:lstStyle/>
          <a:p>
            <a:pPr>
              <a:buAutoNum type="arabicPeriod"/>
            </a:pPr>
            <a:r>
              <a:rPr lang="en-US" sz="2400" dirty="0"/>
              <a:t>Clarify supportive intentions: tell clearly your motive(s) to provide support.</a:t>
            </a:r>
          </a:p>
          <a:p>
            <a:pPr>
              <a:buAutoNum type="arabicPeriod"/>
            </a:pPr>
            <a:r>
              <a:rPr lang="en-US" sz="2400" dirty="0"/>
              <a:t>Protect others from feeling embarrassed, challenged, or hurting someone’s self-image.</a:t>
            </a:r>
          </a:p>
          <a:p>
            <a:pPr>
              <a:buAutoNum type="arabicPeriod"/>
            </a:pPr>
            <a:r>
              <a:rPr lang="en-US" sz="2400" dirty="0"/>
              <a:t>Focus your comforting message on the other person’s needs and perspectives.</a:t>
            </a:r>
          </a:p>
          <a:p>
            <a:pPr>
              <a:buAutoNum type="arabicPeriod"/>
            </a:pPr>
            <a:r>
              <a:rPr lang="en-US" sz="2400" dirty="0"/>
              <a:t>Reframe the situation by offering ideas, observations, or explanations through a different perspective.</a:t>
            </a:r>
          </a:p>
          <a:p>
            <a:pPr>
              <a:buAutoNum type="arabicPeriod"/>
            </a:pPr>
            <a:r>
              <a:rPr lang="en-US" sz="2400" dirty="0"/>
              <a:t>Give advice by providing relevant suggestions to resolve a problem or a situation. </a:t>
            </a:r>
          </a:p>
        </p:txBody>
      </p:sp>
    </p:spTree>
    <p:extLst>
      <p:ext uri="{BB962C8B-B14F-4D97-AF65-F5344CB8AC3E}">
        <p14:creationId xmlns:p14="http://schemas.microsoft.com/office/powerpoint/2010/main" val="1146946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700" y="0"/>
            <a:ext cx="12192000" cy="6858000"/>
          </a:xfrm>
          <a:prstGeom prst="rect">
            <a:avLst/>
          </a:prstGeom>
        </p:spPr>
      </p:pic>
    </p:spTree>
    <p:extLst>
      <p:ext uri="{BB962C8B-B14F-4D97-AF65-F5344CB8AC3E}">
        <p14:creationId xmlns:p14="http://schemas.microsoft.com/office/powerpoint/2010/main" val="64409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2525" y="446310"/>
            <a:ext cx="4531775" cy="696690"/>
          </a:xfrm>
        </p:spPr>
        <p:txBody>
          <a:bodyPr/>
          <a:lstStyle/>
          <a:p>
            <a:r>
              <a:rPr lang="en-US" dirty="0"/>
              <a:t>4. What is Conflict?</a:t>
            </a:r>
          </a:p>
        </p:txBody>
      </p:sp>
      <p:sp>
        <p:nvSpPr>
          <p:cNvPr id="3" name="Content Placeholder 2"/>
          <p:cNvSpPr>
            <a:spLocks noGrp="1"/>
          </p:cNvSpPr>
          <p:nvPr>
            <p:ph idx="1"/>
          </p:nvPr>
        </p:nvSpPr>
        <p:spPr>
          <a:xfrm>
            <a:off x="1485900" y="1587500"/>
            <a:ext cx="10412412" cy="1371600"/>
          </a:xfrm>
        </p:spPr>
        <p:txBody>
          <a:bodyPr>
            <a:normAutofit/>
          </a:bodyPr>
          <a:lstStyle/>
          <a:p>
            <a:pPr algn="just"/>
            <a:r>
              <a:rPr lang="en-US" sz="2400" dirty="0"/>
              <a:t>An expressed struggle between at least two interdependent parties who perceive incompatible goals, scarce resources, and interference from the other party in achieving their goals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5900" y="3403600"/>
            <a:ext cx="10706099" cy="3454400"/>
          </a:xfrm>
          <a:prstGeom prst="rect">
            <a:avLst/>
          </a:prstGeom>
        </p:spPr>
      </p:pic>
    </p:spTree>
    <p:extLst>
      <p:ext uri="{BB962C8B-B14F-4D97-AF65-F5344CB8AC3E}">
        <p14:creationId xmlns:p14="http://schemas.microsoft.com/office/powerpoint/2010/main" val="3941380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5638" y="421299"/>
            <a:ext cx="10606362" cy="542953"/>
          </a:xfrm>
        </p:spPr>
        <p:txBody>
          <a:bodyPr>
            <a:normAutofit fontScale="90000"/>
          </a:bodyPr>
          <a:lstStyle/>
          <a:p>
            <a:r>
              <a:rPr lang="en-US" dirty="0"/>
              <a:t>   Managing Conflict in Relationships</a:t>
            </a:r>
            <a:endParaRPr lang="en-US" sz="1800" b="1" dirty="0"/>
          </a:p>
        </p:txBody>
      </p:sp>
      <p:sp>
        <p:nvSpPr>
          <p:cNvPr id="3" name="Content Placeholder 2"/>
          <p:cNvSpPr>
            <a:spLocks noGrp="1"/>
          </p:cNvSpPr>
          <p:nvPr>
            <p:ph idx="1"/>
          </p:nvPr>
        </p:nvSpPr>
        <p:spPr>
          <a:xfrm>
            <a:off x="452285" y="1432148"/>
            <a:ext cx="11631561" cy="4254500"/>
          </a:xfrm>
        </p:spPr>
        <p:txBody>
          <a:bodyPr>
            <a:noAutofit/>
          </a:bodyPr>
          <a:lstStyle/>
          <a:p>
            <a:r>
              <a:rPr lang="en-GB" sz="2750" dirty="0"/>
              <a:t>All relationships inevitably face/ experience conflict</a:t>
            </a:r>
          </a:p>
          <a:p>
            <a:r>
              <a:rPr lang="en-GB" sz="2750" dirty="0"/>
              <a:t>Avoiding a conflict is a good strategy, but fails often</a:t>
            </a:r>
          </a:p>
          <a:p>
            <a:r>
              <a:rPr lang="en-GB" sz="2750" dirty="0"/>
              <a:t>High performance teams view conflict as healthy and productive</a:t>
            </a:r>
          </a:p>
          <a:p>
            <a:r>
              <a:rPr lang="en-GB" sz="2750" dirty="0"/>
              <a:t>Viewing of conflicts is different in different cultures</a:t>
            </a:r>
          </a:p>
          <a:p>
            <a:r>
              <a:rPr lang="en-GB" sz="2750" dirty="0"/>
              <a:t>There are five styles to tackle/ manage conflict</a:t>
            </a:r>
          </a:p>
        </p:txBody>
      </p:sp>
    </p:spTree>
    <p:extLst>
      <p:ext uri="{BB962C8B-B14F-4D97-AF65-F5344CB8AC3E}">
        <p14:creationId xmlns:p14="http://schemas.microsoft.com/office/powerpoint/2010/main" val="2682811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5006" y="344710"/>
            <a:ext cx="8911687" cy="683990"/>
          </a:xfrm>
        </p:spPr>
        <p:txBody>
          <a:bodyPr/>
          <a:lstStyle/>
          <a:p>
            <a:r>
              <a:rPr lang="en-US" dirty="0"/>
              <a:t>Characteristics of Conflict</a:t>
            </a:r>
          </a:p>
        </p:txBody>
      </p:sp>
      <p:sp>
        <p:nvSpPr>
          <p:cNvPr id="3" name="Content Placeholder 2"/>
          <p:cNvSpPr>
            <a:spLocks noGrp="1"/>
          </p:cNvSpPr>
          <p:nvPr>
            <p:ph idx="1"/>
          </p:nvPr>
        </p:nvSpPr>
        <p:spPr>
          <a:xfrm>
            <a:off x="865239" y="1562100"/>
            <a:ext cx="11326761" cy="3777622"/>
          </a:xfrm>
        </p:spPr>
        <p:txBody>
          <a:bodyPr>
            <a:normAutofit/>
          </a:bodyPr>
          <a:lstStyle/>
          <a:p>
            <a:r>
              <a:rPr lang="en-US" sz="2800" dirty="0"/>
              <a:t>At least two people are required </a:t>
            </a:r>
            <a:r>
              <a:rPr lang="en-US" sz="2800" i="1" dirty="0"/>
              <a:t>(interpersonal)</a:t>
            </a:r>
          </a:p>
          <a:p>
            <a:r>
              <a:rPr lang="en-US" sz="2800" dirty="0"/>
              <a:t>Involves a struggle/ incompatibility/ perceived differences among goals/ values/ desires/ perceptions</a:t>
            </a:r>
          </a:p>
          <a:p>
            <a:r>
              <a:rPr lang="en-US" sz="2800" dirty="0"/>
              <a:t>An action </a:t>
            </a:r>
            <a:r>
              <a:rPr lang="en-US" sz="2800" i="1" dirty="0"/>
              <a:t>(without action, a conflict is latent)</a:t>
            </a:r>
          </a:p>
          <a:p>
            <a:r>
              <a:rPr lang="en-US" sz="2800" dirty="0"/>
              <a:t>Power/ attempts to influence </a:t>
            </a:r>
            <a:r>
              <a:rPr lang="en-US" sz="2800" i="1" dirty="0"/>
              <a:t>(otherwise, it’ll be just a disagreement)</a:t>
            </a:r>
          </a:p>
        </p:txBody>
      </p:sp>
    </p:spTree>
    <p:extLst>
      <p:ext uri="{BB962C8B-B14F-4D97-AF65-F5344CB8AC3E}">
        <p14:creationId xmlns:p14="http://schemas.microsoft.com/office/powerpoint/2010/main" val="3747322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7125" y="293910"/>
            <a:ext cx="6068475" cy="607790"/>
          </a:xfrm>
        </p:spPr>
        <p:txBody>
          <a:bodyPr>
            <a:normAutofit fontScale="90000"/>
          </a:bodyPr>
          <a:lstStyle/>
          <a:p>
            <a:r>
              <a:rPr lang="en-US" dirty="0"/>
              <a:t>Views of Conflict</a:t>
            </a:r>
          </a:p>
        </p:txBody>
      </p:sp>
      <p:sp>
        <p:nvSpPr>
          <p:cNvPr id="3" name="Content Placeholder 2"/>
          <p:cNvSpPr>
            <a:spLocks noGrp="1"/>
          </p:cNvSpPr>
          <p:nvPr>
            <p:ph idx="1"/>
          </p:nvPr>
        </p:nvSpPr>
        <p:spPr>
          <a:xfrm>
            <a:off x="1460500" y="1231900"/>
            <a:ext cx="10731500" cy="5626100"/>
          </a:xfrm>
        </p:spPr>
        <p:txBody>
          <a:bodyPr>
            <a:normAutofit/>
          </a:bodyPr>
          <a:lstStyle/>
          <a:p>
            <a:r>
              <a:rPr lang="en-US" sz="2400" b="1" dirty="0"/>
              <a:t>Traditional:</a:t>
            </a:r>
            <a:r>
              <a:rPr lang="en-US" sz="2400" dirty="0"/>
              <a:t> </a:t>
            </a:r>
            <a:r>
              <a:rPr lang="en-US" sz="2400" dirty="0">
                <a:solidFill>
                  <a:schemeClr val="accent1"/>
                </a:solidFill>
              </a:rPr>
              <a:t>all conflicts are harmful – must be avoided</a:t>
            </a:r>
          </a:p>
          <a:p>
            <a:r>
              <a:rPr lang="en-US" sz="2400" b="1" dirty="0"/>
              <a:t>Human Relational: </a:t>
            </a:r>
            <a:r>
              <a:rPr lang="en-US" sz="2400" dirty="0">
                <a:solidFill>
                  <a:schemeClr val="accent1"/>
                </a:solidFill>
              </a:rPr>
              <a:t>conflict is a natural and inevitable outcome in any group</a:t>
            </a:r>
          </a:p>
          <a:p>
            <a:r>
              <a:rPr lang="en-US" sz="2400" b="1" dirty="0"/>
              <a:t>Integrationist:</a:t>
            </a:r>
            <a:r>
              <a:rPr lang="en-US" sz="2400" dirty="0"/>
              <a:t> </a:t>
            </a:r>
            <a:r>
              <a:rPr lang="en-US" sz="2400" dirty="0">
                <a:solidFill>
                  <a:schemeClr val="accent1"/>
                </a:solidFill>
              </a:rPr>
              <a:t>conflict is a positive and an essential component for a team to perform effectively</a:t>
            </a:r>
          </a:p>
          <a:p>
            <a:r>
              <a:rPr lang="en-US" sz="2400" b="1" dirty="0"/>
              <a:t>Functionalist: </a:t>
            </a:r>
            <a:r>
              <a:rPr lang="en-US" sz="2400" dirty="0">
                <a:solidFill>
                  <a:schemeClr val="accent1"/>
                </a:solidFill>
              </a:rPr>
              <a:t>works towards the goals of an organization/ group</a:t>
            </a:r>
          </a:p>
          <a:p>
            <a:pPr lvl="1"/>
            <a:r>
              <a:rPr lang="en-US" sz="2400" dirty="0"/>
              <a:t>Constructive, increases info/ ideas, innovative, reduces stagnation</a:t>
            </a:r>
          </a:p>
          <a:p>
            <a:r>
              <a:rPr lang="en-US" sz="2400" b="1" dirty="0"/>
              <a:t>Dysfunctional:</a:t>
            </a:r>
            <a:r>
              <a:rPr lang="en-US" sz="2400" dirty="0"/>
              <a:t> </a:t>
            </a:r>
            <a:r>
              <a:rPr lang="en-US" sz="2400" dirty="0">
                <a:solidFill>
                  <a:schemeClr val="accent1"/>
                </a:solidFill>
              </a:rPr>
              <a:t>blocks an organization to attain goals</a:t>
            </a:r>
          </a:p>
          <a:p>
            <a:pPr lvl="1"/>
            <a:r>
              <a:rPr lang="en-US" sz="2400" dirty="0"/>
              <a:t>Destructive, reduces trust, reduces info, poor decisions, stressful, low tolerance</a:t>
            </a:r>
          </a:p>
        </p:txBody>
      </p:sp>
    </p:spTree>
    <p:extLst>
      <p:ext uri="{BB962C8B-B14F-4D97-AF65-F5344CB8AC3E}">
        <p14:creationId xmlns:p14="http://schemas.microsoft.com/office/powerpoint/2010/main" val="2507822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5012" y="158178"/>
            <a:ext cx="8911687" cy="672877"/>
          </a:xfrm>
        </p:spPr>
        <p:txBody>
          <a:bodyPr/>
          <a:lstStyle/>
          <a:p>
            <a:r>
              <a:rPr lang="en-US" dirty="0"/>
              <a:t>Conflict Management</a:t>
            </a:r>
          </a:p>
        </p:txBody>
      </p:sp>
      <p:sp>
        <p:nvSpPr>
          <p:cNvPr id="3" name="Content Placeholder 2"/>
          <p:cNvSpPr>
            <a:spLocks noGrp="1"/>
          </p:cNvSpPr>
          <p:nvPr>
            <p:ph idx="1"/>
          </p:nvPr>
        </p:nvSpPr>
        <p:spPr>
          <a:xfrm>
            <a:off x="2005012" y="999728"/>
            <a:ext cx="9956800" cy="507999"/>
          </a:xfrm>
        </p:spPr>
        <p:txBody>
          <a:bodyPr>
            <a:noAutofit/>
          </a:bodyPr>
          <a:lstStyle/>
          <a:p>
            <a:pPr marL="0" indent="0">
              <a:buNone/>
            </a:pPr>
            <a:r>
              <a:rPr lang="en-US" sz="2400" b="1" dirty="0">
                <a:solidFill>
                  <a:schemeClr val="accent1"/>
                </a:solidFill>
              </a:rPr>
              <a:t>‘the opportunity to improve situations and strengthen relationships’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5012" y="1676401"/>
            <a:ext cx="10186987" cy="5181600"/>
          </a:xfrm>
          <a:prstGeom prst="rect">
            <a:avLst/>
          </a:prstGeom>
        </p:spPr>
      </p:pic>
    </p:spTree>
    <p:extLst>
      <p:ext uri="{BB962C8B-B14F-4D97-AF65-F5344CB8AC3E}">
        <p14:creationId xmlns:p14="http://schemas.microsoft.com/office/powerpoint/2010/main" val="1330544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5725" y="243110"/>
            <a:ext cx="8911687" cy="722090"/>
          </a:xfrm>
        </p:spPr>
        <p:txBody>
          <a:bodyPr>
            <a:normAutofit/>
          </a:bodyPr>
          <a:lstStyle/>
          <a:p>
            <a:r>
              <a:rPr lang="en-US" dirty="0"/>
              <a:t>The Five Styles of Conflict Management</a:t>
            </a:r>
          </a:p>
        </p:txBody>
      </p:sp>
      <p:sp>
        <p:nvSpPr>
          <p:cNvPr id="3" name="Content Placeholder 2"/>
          <p:cNvSpPr>
            <a:spLocks noGrp="1"/>
          </p:cNvSpPr>
          <p:nvPr>
            <p:ph idx="1"/>
          </p:nvPr>
        </p:nvSpPr>
        <p:spPr>
          <a:xfrm>
            <a:off x="2132012" y="1219200"/>
            <a:ext cx="8915400" cy="3777622"/>
          </a:xfrm>
        </p:spPr>
        <p:txBody>
          <a:bodyPr>
            <a:normAutofit/>
          </a:bodyPr>
          <a:lstStyle/>
          <a:p>
            <a:pPr>
              <a:buFont typeface="+mj-lt"/>
              <a:buAutoNum type="arabicPeriod"/>
            </a:pPr>
            <a:r>
              <a:rPr lang="en-US" sz="3600" dirty="0"/>
              <a:t> Withdraw </a:t>
            </a:r>
            <a:r>
              <a:rPr lang="en-US" sz="3600" i="1" dirty="0"/>
              <a:t>(Avoid)</a:t>
            </a:r>
          </a:p>
          <a:p>
            <a:pPr>
              <a:buFont typeface="+mj-lt"/>
              <a:buAutoNum type="arabicPeriod"/>
            </a:pPr>
            <a:r>
              <a:rPr lang="en-US" sz="3600" dirty="0"/>
              <a:t> Accommodate</a:t>
            </a:r>
          </a:p>
          <a:p>
            <a:pPr>
              <a:buFont typeface="+mj-lt"/>
              <a:buAutoNum type="arabicPeriod"/>
            </a:pPr>
            <a:r>
              <a:rPr lang="en-US" sz="3600" dirty="0"/>
              <a:t> Force </a:t>
            </a:r>
            <a:r>
              <a:rPr lang="en-US" sz="3600" i="1" dirty="0"/>
              <a:t>(Compete)</a:t>
            </a:r>
          </a:p>
          <a:p>
            <a:pPr>
              <a:buFont typeface="+mj-lt"/>
              <a:buAutoNum type="arabicPeriod"/>
            </a:pPr>
            <a:r>
              <a:rPr lang="en-US" sz="3600" dirty="0"/>
              <a:t> Compromise</a:t>
            </a:r>
          </a:p>
          <a:p>
            <a:pPr>
              <a:buFont typeface="+mj-lt"/>
              <a:buAutoNum type="arabicPeriod"/>
            </a:pPr>
            <a:r>
              <a:rPr lang="en-US" sz="3600" dirty="0"/>
              <a:t> Collaborate</a:t>
            </a:r>
          </a:p>
        </p:txBody>
      </p:sp>
    </p:spTree>
    <p:extLst>
      <p:ext uri="{BB962C8B-B14F-4D97-AF65-F5344CB8AC3E}">
        <p14:creationId xmlns:p14="http://schemas.microsoft.com/office/powerpoint/2010/main" val="539823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488963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9485" y="212630"/>
            <a:ext cx="8911687" cy="579850"/>
          </a:xfrm>
        </p:spPr>
        <p:txBody>
          <a:bodyPr>
            <a:normAutofit fontScale="90000"/>
          </a:bodyPr>
          <a:lstStyle/>
          <a:p>
            <a:r>
              <a:rPr lang="en-US" dirty="0"/>
              <a:t>Conflict Continuum – In Other Words:</a:t>
            </a:r>
          </a:p>
        </p:txBody>
      </p:sp>
      <p:sp>
        <p:nvSpPr>
          <p:cNvPr id="3" name="Content Placeholder 2"/>
          <p:cNvSpPr>
            <a:spLocks noGrp="1"/>
          </p:cNvSpPr>
          <p:nvPr>
            <p:ph idx="1"/>
          </p:nvPr>
        </p:nvSpPr>
        <p:spPr>
          <a:xfrm>
            <a:off x="1739485" y="914400"/>
            <a:ext cx="8915400" cy="2362200"/>
          </a:xfrm>
        </p:spPr>
        <p:txBody>
          <a:bodyPr>
            <a:noAutofit/>
          </a:bodyPr>
          <a:lstStyle/>
          <a:p>
            <a:r>
              <a:rPr lang="en-US" sz="2800" dirty="0"/>
              <a:t>‘I win, you lose’ </a:t>
            </a:r>
            <a:r>
              <a:rPr lang="en-US" sz="2800" dirty="0">
                <a:solidFill>
                  <a:schemeClr val="accent1"/>
                </a:solidFill>
              </a:rPr>
              <a:t>(Compete)</a:t>
            </a:r>
          </a:p>
          <a:p>
            <a:r>
              <a:rPr lang="en-US" sz="2800" dirty="0"/>
              <a:t>‘I lose or give in’ </a:t>
            </a:r>
            <a:r>
              <a:rPr lang="en-US" sz="2800" dirty="0">
                <a:solidFill>
                  <a:schemeClr val="accent1"/>
                </a:solidFill>
              </a:rPr>
              <a:t>(Accommodate)</a:t>
            </a:r>
          </a:p>
          <a:p>
            <a:r>
              <a:rPr lang="en-US" sz="2800" dirty="0"/>
              <a:t>‘We both get something’ </a:t>
            </a:r>
            <a:r>
              <a:rPr lang="en-US" sz="2800" dirty="0">
                <a:solidFill>
                  <a:schemeClr val="accent1"/>
                </a:solidFill>
              </a:rPr>
              <a:t>(Compromise)</a:t>
            </a:r>
          </a:p>
          <a:p>
            <a:r>
              <a:rPr lang="en-US" sz="2800" dirty="0"/>
              <a:t>‘We both WIN’ </a:t>
            </a:r>
            <a:r>
              <a:rPr lang="en-US" sz="2800" dirty="0">
                <a:solidFill>
                  <a:schemeClr val="accent1"/>
                </a:solidFill>
              </a:rPr>
              <a:t>(Collaborate)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9280" y="3276600"/>
            <a:ext cx="10317480" cy="3581400"/>
          </a:xfrm>
          <a:prstGeom prst="rect">
            <a:avLst/>
          </a:prstGeom>
        </p:spPr>
      </p:pic>
    </p:spTree>
    <p:extLst>
      <p:ext uri="{BB962C8B-B14F-4D97-AF65-F5344CB8AC3E}">
        <p14:creationId xmlns:p14="http://schemas.microsoft.com/office/powerpoint/2010/main" val="94080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710944" y="287257"/>
            <a:ext cx="9322816" cy="947183"/>
          </a:xfrm>
        </p:spPr>
        <p:txBody>
          <a:bodyPr>
            <a:normAutofit/>
          </a:bodyPr>
          <a:lstStyle/>
          <a:p>
            <a:r>
              <a:rPr lang="en-US" dirty="0"/>
              <a:t>Conflict and the Associated Behaviour</a:t>
            </a:r>
            <a:endParaRPr lang="en-US" sz="1800" b="1"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43790" y="1892968"/>
            <a:ext cx="8967536" cy="3048000"/>
          </a:xfrm>
        </p:spPr>
      </p:pic>
    </p:spTree>
    <p:extLst>
      <p:ext uri="{BB962C8B-B14F-4D97-AF65-F5344CB8AC3E}">
        <p14:creationId xmlns:p14="http://schemas.microsoft.com/office/powerpoint/2010/main" val="3174690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1824" y="241537"/>
            <a:ext cx="11034776" cy="542953"/>
          </a:xfrm>
        </p:spPr>
        <p:txBody>
          <a:bodyPr>
            <a:normAutofit/>
          </a:bodyPr>
          <a:lstStyle/>
          <a:p>
            <a:r>
              <a:rPr lang="en-US" sz="2800" dirty="0"/>
              <a:t>5. Estimate Collaborative Approach to Conflicts - Guidelines</a:t>
            </a:r>
            <a:endParaRPr lang="en-US" sz="1400" b="1" dirty="0"/>
          </a:p>
        </p:txBody>
      </p:sp>
      <p:sp>
        <p:nvSpPr>
          <p:cNvPr id="3" name="Content Placeholder 2"/>
          <p:cNvSpPr>
            <a:spLocks noGrp="1"/>
          </p:cNvSpPr>
          <p:nvPr>
            <p:ph idx="1"/>
          </p:nvPr>
        </p:nvSpPr>
        <p:spPr>
          <a:xfrm>
            <a:off x="1131824" y="1266074"/>
            <a:ext cx="11034776" cy="5561446"/>
          </a:xfrm>
        </p:spPr>
        <p:txBody>
          <a:bodyPr>
            <a:noAutofit/>
          </a:bodyPr>
          <a:lstStyle/>
          <a:p>
            <a:pPr marL="457200" indent="-457200">
              <a:buFont typeface="+mj-lt"/>
              <a:buAutoNum type="arabicPeriod"/>
            </a:pPr>
            <a:r>
              <a:rPr lang="en-US" sz="2200" b="1" dirty="0"/>
              <a:t>Identify the problem and own it as your own – seek appropriate solutions</a:t>
            </a:r>
          </a:p>
          <a:p>
            <a:pPr marL="457200" indent="-457200">
              <a:buFont typeface="+mj-lt"/>
              <a:buAutoNum type="arabicPeriod"/>
            </a:pPr>
            <a:r>
              <a:rPr lang="en-US" sz="2200" b="1" dirty="0"/>
              <a:t>Describe the problem in terms of behaviour, consequences, and feelings</a:t>
            </a:r>
          </a:p>
          <a:p>
            <a:pPr marL="457200" indent="-457200">
              <a:buFont typeface="+mj-lt"/>
              <a:buAutoNum type="arabicPeriod"/>
            </a:pPr>
            <a:r>
              <a:rPr lang="en-US" sz="2200" b="1" dirty="0"/>
              <a:t>Don’t evaluate the other person’s motives – refrain from blaming/ accusing</a:t>
            </a:r>
          </a:p>
          <a:p>
            <a:pPr marL="457200" indent="-457200">
              <a:buFont typeface="+mj-lt"/>
              <a:buAutoNum type="arabicPeriod"/>
            </a:pPr>
            <a:r>
              <a:rPr lang="en-US" sz="2200" b="1" dirty="0"/>
              <a:t>Find common ground – a resolution could start off</a:t>
            </a:r>
          </a:p>
          <a:p>
            <a:pPr marL="457200" indent="-457200">
              <a:buFont typeface="+mj-lt"/>
              <a:buAutoNum type="arabicPeriod"/>
            </a:pPr>
            <a:r>
              <a:rPr lang="en-US" sz="2200" b="1" dirty="0"/>
              <a:t>Mentally rehearse so you can state your request briefly</a:t>
            </a:r>
          </a:p>
          <a:p>
            <a:pPr marL="457200" indent="-457200">
              <a:buFont typeface="+mj-lt"/>
              <a:buAutoNum type="arabicPeriod"/>
            </a:pPr>
            <a:r>
              <a:rPr lang="en-US" sz="2200" b="1" dirty="0"/>
              <a:t>Disengage – put a mental shield and avoid defensive response</a:t>
            </a:r>
          </a:p>
          <a:p>
            <a:pPr marL="457200" indent="-457200">
              <a:buFont typeface="+mj-lt"/>
              <a:buAutoNum type="arabicPeriod"/>
            </a:pPr>
            <a:r>
              <a:rPr lang="en-US" sz="2200" b="1" dirty="0"/>
              <a:t>Respond empathically and with genuine interest and concern</a:t>
            </a:r>
          </a:p>
          <a:p>
            <a:pPr marL="457200" indent="-457200">
              <a:buFont typeface="+mj-lt"/>
              <a:buAutoNum type="arabicPeriod"/>
            </a:pPr>
            <a:r>
              <a:rPr lang="en-US" sz="2200" b="1" dirty="0"/>
              <a:t>Paraphrase your understanding of the problem – ask Qs to clarify</a:t>
            </a:r>
          </a:p>
          <a:p>
            <a:pPr marL="457200" indent="-457200">
              <a:buFont typeface="+mj-lt"/>
              <a:buAutoNum type="arabicPeriod"/>
            </a:pPr>
            <a:r>
              <a:rPr lang="en-US" sz="2200" b="1" dirty="0"/>
              <a:t>Ask the other person to suggest alternative solutions</a:t>
            </a:r>
          </a:p>
          <a:p>
            <a:pPr marL="457200" indent="-457200">
              <a:buFont typeface="+mj-lt"/>
              <a:buAutoNum type="arabicPeriod"/>
            </a:pPr>
            <a:r>
              <a:rPr lang="en-US" sz="2200" b="1" dirty="0"/>
              <a:t>Individuals should understand their personal triggers</a:t>
            </a:r>
          </a:p>
          <a:p>
            <a:pPr marL="457200" indent="-457200">
              <a:buFont typeface="+mj-lt"/>
              <a:buAutoNum type="arabicPeriod"/>
            </a:pPr>
            <a:r>
              <a:rPr lang="en-US" sz="2200" b="1" dirty="0"/>
              <a:t>Groups should consider the dynamics/ factors that may raise conflicts</a:t>
            </a:r>
          </a:p>
        </p:txBody>
      </p:sp>
    </p:spTree>
    <p:extLst>
      <p:ext uri="{BB962C8B-B14F-4D97-AF65-F5344CB8AC3E}">
        <p14:creationId xmlns:p14="http://schemas.microsoft.com/office/powerpoint/2010/main" val="420909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50"/>
                                        <p:tgtEl>
                                          <p:spTgt spid="3">
                                            <p:txEl>
                                              <p:pRg st="0" end="0"/>
                                            </p:txEl>
                                          </p:spTgt>
                                        </p:tgtEl>
                                      </p:cBhvr>
                                    </p:animEffect>
                                    <p:anim calcmode="lin" valueType="num">
                                      <p:cBhvr>
                                        <p:cTn id="8"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75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750"/>
                                        <p:tgtEl>
                                          <p:spTgt spid="3">
                                            <p:txEl>
                                              <p:pRg st="1" end="1"/>
                                            </p:txEl>
                                          </p:spTgt>
                                        </p:tgtEl>
                                      </p:cBhvr>
                                    </p:animEffect>
                                    <p:anim calcmode="lin" valueType="num">
                                      <p:cBhvr>
                                        <p:cTn id="15"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75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750"/>
                                        <p:tgtEl>
                                          <p:spTgt spid="3">
                                            <p:txEl>
                                              <p:pRg st="2" end="2"/>
                                            </p:txEl>
                                          </p:spTgt>
                                        </p:tgtEl>
                                      </p:cBhvr>
                                    </p:animEffect>
                                    <p:anim calcmode="lin" valueType="num">
                                      <p:cBhvr>
                                        <p:cTn id="22" dur="75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75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750"/>
                                        <p:tgtEl>
                                          <p:spTgt spid="3">
                                            <p:txEl>
                                              <p:pRg st="3" end="3"/>
                                            </p:txEl>
                                          </p:spTgt>
                                        </p:tgtEl>
                                      </p:cBhvr>
                                    </p:animEffect>
                                    <p:anim calcmode="lin" valueType="num">
                                      <p:cBhvr>
                                        <p:cTn id="29"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75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750"/>
                                        <p:tgtEl>
                                          <p:spTgt spid="3">
                                            <p:txEl>
                                              <p:pRg st="4" end="4"/>
                                            </p:txEl>
                                          </p:spTgt>
                                        </p:tgtEl>
                                      </p:cBhvr>
                                    </p:animEffect>
                                    <p:anim calcmode="lin" valueType="num">
                                      <p:cBhvr>
                                        <p:cTn id="36" dur="75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75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750"/>
                                        <p:tgtEl>
                                          <p:spTgt spid="3">
                                            <p:txEl>
                                              <p:pRg st="5" end="5"/>
                                            </p:txEl>
                                          </p:spTgt>
                                        </p:tgtEl>
                                      </p:cBhvr>
                                    </p:animEffect>
                                    <p:anim calcmode="lin" valueType="num">
                                      <p:cBhvr>
                                        <p:cTn id="43" dur="75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75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750"/>
                                        <p:tgtEl>
                                          <p:spTgt spid="3">
                                            <p:txEl>
                                              <p:pRg st="6" end="6"/>
                                            </p:txEl>
                                          </p:spTgt>
                                        </p:tgtEl>
                                      </p:cBhvr>
                                    </p:animEffect>
                                    <p:anim calcmode="lin" valueType="num">
                                      <p:cBhvr>
                                        <p:cTn id="50" dur="75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75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750"/>
                                        <p:tgtEl>
                                          <p:spTgt spid="3">
                                            <p:txEl>
                                              <p:pRg st="7" end="7"/>
                                            </p:txEl>
                                          </p:spTgt>
                                        </p:tgtEl>
                                      </p:cBhvr>
                                    </p:animEffect>
                                    <p:anim calcmode="lin" valueType="num">
                                      <p:cBhvr>
                                        <p:cTn id="57" dur="75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75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750"/>
                                        <p:tgtEl>
                                          <p:spTgt spid="3">
                                            <p:txEl>
                                              <p:pRg st="8" end="8"/>
                                            </p:txEl>
                                          </p:spTgt>
                                        </p:tgtEl>
                                      </p:cBhvr>
                                    </p:animEffect>
                                    <p:anim calcmode="lin" valueType="num">
                                      <p:cBhvr>
                                        <p:cTn id="64" dur="75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75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750"/>
                                        <p:tgtEl>
                                          <p:spTgt spid="3">
                                            <p:txEl>
                                              <p:pRg st="9" end="9"/>
                                            </p:txEl>
                                          </p:spTgt>
                                        </p:tgtEl>
                                      </p:cBhvr>
                                    </p:animEffect>
                                    <p:anim calcmode="lin" valueType="num">
                                      <p:cBhvr>
                                        <p:cTn id="71" dur="75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75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750"/>
                                        <p:tgtEl>
                                          <p:spTgt spid="3">
                                            <p:txEl>
                                              <p:pRg st="10" end="10"/>
                                            </p:txEl>
                                          </p:spTgt>
                                        </p:tgtEl>
                                      </p:cBhvr>
                                    </p:animEffect>
                                    <p:anim calcmode="lin" valueType="num">
                                      <p:cBhvr>
                                        <p:cTn id="78" dur="75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75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0598" y="92265"/>
            <a:ext cx="10671402" cy="1029399"/>
          </a:xfrm>
        </p:spPr>
        <p:txBody>
          <a:bodyPr>
            <a:noAutofit/>
          </a:bodyPr>
          <a:lstStyle/>
          <a:p>
            <a:pPr algn="ctr"/>
            <a:r>
              <a:rPr lang="en-US" sz="2400" b="1" dirty="0"/>
              <a:t>Practice Activity </a:t>
            </a:r>
            <a:r>
              <a:rPr lang="en-US" sz="2400" b="1" dirty="0" smtClean="0"/>
              <a:t>:</a:t>
            </a:r>
            <a:r>
              <a:rPr lang="en-US" sz="2400" dirty="0" smtClean="0"/>
              <a:t> </a:t>
            </a:r>
            <a:r>
              <a:rPr lang="en-US" sz="2400" b="1" dirty="0">
                <a:solidFill>
                  <a:schemeClr val="accent1"/>
                </a:solidFill>
              </a:rPr>
              <a:t>Individual.</a:t>
            </a:r>
            <a:r>
              <a:rPr lang="en-US" sz="2400" dirty="0"/>
              <a:t> </a:t>
            </a:r>
            <a:r>
              <a:rPr lang="en-US" sz="2400" b="1" dirty="0">
                <a:solidFill>
                  <a:schemeClr val="accent1"/>
                </a:solidFill>
              </a:rPr>
              <a:t>In-Class submission</a:t>
            </a:r>
            <a:r>
              <a:rPr lang="en-US" sz="2400" dirty="0"/>
              <a:t>. </a:t>
            </a:r>
            <a:br>
              <a:rPr lang="en-US" sz="2400" dirty="0"/>
            </a:br>
            <a:r>
              <a:rPr lang="en-US" sz="2400" dirty="0"/>
              <a:t>Prep. Time: 15 minutes</a:t>
            </a:r>
            <a:br>
              <a:rPr lang="en-US" sz="2400" dirty="0"/>
            </a:br>
            <a:r>
              <a:rPr lang="en-US" sz="2000" dirty="0"/>
              <a:t>10 marks. CLO – 02</a:t>
            </a:r>
          </a:p>
        </p:txBody>
      </p:sp>
      <p:sp>
        <p:nvSpPr>
          <p:cNvPr id="3" name="Content Placeholder 2"/>
          <p:cNvSpPr>
            <a:spLocks noGrp="1"/>
          </p:cNvSpPr>
          <p:nvPr>
            <p:ph idx="1"/>
          </p:nvPr>
        </p:nvSpPr>
        <p:spPr>
          <a:xfrm>
            <a:off x="1298094" y="1502664"/>
            <a:ext cx="10586058" cy="4779264"/>
          </a:xfrm>
        </p:spPr>
        <p:txBody>
          <a:bodyPr>
            <a:normAutofit/>
          </a:bodyPr>
          <a:lstStyle/>
          <a:p>
            <a:pPr marL="0" indent="0" algn="just">
              <a:buNone/>
            </a:pPr>
            <a:r>
              <a:rPr lang="en-US" sz="2400" b="1" dirty="0"/>
              <a:t>Conflict Management</a:t>
            </a:r>
          </a:p>
          <a:p>
            <a:pPr marL="0" indent="0" algn="just">
              <a:buNone/>
            </a:pPr>
            <a:r>
              <a:rPr lang="en-US" sz="2400" b="1" dirty="0"/>
              <a:t>Instructions:</a:t>
            </a:r>
            <a:r>
              <a:rPr lang="en-US" sz="2400" dirty="0"/>
              <a:t> Recall and briefly describe a conflict situation that you faced.  Keeping in mind the content that you learnt about conflict and conflict management, elaborate the following points:</a:t>
            </a:r>
          </a:p>
          <a:p>
            <a:pPr marL="457200" indent="-457200" algn="just">
              <a:buFont typeface="+mj-lt"/>
              <a:buAutoNum type="arabicPeriod"/>
            </a:pPr>
            <a:r>
              <a:rPr lang="en-US" sz="2400" dirty="0"/>
              <a:t>How did you react/ respond? (i.e., which approach did you use?)</a:t>
            </a:r>
          </a:p>
          <a:p>
            <a:pPr marL="457200" indent="-457200">
              <a:buFont typeface="+mj-lt"/>
              <a:buAutoNum type="arabicPeriod"/>
            </a:pPr>
            <a:r>
              <a:rPr lang="en-US" sz="2400" dirty="0"/>
              <a:t>What was the behaviour of the other party?</a:t>
            </a:r>
          </a:p>
          <a:p>
            <a:pPr marL="457200" indent="-457200">
              <a:buFont typeface="+mj-lt"/>
              <a:buAutoNum type="arabicPeriod"/>
            </a:pPr>
            <a:r>
              <a:rPr lang="en-US" sz="2400" dirty="0"/>
              <a:t>How was the conflict resolved?</a:t>
            </a:r>
          </a:p>
          <a:p>
            <a:pPr marL="457200" indent="-457200">
              <a:buFont typeface="+mj-lt"/>
              <a:buAutoNum type="arabicPeriod"/>
            </a:pPr>
            <a:r>
              <a:rPr lang="en-US" sz="2400" dirty="0"/>
              <a:t>What was the lesson learnt?</a:t>
            </a:r>
          </a:p>
          <a:p>
            <a:pPr marL="457200" indent="-457200">
              <a:buFont typeface="+mj-lt"/>
              <a:buAutoNum type="arabicPeriod"/>
            </a:pPr>
            <a:endParaRPr lang="en-US" sz="2400" dirty="0"/>
          </a:p>
          <a:p>
            <a:pPr marL="0" indent="0">
              <a:buNone/>
            </a:pPr>
            <a:r>
              <a:rPr lang="en-US" sz="2400" dirty="0"/>
              <a:t>Refer to CLO-02 Rubric to scale your learning. Up to 2.5 marks/point</a:t>
            </a:r>
          </a:p>
          <a:p>
            <a:endParaRPr lang="en-US" sz="2400" dirty="0"/>
          </a:p>
        </p:txBody>
      </p:sp>
    </p:spTree>
    <p:extLst>
      <p:ext uri="{BB962C8B-B14F-4D97-AF65-F5344CB8AC3E}">
        <p14:creationId xmlns:p14="http://schemas.microsoft.com/office/powerpoint/2010/main" val="23420047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F75E97-0DBC-B9C8-2B20-31618E9CEF46}"/>
              </a:ext>
            </a:extLst>
          </p:cNvPr>
          <p:cNvSpPr>
            <a:spLocks noGrp="1"/>
          </p:cNvSpPr>
          <p:nvPr>
            <p:ph type="title"/>
          </p:nvPr>
        </p:nvSpPr>
        <p:spPr>
          <a:xfrm>
            <a:off x="1135627" y="0"/>
            <a:ext cx="10221502" cy="1280890"/>
          </a:xfrm>
        </p:spPr>
        <p:txBody>
          <a:bodyPr/>
          <a:lstStyle/>
          <a:p>
            <a:r>
              <a:rPr lang="en-US" dirty="0"/>
              <a:t>Activity 2</a:t>
            </a:r>
          </a:p>
        </p:txBody>
      </p:sp>
      <p:sp>
        <p:nvSpPr>
          <p:cNvPr id="3" name="Content Placeholder 2">
            <a:extLst>
              <a:ext uri="{FF2B5EF4-FFF2-40B4-BE49-F238E27FC236}">
                <a16:creationId xmlns="" xmlns:a16="http://schemas.microsoft.com/office/drawing/2014/main" id="{FCE3C571-307E-29B9-BFEA-BAF24B025213}"/>
              </a:ext>
            </a:extLst>
          </p:cNvPr>
          <p:cNvSpPr>
            <a:spLocks noGrp="1"/>
          </p:cNvSpPr>
          <p:nvPr>
            <p:ph idx="1"/>
          </p:nvPr>
        </p:nvSpPr>
        <p:spPr>
          <a:xfrm>
            <a:off x="575546" y="1280889"/>
            <a:ext cx="11459137" cy="5223149"/>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Scenario: Interrupting During Group Work</a:t>
            </a:r>
          </a:p>
          <a:p>
            <a:pPr marL="0" indent="0">
              <a:buNone/>
            </a:pPr>
            <a:r>
              <a:rPr lang="en-US" sz="2400" dirty="0">
                <a:latin typeface="Times New Roman" panose="02020603050405020304" pitchFamily="18" charset="0"/>
                <a:cs typeface="Times New Roman" panose="02020603050405020304" pitchFamily="18" charset="0"/>
              </a:rPr>
              <a:t>During a group discussion for a class project, </a:t>
            </a:r>
            <a:r>
              <a:rPr lang="en-US" sz="2400" b="1" dirty="0">
                <a:latin typeface="Times New Roman" panose="02020603050405020304" pitchFamily="18" charset="0"/>
                <a:cs typeface="Times New Roman" panose="02020603050405020304" pitchFamily="18" charset="0"/>
              </a:rPr>
              <a:t>Riya</a:t>
            </a:r>
            <a:r>
              <a:rPr lang="en-US" sz="2400" dirty="0">
                <a:latin typeface="Times New Roman" panose="02020603050405020304" pitchFamily="18" charset="0"/>
                <a:cs typeface="Times New Roman" panose="02020603050405020304" pitchFamily="18" charset="0"/>
              </a:rPr>
              <a:t> is explaining her idea for the presentation. </a:t>
            </a:r>
            <a:r>
              <a:rPr lang="en-US" sz="2400" b="1" dirty="0">
                <a:latin typeface="Times New Roman" panose="02020603050405020304" pitchFamily="18" charset="0"/>
                <a:cs typeface="Times New Roman" panose="02020603050405020304" pitchFamily="18" charset="0"/>
              </a:rPr>
              <a:t>Sam</a:t>
            </a:r>
            <a:r>
              <a:rPr lang="en-US" sz="2400" dirty="0">
                <a:latin typeface="Times New Roman" panose="02020603050405020304" pitchFamily="18" charset="0"/>
                <a:cs typeface="Times New Roman" panose="02020603050405020304" pitchFamily="18" charset="0"/>
              </a:rPr>
              <a:t> keeps interrupting, insisting his approach is better and talking over her. Riya feels frustrated and ignored, while Sam thinks he’s just being helpful. The group now feels tense, and the discussion is not progressing smoothly.</a:t>
            </a:r>
          </a:p>
          <a:p>
            <a:endParaRPr lang="en-US" sz="2400" b="1"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Task for students: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Identify the conflict. </a:t>
            </a:r>
          </a:p>
          <a:p>
            <a:r>
              <a:rPr lang="en-US" sz="2400" dirty="0">
                <a:latin typeface="Times New Roman" panose="02020603050405020304" pitchFamily="18" charset="0"/>
                <a:cs typeface="Times New Roman" panose="02020603050405020304" pitchFamily="18" charset="0"/>
              </a:rPr>
              <a:t>Rewrite the blameful statements into </a:t>
            </a:r>
            <a:r>
              <a:rPr lang="en-US" sz="2400" b="1" dirty="0">
                <a:latin typeface="Times New Roman" panose="02020603050405020304" pitchFamily="18" charset="0"/>
                <a:cs typeface="Times New Roman" panose="02020603050405020304" pitchFamily="18" charset="0"/>
              </a:rPr>
              <a:t>I-statements</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Suggest ways Riya and Sam could communicate effectively to resolve the tension.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5854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3D190B-8320-B814-7232-2A4718976F85}"/>
              </a:ext>
            </a:extLst>
          </p:cNvPr>
          <p:cNvSpPr>
            <a:spLocks noGrp="1"/>
          </p:cNvSpPr>
          <p:nvPr>
            <p:ph type="title"/>
          </p:nvPr>
        </p:nvSpPr>
        <p:spPr>
          <a:xfrm>
            <a:off x="1486796" y="122665"/>
            <a:ext cx="8911687" cy="629503"/>
          </a:xfrm>
        </p:spPr>
        <p:txBody>
          <a:bodyPr>
            <a:normAutofit fontScale="90000"/>
          </a:bodyPr>
          <a:lstStyle/>
          <a:p>
            <a:r>
              <a:rPr lang="en-US" dirty="0"/>
              <a:t>Answers</a:t>
            </a:r>
          </a:p>
        </p:txBody>
      </p:sp>
      <p:sp>
        <p:nvSpPr>
          <p:cNvPr id="3" name="Content Placeholder 2">
            <a:extLst>
              <a:ext uri="{FF2B5EF4-FFF2-40B4-BE49-F238E27FC236}">
                <a16:creationId xmlns="" xmlns:a16="http://schemas.microsoft.com/office/drawing/2014/main" id="{B481B48D-7D21-720D-3AF3-9D6800F32E9E}"/>
              </a:ext>
            </a:extLst>
          </p:cNvPr>
          <p:cNvSpPr>
            <a:spLocks noGrp="1"/>
          </p:cNvSpPr>
          <p:nvPr>
            <p:ph idx="1"/>
          </p:nvPr>
        </p:nvSpPr>
        <p:spPr>
          <a:xfrm>
            <a:off x="1486796" y="752168"/>
            <a:ext cx="10705204" cy="6105832"/>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1. Identify the Conflict</a:t>
            </a:r>
          </a:p>
          <a:p>
            <a:r>
              <a:rPr lang="en-US" sz="2000" dirty="0">
                <a:latin typeface="Times New Roman" panose="02020603050405020304" pitchFamily="18" charset="0"/>
                <a:cs typeface="Times New Roman" panose="02020603050405020304" pitchFamily="18" charset="0"/>
              </a:rPr>
              <a:t>The conflict arises because </a:t>
            </a:r>
            <a:r>
              <a:rPr lang="en-US" sz="2000" b="1" dirty="0">
                <a:latin typeface="Times New Roman" panose="02020603050405020304" pitchFamily="18" charset="0"/>
                <a:cs typeface="Times New Roman" panose="02020603050405020304" pitchFamily="18" charset="0"/>
              </a:rPr>
              <a:t>Sam keeps interrupting Riya</a:t>
            </a:r>
            <a:r>
              <a:rPr lang="en-US" sz="2000" dirty="0">
                <a:latin typeface="Times New Roman" panose="02020603050405020304" pitchFamily="18" charset="0"/>
                <a:cs typeface="Times New Roman" panose="02020603050405020304" pitchFamily="18" charset="0"/>
              </a:rPr>
              <a:t>, making her feel frustrated and ignored. </a:t>
            </a:r>
          </a:p>
          <a:p>
            <a:r>
              <a:rPr lang="en-US" sz="2000" dirty="0">
                <a:latin typeface="Times New Roman" panose="02020603050405020304" pitchFamily="18" charset="0"/>
                <a:cs typeface="Times New Roman" panose="02020603050405020304" pitchFamily="18" charset="0"/>
              </a:rPr>
              <a:t>There is a </a:t>
            </a:r>
            <a:r>
              <a:rPr lang="en-US" sz="2000" b="1" dirty="0">
                <a:latin typeface="Times New Roman" panose="02020603050405020304" pitchFamily="18" charset="0"/>
                <a:cs typeface="Times New Roman" panose="02020603050405020304" pitchFamily="18" charset="0"/>
              </a:rPr>
              <a:t>communication clash</a:t>
            </a:r>
            <a:r>
              <a:rPr lang="en-US" sz="2000" dirty="0">
                <a:latin typeface="Times New Roman" panose="02020603050405020304" pitchFamily="18" charset="0"/>
                <a:cs typeface="Times New Roman" panose="02020603050405020304" pitchFamily="18" charset="0"/>
              </a:rPr>
              <a:t>—Riya wants to share her ideas, and Sam is dominating the discussion. </a:t>
            </a:r>
          </a:p>
          <a:p>
            <a:pPr marL="0" indent="0">
              <a:buNone/>
            </a:pPr>
            <a:r>
              <a:rPr lang="en-US" sz="2000" b="1" dirty="0">
                <a:latin typeface="Times New Roman" panose="02020603050405020304" pitchFamily="18" charset="0"/>
                <a:cs typeface="Times New Roman" panose="02020603050405020304" pitchFamily="18" charset="0"/>
              </a:rPr>
              <a:t>2. Rewrite Blameful Statements into I-Statements</a:t>
            </a:r>
          </a:p>
          <a:p>
            <a:r>
              <a:rPr lang="en-US" sz="2000" dirty="0">
                <a:latin typeface="Times New Roman" panose="02020603050405020304" pitchFamily="18" charset="0"/>
                <a:cs typeface="Times New Roman" panose="02020603050405020304" pitchFamily="18" charset="0"/>
              </a:rPr>
              <a:t>Instead of </a:t>
            </a:r>
            <a:r>
              <a:rPr lang="en-US" sz="2000" b="1" dirty="0">
                <a:latin typeface="Times New Roman" panose="02020603050405020304" pitchFamily="18" charset="0"/>
                <a:cs typeface="Times New Roman" panose="02020603050405020304" pitchFamily="18" charset="0"/>
              </a:rPr>
              <a:t>“You never listen to me!”</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“I feel frustrated when I’m interrupted because I want to share my ideas fully.”</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Instead of </a:t>
            </a:r>
            <a:r>
              <a:rPr lang="en-US" sz="2000" b="1" dirty="0">
                <a:latin typeface="Times New Roman" panose="02020603050405020304" pitchFamily="18" charset="0"/>
                <a:cs typeface="Times New Roman" panose="02020603050405020304" pitchFamily="18" charset="0"/>
              </a:rPr>
              <a:t>“You’re always taking over the discussion!”</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“I feel overlooked when my ideas aren’t heard, and I’d like a chance to speak.”</a:t>
            </a:r>
            <a:r>
              <a:rPr lang="en-US" sz="2000" dirty="0">
                <a:latin typeface="Times New Roman" panose="02020603050405020304" pitchFamily="18" charset="0"/>
                <a:cs typeface="Times New Roman" panose="02020603050405020304" pitchFamily="18" charset="0"/>
              </a:rPr>
              <a:t> </a:t>
            </a:r>
          </a:p>
          <a:p>
            <a:pPr marL="0" indent="0">
              <a:buNone/>
            </a:pPr>
            <a:r>
              <a:rPr lang="en-US" sz="2000" b="1" dirty="0">
                <a:latin typeface="Times New Roman" panose="02020603050405020304" pitchFamily="18" charset="0"/>
                <a:cs typeface="Times New Roman" panose="02020603050405020304" pitchFamily="18" charset="0"/>
              </a:rPr>
              <a:t>3. Ways to Communicate Effectively</a:t>
            </a:r>
          </a:p>
          <a:p>
            <a:r>
              <a:rPr lang="en-US" sz="2000" dirty="0">
                <a:latin typeface="Times New Roman" panose="02020603050405020304" pitchFamily="18" charset="0"/>
                <a:cs typeface="Times New Roman" panose="02020603050405020304" pitchFamily="18" charset="0"/>
              </a:rPr>
              <a:t>Sam could </a:t>
            </a:r>
            <a:r>
              <a:rPr lang="en-US" sz="2000" b="1" dirty="0">
                <a:latin typeface="Times New Roman" panose="02020603050405020304" pitchFamily="18" charset="0"/>
                <a:cs typeface="Times New Roman" panose="02020603050405020304" pitchFamily="18" charset="0"/>
              </a:rPr>
              <a:t>pause and listen</a:t>
            </a:r>
            <a:r>
              <a:rPr lang="en-US" sz="2000" dirty="0">
                <a:latin typeface="Times New Roman" panose="02020603050405020304" pitchFamily="18" charset="0"/>
                <a:cs typeface="Times New Roman" panose="02020603050405020304" pitchFamily="18" charset="0"/>
              </a:rPr>
              <a:t> fully before responding. </a:t>
            </a:r>
          </a:p>
          <a:p>
            <a:r>
              <a:rPr lang="en-US" sz="2000" dirty="0">
                <a:latin typeface="Times New Roman" panose="02020603050405020304" pitchFamily="18" charset="0"/>
                <a:cs typeface="Times New Roman" panose="02020603050405020304" pitchFamily="18" charset="0"/>
              </a:rPr>
              <a:t>Riya could </a:t>
            </a:r>
            <a:r>
              <a:rPr lang="en-US" sz="2000" b="1" dirty="0">
                <a:latin typeface="Times New Roman" panose="02020603050405020304" pitchFamily="18" charset="0"/>
                <a:cs typeface="Times New Roman" panose="02020603050405020304" pitchFamily="18" charset="0"/>
              </a:rPr>
              <a:t>politely ask for a turn</a:t>
            </a:r>
            <a:r>
              <a:rPr lang="en-US" sz="2000" dirty="0">
                <a:latin typeface="Times New Roman" panose="02020603050405020304" pitchFamily="18" charset="0"/>
                <a:cs typeface="Times New Roman" panose="02020603050405020304" pitchFamily="18" charset="0"/>
              </a:rPr>
              <a:t>: “Can I finish my idea, then we can discuss yours?” </a:t>
            </a:r>
          </a:p>
          <a:p>
            <a:r>
              <a:rPr lang="en-US" sz="2000" dirty="0">
                <a:latin typeface="Times New Roman" panose="02020603050405020304" pitchFamily="18" charset="0"/>
                <a:cs typeface="Times New Roman" panose="02020603050405020304" pitchFamily="18" charset="0"/>
              </a:rPr>
              <a:t>The group could </a:t>
            </a:r>
            <a:r>
              <a:rPr lang="en-US" sz="2000" b="1" dirty="0">
                <a:latin typeface="Times New Roman" panose="02020603050405020304" pitchFamily="18" charset="0"/>
                <a:cs typeface="Times New Roman" panose="02020603050405020304" pitchFamily="18" charset="0"/>
              </a:rPr>
              <a:t>set ground rules</a:t>
            </a:r>
            <a:r>
              <a:rPr lang="en-US" sz="2000" dirty="0">
                <a:latin typeface="Times New Roman" panose="02020603050405020304" pitchFamily="18" charset="0"/>
                <a:cs typeface="Times New Roman" panose="02020603050405020304" pitchFamily="18" charset="0"/>
              </a:rPr>
              <a:t> for discussion, like taking turns or raising hands. </a:t>
            </a:r>
          </a:p>
          <a:p>
            <a:r>
              <a:rPr lang="en-US" sz="2000" dirty="0">
                <a:latin typeface="Times New Roman" panose="02020603050405020304" pitchFamily="18" charset="0"/>
                <a:cs typeface="Times New Roman" panose="02020603050405020304" pitchFamily="18" charset="0"/>
              </a:rPr>
              <a:t>Both can </a:t>
            </a:r>
            <a:r>
              <a:rPr lang="en-US" sz="2000" b="1" dirty="0">
                <a:latin typeface="Times New Roman" panose="02020603050405020304" pitchFamily="18" charset="0"/>
                <a:cs typeface="Times New Roman" panose="02020603050405020304" pitchFamily="18" charset="0"/>
              </a:rPr>
              <a:t>acknowledge each other’s contributions</a:t>
            </a:r>
            <a:r>
              <a:rPr lang="en-US" sz="2000" dirty="0">
                <a:latin typeface="Times New Roman" panose="02020603050405020304" pitchFamily="18" charset="0"/>
                <a:cs typeface="Times New Roman" panose="02020603050405020304" pitchFamily="18" charset="0"/>
              </a:rPr>
              <a:t> and work toward a combined solution. </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15696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2592925" y="1406769"/>
            <a:ext cx="8915400" cy="3777622"/>
          </a:xfrm>
        </p:spPr>
        <p:txBody>
          <a:bodyPr>
            <a:normAutofit/>
          </a:bodyPr>
          <a:lstStyle/>
          <a:p>
            <a:pPr marL="457200" indent="-457200" algn="just">
              <a:buClr>
                <a:srgbClr val="A50021"/>
              </a:buClr>
              <a:buSzPct val="75000"/>
              <a:buNone/>
            </a:pPr>
            <a:r>
              <a:rPr lang="en-US" dirty="0"/>
              <a:t>1. </a:t>
            </a:r>
            <a:r>
              <a:rPr lang="en-US" dirty="0" err="1"/>
              <a:t>Bovee</a:t>
            </a:r>
            <a:r>
              <a:rPr lang="en-US" dirty="0"/>
              <a:t> &amp; Thill. (2016) </a:t>
            </a:r>
            <a:r>
              <a:rPr lang="en-US" i="1" dirty="0"/>
              <a:t>Business Communication Today 13</a:t>
            </a:r>
            <a:r>
              <a:rPr lang="en-US" i="1" baseline="30000" dirty="0"/>
              <a:t>th</a:t>
            </a:r>
            <a:r>
              <a:rPr lang="en-US" i="1" dirty="0"/>
              <a:t> Ed. </a:t>
            </a:r>
            <a:r>
              <a:rPr lang="en-US" dirty="0"/>
              <a:t>(</a:t>
            </a:r>
            <a:r>
              <a:rPr lang="en-US" sz="1600" dirty="0"/>
              <a:t>Prentice-Hall</a:t>
            </a:r>
            <a:r>
              <a:rPr lang="en-US" dirty="0"/>
              <a:t>)</a:t>
            </a:r>
          </a:p>
          <a:p>
            <a:pPr marL="457200" indent="-457200" algn="just">
              <a:buClr>
                <a:srgbClr val="A50021"/>
              </a:buClr>
              <a:buSzPct val="75000"/>
              <a:buNone/>
            </a:pPr>
            <a:r>
              <a:rPr lang="en-US" dirty="0"/>
              <a:t>2. Kathleen S. </a:t>
            </a:r>
            <a:r>
              <a:rPr lang="en-US" dirty="0" err="1"/>
              <a:t>Verderber</a:t>
            </a:r>
            <a:r>
              <a:rPr lang="en-US" dirty="0"/>
              <a:t>. </a:t>
            </a:r>
            <a:r>
              <a:rPr lang="en-US" i="1" dirty="0"/>
              <a:t>Communicate</a:t>
            </a:r>
            <a:r>
              <a:rPr lang="en-US" dirty="0"/>
              <a:t> </a:t>
            </a:r>
            <a:r>
              <a:rPr lang="en-US" i="1" dirty="0"/>
              <a:t>(13</a:t>
            </a:r>
            <a:r>
              <a:rPr lang="en-US" i="1" baseline="30000" dirty="0"/>
              <a:t>th</a:t>
            </a:r>
            <a:r>
              <a:rPr lang="en-US" i="1" dirty="0"/>
              <a:t> Ed.)</a:t>
            </a:r>
          </a:p>
        </p:txBody>
      </p:sp>
    </p:spTree>
    <p:extLst>
      <p:ext uri="{BB962C8B-B14F-4D97-AF65-F5344CB8AC3E}">
        <p14:creationId xmlns:p14="http://schemas.microsoft.com/office/powerpoint/2010/main" val="94621069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1239</TotalTime>
  <Words>2485</Words>
  <Application>Microsoft Office PowerPoint</Application>
  <PresentationFormat>Widescreen</PresentationFormat>
  <Paragraphs>244</Paragraphs>
  <Slides>36</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Aptos</vt:lpstr>
      <vt:lpstr>Arial</vt:lpstr>
      <vt:lpstr>Century Gothic</vt:lpstr>
      <vt:lpstr>Times New Roman</vt:lpstr>
      <vt:lpstr>Wingdings 3</vt:lpstr>
      <vt:lpstr>Wisp</vt:lpstr>
      <vt:lpstr>Ch. 7. Interpersonal Relationships  (CLO-4)</vt:lpstr>
      <vt:lpstr>Interpersonal Communication v/s Interpersonal Relationships</vt:lpstr>
      <vt:lpstr>Why engineers need this skill and understanding?</vt:lpstr>
      <vt:lpstr>Types of Relationships</vt:lpstr>
      <vt:lpstr>Disclosure in Relationship Life Cycles</vt:lpstr>
      <vt:lpstr>Social Penetration Theory, proposed by Irwin Altman and Dalmas Taylor, explains how relationships develop through gradual self-disclosure. As people interact, they move from superficial topics to deeper, more personal information. This process increases intimacy and strengthens the relationship over time.</vt:lpstr>
      <vt:lpstr>Johari Window  One way to understand the nature of disclosure and feedback in interpersonal relationships is through the Johari window. The Johari window, named after its two originators, Joe Luft and Harry Ingham (1970), consists of four panes that comprise all information about you. You and your partner each know some (but not all) of this information.</vt:lpstr>
      <vt:lpstr>Stages of Relationships:</vt:lpstr>
      <vt:lpstr>Stages of Relationships (Cont’d):</vt:lpstr>
      <vt:lpstr>Stages of Relationships (Cont’d):</vt:lpstr>
      <vt:lpstr>Role of Technology in Relationships</vt:lpstr>
      <vt:lpstr>Relational Dialects</vt:lpstr>
      <vt:lpstr>Managing Dialectical Tensions:  – providing for opposing needs</vt:lpstr>
      <vt:lpstr>Analyze and Discuss the following Case: </vt:lpstr>
      <vt:lpstr>They manage the tension by blending openness with boundaries, not choosing one over the other: “Be open where it helps collaboration and closed where it protects structure and clarity.” </vt:lpstr>
      <vt:lpstr>PowerPoint Presentation</vt:lpstr>
      <vt:lpstr>References</vt:lpstr>
      <vt:lpstr>Ch. 8. Interpersonal Communication Providing Emotional Support, Managing Privacy and Disclosure, Negotiating Conflict, Managing Inter-personal conflict.  CLO – 04:  Identify workplace conflict and develop resolution strategies</vt:lpstr>
      <vt:lpstr>Learning Objectives (CLO - 04) </vt:lpstr>
      <vt:lpstr>1. Characteristics of Comforting Messages </vt:lpstr>
      <vt:lpstr>Comforting Guidelines</vt:lpstr>
      <vt:lpstr>PowerPoint Presentation</vt:lpstr>
      <vt:lpstr>4. What is Conflict?</vt:lpstr>
      <vt:lpstr>   Managing Conflict in Relationships</vt:lpstr>
      <vt:lpstr>Characteristics of Conflict</vt:lpstr>
      <vt:lpstr>Views of Conflict</vt:lpstr>
      <vt:lpstr>Conflict Management</vt:lpstr>
      <vt:lpstr>The Five Styles of Conflict Management</vt:lpstr>
      <vt:lpstr>PowerPoint Presentation</vt:lpstr>
      <vt:lpstr>Conflict Continuum – In Other Words:</vt:lpstr>
      <vt:lpstr>Conflict and the Associated Behaviour</vt:lpstr>
      <vt:lpstr>5. Estimate Collaborative Approach to Conflicts - Guidelines</vt:lpstr>
      <vt:lpstr>Practice Activity : Individual. In-Class submission.  Prep. Time: 15 minutes 10 marks. CLO – 02</vt:lpstr>
      <vt:lpstr>Activity 2</vt:lpstr>
      <vt:lpstr>Answers</vt:lpstr>
      <vt:lpstr>References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7. Interpersonal Relationships  (CLO-4)</dc:title>
  <dc:creator>Ali  Zulfiqar</dc:creator>
  <cp:lastModifiedBy>123</cp:lastModifiedBy>
  <cp:revision>43</cp:revision>
  <dcterms:created xsi:type="dcterms:W3CDTF">2026-03-28T16:06:34Z</dcterms:created>
  <dcterms:modified xsi:type="dcterms:W3CDTF">2026-04-02T04:15:51Z</dcterms:modified>
</cp:coreProperties>
</file>