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725" r:id="rId1"/>
  </p:sldMasterIdLst>
  <p:notesMasterIdLst>
    <p:notesMasterId r:id="rId19"/>
  </p:notesMasterIdLst>
  <p:handoutMasterIdLst>
    <p:handoutMasterId r:id="rId20"/>
  </p:handoutMasterIdLst>
  <p:sldIdLst>
    <p:sldId id="256" r:id="rId2"/>
    <p:sldId id="943" r:id="rId3"/>
    <p:sldId id="945" r:id="rId4"/>
    <p:sldId id="946" r:id="rId5"/>
    <p:sldId id="947" r:id="rId6"/>
    <p:sldId id="948" r:id="rId7"/>
    <p:sldId id="954" r:id="rId8"/>
    <p:sldId id="955" r:id="rId9"/>
    <p:sldId id="956" r:id="rId10"/>
    <p:sldId id="958" r:id="rId11"/>
    <p:sldId id="949" r:id="rId12"/>
    <p:sldId id="950" r:id="rId13"/>
    <p:sldId id="957" r:id="rId14"/>
    <p:sldId id="951" r:id="rId15"/>
    <p:sldId id="952" r:id="rId16"/>
    <p:sldId id="959" r:id="rId17"/>
    <p:sldId id="953" r:id="rId18"/>
  </p:sldIdLst>
  <p:sldSz cx="9144000" cy="6858000" type="screen4x3"/>
  <p:notesSz cx="7045325" cy="9345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43">
          <p15:clr>
            <a:srgbClr val="A4A3A4"/>
          </p15:clr>
        </p15:guide>
        <p15:guide id="2" pos="2219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oshaba nasir" initials="nn" lastIdx="1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FF66CC"/>
    <a:srgbClr val="CC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66" autoAdjust="0"/>
    <p:restoredTop sz="96797" autoAdjust="0"/>
  </p:normalViewPr>
  <p:slideViewPr>
    <p:cSldViewPr snapToGrid="0">
      <p:cViewPr varScale="1">
        <p:scale>
          <a:sx n="84" d="100"/>
          <a:sy n="84" d="100"/>
        </p:scale>
        <p:origin x="1478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-2814" y="-78"/>
      </p:cViewPr>
      <p:guideLst>
        <p:guide orient="horz" pos="2943"/>
        <p:guide pos="221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2974" cy="468904"/>
          </a:xfrm>
          <a:prstGeom prst="rect">
            <a:avLst/>
          </a:prstGeom>
        </p:spPr>
        <p:txBody>
          <a:bodyPr vert="horz" lIns="93662" tIns="46831" rIns="93662" bIns="46831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90721" y="0"/>
            <a:ext cx="3052974" cy="468904"/>
          </a:xfrm>
          <a:prstGeom prst="rect">
            <a:avLst/>
          </a:prstGeom>
        </p:spPr>
        <p:txBody>
          <a:bodyPr vert="horz" lIns="93662" tIns="46831" rIns="93662" bIns="46831" rtlCol="0"/>
          <a:lstStyle>
            <a:lvl1pPr algn="r">
              <a:defRPr sz="1200"/>
            </a:lvl1pPr>
          </a:lstStyle>
          <a:p>
            <a:fld id="{ED06D3F7-E64F-4941-AF06-04228978943D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76711"/>
            <a:ext cx="3052974" cy="468903"/>
          </a:xfrm>
          <a:prstGeom prst="rect">
            <a:avLst/>
          </a:prstGeom>
        </p:spPr>
        <p:txBody>
          <a:bodyPr vert="horz" lIns="93662" tIns="46831" rIns="93662" bIns="46831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90721" y="8876711"/>
            <a:ext cx="3052974" cy="468903"/>
          </a:xfrm>
          <a:prstGeom prst="rect">
            <a:avLst/>
          </a:prstGeom>
        </p:spPr>
        <p:txBody>
          <a:bodyPr vert="horz" lIns="93662" tIns="46831" rIns="93662" bIns="46831" rtlCol="0" anchor="b"/>
          <a:lstStyle>
            <a:lvl1pPr algn="r">
              <a:defRPr sz="1200"/>
            </a:lvl1pPr>
          </a:lstStyle>
          <a:p>
            <a:fld id="{070AF922-4C38-4416-AF39-18897D6FCE6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89330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2974" cy="468904"/>
          </a:xfrm>
          <a:prstGeom prst="rect">
            <a:avLst/>
          </a:prstGeom>
        </p:spPr>
        <p:txBody>
          <a:bodyPr vert="horz" lIns="93662" tIns="46831" rIns="93662" bIns="46831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90721" y="0"/>
            <a:ext cx="3052974" cy="468904"/>
          </a:xfrm>
          <a:prstGeom prst="rect">
            <a:avLst/>
          </a:prstGeom>
        </p:spPr>
        <p:txBody>
          <a:bodyPr vert="horz" lIns="93662" tIns="46831" rIns="93662" bIns="46831" rtlCol="0"/>
          <a:lstStyle>
            <a:lvl1pPr algn="r">
              <a:defRPr sz="1200"/>
            </a:lvl1pPr>
          </a:lstStyle>
          <a:p>
            <a:fld id="{5885DDC7-8421-4D3B-ACD4-D85A42860E3B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9225" y="1168400"/>
            <a:ext cx="4206875" cy="31543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662" tIns="46831" rIns="93662" bIns="46831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4533" y="4497576"/>
            <a:ext cx="5636260" cy="3679835"/>
          </a:xfrm>
          <a:prstGeom prst="rect">
            <a:avLst/>
          </a:prstGeom>
        </p:spPr>
        <p:txBody>
          <a:bodyPr vert="horz" lIns="93662" tIns="46831" rIns="93662" bIns="46831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76711"/>
            <a:ext cx="3052974" cy="468903"/>
          </a:xfrm>
          <a:prstGeom prst="rect">
            <a:avLst/>
          </a:prstGeom>
        </p:spPr>
        <p:txBody>
          <a:bodyPr vert="horz" lIns="93662" tIns="46831" rIns="93662" bIns="46831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90721" y="8876711"/>
            <a:ext cx="3052974" cy="468903"/>
          </a:xfrm>
          <a:prstGeom prst="rect">
            <a:avLst/>
          </a:prstGeom>
        </p:spPr>
        <p:txBody>
          <a:bodyPr vert="horz" lIns="93662" tIns="46831" rIns="93662" bIns="46831" rtlCol="0" anchor="b"/>
          <a:lstStyle>
            <a:lvl1pPr algn="r">
              <a:defRPr sz="1200"/>
            </a:lvl1pPr>
          </a:lstStyle>
          <a:p>
            <a:fld id="{BE7AE58E-F44A-4705-A5B2-1F963FD2ED5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71312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20813" y="1168400"/>
            <a:ext cx="4203700" cy="31543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086865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4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F1308-0335-40F3-9181-5C4AF11B8453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5149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EFA65-7737-4E0E-80C9-7D905905C72D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3876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9" y="1709740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9" y="4589465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BC63C-2144-4F3B-96A3-23A251ECB495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2260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1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1E8C7-7A37-4916-A0FA-05F323783E61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7586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2" y="365127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4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4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D9556-0196-465F-A430-9BBA0763A30C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722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F729F-5041-4C51-8843-DC4574EF4C03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949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A1C0C-940E-4ADF-87FC-DB0AE8E957F0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934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9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7"/>
            <a:ext cx="4629151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9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B288C-9E5C-43F2-9E91-CC079D8A48CB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796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9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7"/>
            <a:ext cx="4629151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9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A0B30-C62A-4ECE-908A-9B88DEDBF964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4987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70176-0F5C-4C7D-AAA0-D4AADBDA2E92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711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6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6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8BF63-ABB0-428B-84A7-F490305E4A3B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830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1" y="365127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1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1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6D4739-8AC8-4825-AB0A-1F5EC5AD6895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1" y="6356352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1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4"/>
          <p:cNvSpPr txBox="1">
            <a:spLocks/>
          </p:cNvSpPr>
          <p:nvPr userDrawn="1"/>
        </p:nvSpPr>
        <p:spPr>
          <a:xfrm>
            <a:off x="0" y="6305555"/>
            <a:ext cx="9144000" cy="36512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 smtClean="0">
                <a:solidFill>
                  <a:schemeClr val="accent1">
                    <a:lumMod val="50000"/>
                  </a:schemeClr>
                </a:solidFill>
              </a:rPr>
              <a:t>    </a:t>
            </a:r>
            <a:r>
              <a:rPr lang="en-US" sz="1200" dirty="0" smtClean="0">
                <a:solidFill>
                  <a:schemeClr val="accent1">
                    <a:lumMod val="50000"/>
                  </a:schemeClr>
                </a:solidFill>
              </a:rPr>
              <a:t>NATIONAL UNIVERISTY OF COMPUTER &amp; EMERGING SCIENCES, LAHORE  – EE DEPARTMENT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6703" y="5445127"/>
            <a:ext cx="1354732" cy="135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632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66852" y="-36575"/>
            <a:ext cx="5894348" cy="2387600"/>
          </a:xfrm>
        </p:spPr>
        <p:txBody>
          <a:bodyPr>
            <a:normAutofit/>
          </a:bodyPr>
          <a:lstStyle/>
          <a:p>
            <a:pPr algn="l"/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Probability &amp; Random Processes</a:t>
            </a:r>
            <a:b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EE-2011</a:t>
            </a:r>
            <a:b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Department of </a:t>
            </a:r>
            <a:r>
              <a:rPr lang="en-US" sz="2000" dirty="0" smtClean="0">
                <a:solidFill>
                  <a:schemeClr val="accent1">
                    <a:lumMod val="50000"/>
                  </a:schemeClr>
                </a:solidFill>
              </a:rPr>
              <a:t>Electrical Engineering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2538" y="3673476"/>
            <a:ext cx="6850063" cy="1655762"/>
          </a:xfrm>
        </p:spPr>
        <p:txBody>
          <a:bodyPr/>
          <a:lstStyle/>
          <a:p>
            <a:endParaRPr lang="en-US" cap="none" spc="3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cap="none" spc="3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NATIONAL UNIVERSITY OF COMPUTER &amp; EMERGING SCIENCES, LAHORE CAMPUS</a:t>
            </a:r>
            <a:endParaRPr lang="en-US" cap="none" spc="3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282700" y="3749675"/>
            <a:ext cx="7366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9393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446" y="-1100674"/>
            <a:ext cx="8097380" cy="7687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138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01" y="122392"/>
            <a:ext cx="7859222" cy="141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353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600" y="1985761"/>
            <a:ext cx="7344800" cy="288647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949" y="396712"/>
            <a:ext cx="7859222" cy="141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807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985" y="654289"/>
            <a:ext cx="6401693" cy="384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827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800" y="377134"/>
            <a:ext cx="4020111" cy="80021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1659" y="377134"/>
            <a:ext cx="3962953" cy="123842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800" y="1615557"/>
            <a:ext cx="4086795" cy="246731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8290" y="2529670"/>
            <a:ext cx="4096322" cy="243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148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133" y="3131900"/>
            <a:ext cx="5792008" cy="220058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633" y="1401262"/>
            <a:ext cx="4020111" cy="80021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0744" y="664581"/>
            <a:ext cx="4086795" cy="246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627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395" y="980638"/>
            <a:ext cx="3962953" cy="123842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6034" y="380479"/>
            <a:ext cx="4096322" cy="243874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395" y="2819219"/>
            <a:ext cx="5820587" cy="240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522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298" y="3028352"/>
            <a:ext cx="7001852" cy="310558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395" y="980638"/>
            <a:ext cx="3962953" cy="123842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6034" y="380479"/>
            <a:ext cx="4096322" cy="243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05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140" y="460449"/>
            <a:ext cx="7259063" cy="257210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90" y="2799927"/>
            <a:ext cx="7230484" cy="3324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590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41" y="189140"/>
            <a:ext cx="7532172" cy="544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527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7900870" cy="5623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915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874" y="706891"/>
            <a:ext cx="7081870" cy="419666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483" y="3418070"/>
            <a:ext cx="117365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   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(Posterior)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173190" y="1424678"/>
            <a:ext cx="7793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(Prior)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678755" y="254246"/>
            <a:ext cx="11406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Likelihood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077811" y="4986867"/>
            <a:ext cx="11577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(Marginal)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5636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b="69083"/>
          <a:stretch/>
        </p:blipFill>
        <p:spPr>
          <a:xfrm>
            <a:off x="394736" y="744821"/>
            <a:ext cx="7897327" cy="99253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b="69083"/>
          <a:stretch/>
        </p:blipFill>
        <p:spPr>
          <a:xfrm>
            <a:off x="547136" y="897221"/>
            <a:ext cx="7897327" cy="99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153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43" y="217209"/>
            <a:ext cx="7744906" cy="2162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30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 Question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In a bakery, three types of pastries, Croissants, Muffins, and Danish, contribute 30%, 45%, and 25%, respectively, to the inventory. It is known from past experience that 5%, 8%, and 4% of the pastries in each category, respectively, have won a prestigious award. Now, suppose that a pastry is randomly selected. </a:t>
            </a:r>
          </a:p>
          <a:p>
            <a:pPr lvl="0" algn="just"/>
            <a:r>
              <a:rPr lang="en-US" dirty="0"/>
              <a:t>What is the probability that it has won a prestigious award</a:t>
            </a:r>
            <a:r>
              <a:rPr lang="en-US" dirty="0" smtClean="0"/>
              <a:t>?</a:t>
            </a:r>
            <a:endParaRPr lang="en-US" dirty="0"/>
          </a:p>
          <a:p>
            <a:pPr lvl="0" algn="just"/>
            <a:r>
              <a:rPr lang="en-US" dirty="0"/>
              <a:t>If it has won a prestigious award, what is the probability that it is in the category Muffin?</a:t>
            </a:r>
          </a:p>
        </p:txBody>
      </p:sp>
    </p:spTree>
    <p:extLst>
      <p:ext uri="{BB962C8B-B14F-4D97-AF65-F5344CB8AC3E}">
        <p14:creationId xmlns:p14="http://schemas.microsoft.com/office/powerpoint/2010/main" val="32551526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44906" cy="5696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316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10616</TotalTime>
  <Words>128</Words>
  <Application>Microsoft Office PowerPoint</Application>
  <PresentationFormat>On-screen Show (4:3)</PresentationFormat>
  <Paragraphs>12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Probability &amp; Random Processes EE-2011 Department of Electrical Engineering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Practice Question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Department of electrical engineering</dc:title>
  <dc:creator>Tooba Javed</dc:creator>
  <cp:lastModifiedBy>HP</cp:lastModifiedBy>
  <cp:revision>907</cp:revision>
  <cp:lastPrinted>2017-08-04T10:23:33Z</cp:lastPrinted>
  <dcterms:created xsi:type="dcterms:W3CDTF">2017-07-19T17:50:20Z</dcterms:created>
  <dcterms:modified xsi:type="dcterms:W3CDTF">2026-02-09T09:33:14Z</dcterms:modified>
</cp:coreProperties>
</file>