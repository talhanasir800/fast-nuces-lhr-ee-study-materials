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725" r:id="rId1"/>
  </p:sldMasterIdLst>
  <p:notesMasterIdLst>
    <p:notesMasterId r:id="rId24"/>
  </p:notesMasterIdLst>
  <p:handoutMasterIdLst>
    <p:handoutMasterId r:id="rId25"/>
  </p:handoutMasterIdLst>
  <p:sldIdLst>
    <p:sldId id="256" r:id="rId2"/>
    <p:sldId id="943" r:id="rId3"/>
    <p:sldId id="974" r:id="rId4"/>
    <p:sldId id="978" r:id="rId5"/>
    <p:sldId id="979" r:id="rId6"/>
    <p:sldId id="981" r:id="rId7"/>
    <p:sldId id="989" r:id="rId8"/>
    <p:sldId id="980" r:id="rId9"/>
    <p:sldId id="982" r:id="rId10"/>
    <p:sldId id="983" r:id="rId11"/>
    <p:sldId id="987" r:id="rId12"/>
    <p:sldId id="984" r:id="rId13"/>
    <p:sldId id="985" r:id="rId14"/>
    <p:sldId id="986" r:id="rId15"/>
    <p:sldId id="988" r:id="rId16"/>
    <p:sldId id="990" r:id="rId17"/>
    <p:sldId id="991" r:id="rId18"/>
    <p:sldId id="992" r:id="rId19"/>
    <p:sldId id="993" r:id="rId20"/>
    <p:sldId id="994" r:id="rId21"/>
    <p:sldId id="995" r:id="rId22"/>
    <p:sldId id="996" r:id="rId23"/>
  </p:sldIdLst>
  <p:sldSz cx="9144000" cy="6858000" type="screen4x3"/>
  <p:notesSz cx="7045325" cy="9345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43">
          <p15:clr>
            <a:srgbClr val="A4A3A4"/>
          </p15:clr>
        </p15:guide>
        <p15:guide id="2" pos="221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oshaba nasir" initials="nn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66CC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6" autoAdjust="0"/>
    <p:restoredTop sz="96797" autoAdjust="0"/>
  </p:normalViewPr>
  <p:slideViewPr>
    <p:cSldViewPr snapToGrid="0">
      <p:cViewPr varScale="1">
        <p:scale>
          <a:sx n="84" d="100"/>
          <a:sy n="84" d="100"/>
        </p:scale>
        <p:origin x="147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-2814" y="-78"/>
      </p:cViewPr>
      <p:guideLst>
        <p:guide orient="horz" pos="2943"/>
        <p:guide pos="221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ED06D3F7-E64F-4941-AF06-04228978943D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070AF922-4C38-4416-AF39-18897D6FCE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89330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5885DDC7-8421-4D3B-ACD4-D85A42860E3B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9225" y="1168400"/>
            <a:ext cx="4206875" cy="31543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62" tIns="46831" rIns="93662" bIns="468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4533" y="4497576"/>
            <a:ext cx="5636260" cy="3679835"/>
          </a:xfrm>
          <a:prstGeom prst="rect">
            <a:avLst/>
          </a:prstGeom>
        </p:spPr>
        <p:txBody>
          <a:bodyPr vert="horz" lIns="93662" tIns="46831" rIns="93662" bIns="46831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BE7AE58E-F44A-4705-A5B2-1F963FD2ED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7131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0813" y="1168400"/>
            <a:ext cx="4203700" cy="31543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08686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1308-0335-40F3-9181-5C4AF11B8453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149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EFA65-7737-4E0E-80C9-7D905905C72D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876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5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BC63C-2144-4F3B-96A3-23A251ECB495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260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E8C7-7A37-4916-A0FA-05F323783E61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586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65127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4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4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D9556-0196-465F-A430-9BBA0763A30C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722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F729F-5041-4C51-8843-DC4574EF4C03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949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A1C0C-940E-4ADF-87FC-DB0AE8E957F0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934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288C-9E5C-43F2-9E91-CC079D8A48CB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79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A0B30-C62A-4ECE-908A-9B88DEDBF964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98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0176-0F5C-4C7D-AAA0-D4AADBDA2E92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711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6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6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BF63-ABB0-428B-84A7-F490305E4A3B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830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D4739-8AC8-4825-AB0A-1F5EC5AD6895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0" y="6305555"/>
            <a:ext cx="9144000" cy="3651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    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</a:rPr>
              <a:t>NATIONAL UNIVERISTY OF COMPUTER &amp; EMERGING SCIENCES, LAHORE  – EE DEPARTMENT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703" y="5445127"/>
            <a:ext cx="1354732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63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6852" y="-36575"/>
            <a:ext cx="5894348" cy="2387600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Probability &amp; Random Processes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EE-2011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Department of 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Electrical Engineering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2538" y="3673476"/>
            <a:ext cx="6850063" cy="1655762"/>
          </a:xfrm>
        </p:spPr>
        <p:txBody>
          <a:bodyPr/>
          <a:lstStyle/>
          <a:p>
            <a:endParaRPr lang="en-US" cap="none" spc="3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cap="none" spc="3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NATIONAL UNIVERSITY OF COMPUTER &amp; EMERGING SCIENCES, LAHORE CAMPUS</a:t>
            </a:r>
            <a:endParaRPr lang="en-US" cap="none" spc="3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282700" y="3749675"/>
            <a:ext cx="736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39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46" y="-1100674"/>
            <a:ext cx="8097380" cy="768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138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0" y="206756"/>
            <a:ext cx="7639436" cy="517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144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343489"/>
            <a:ext cx="8445823" cy="19012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244713"/>
            <a:ext cx="7869703" cy="319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39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78366"/>
            <a:ext cx="8690338" cy="144617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13343"/>
          <a:stretch/>
        </p:blipFill>
        <p:spPr>
          <a:xfrm>
            <a:off x="384047" y="3209543"/>
            <a:ext cx="8601179" cy="71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089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19" y="607119"/>
            <a:ext cx="8861063" cy="396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28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73736" y="203168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1.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How many students in the class use </a:t>
            </a:r>
            <a:r>
              <a:rPr lang="en-US" dirty="0" err="1"/>
              <a:t>WhatsApp</a:t>
            </a:r>
            <a:r>
              <a:rPr lang="en-US" dirty="0"/>
              <a:t> or </a:t>
            </a:r>
            <a:r>
              <a:rPr lang="en-US" dirty="0" err="1"/>
              <a:t>Instagram</a:t>
            </a:r>
            <a:r>
              <a:rPr lang="en-US" dirty="0"/>
              <a:t>?</a:t>
            </a:r>
          </a:p>
          <a:p>
            <a:r>
              <a:rPr lang="en-US" b="1" dirty="0"/>
              <a:t>Event A:</a:t>
            </a:r>
            <a:r>
              <a:rPr lang="en-US" dirty="0"/>
              <a:t> Student uses </a:t>
            </a:r>
            <a:r>
              <a:rPr lang="en-US" dirty="0" err="1"/>
              <a:t>WhatsApp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Event B:</a:t>
            </a:r>
            <a:r>
              <a:rPr lang="en-US" dirty="0"/>
              <a:t> Student uses </a:t>
            </a:r>
            <a:r>
              <a:rPr lang="en-US" dirty="0" err="1"/>
              <a:t>Instagram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73736" y="1680496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2.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What is the probability that a student buys a burger or a cold drink?</a:t>
            </a:r>
          </a:p>
          <a:p>
            <a:r>
              <a:rPr lang="en-US" b="1" dirty="0"/>
              <a:t>Event A:</a:t>
            </a:r>
            <a:r>
              <a:rPr lang="en-US" dirty="0"/>
              <a:t> Student buys a burger</a:t>
            </a:r>
            <a:br>
              <a:rPr lang="en-US" dirty="0"/>
            </a:br>
            <a:r>
              <a:rPr lang="en-US" b="1" dirty="0"/>
              <a:t>Event B:</a:t>
            </a:r>
            <a:r>
              <a:rPr lang="en-US" dirty="0"/>
              <a:t> Student buys a cold drink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3736" y="3157824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3.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What is the probability that a student passes Mathematics or Physics?</a:t>
            </a:r>
          </a:p>
          <a:p>
            <a:r>
              <a:rPr lang="en-US" b="1" dirty="0"/>
              <a:t>Event A:</a:t>
            </a:r>
            <a:r>
              <a:rPr lang="en-US" dirty="0"/>
              <a:t> Student passes Mathematics</a:t>
            </a:r>
            <a:br>
              <a:rPr lang="en-US" dirty="0"/>
            </a:br>
            <a:r>
              <a:rPr lang="en-US" b="1" dirty="0"/>
              <a:t>Event B:</a:t>
            </a:r>
            <a:r>
              <a:rPr lang="en-US" dirty="0"/>
              <a:t> Student passes Physics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3736" y="4635152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4.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What is the probability of drawing a King or a Heart from a deck of cards?</a:t>
            </a:r>
          </a:p>
          <a:p>
            <a:r>
              <a:rPr lang="en-US" b="1" dirty="0"/>
              <a:t>Event A:</a:t>
            </a:r>
            <a:r>
              <a:rPr lang="en-US" dirty="0"/>
              <a:t> Card drawn is a King</a:t>
            </a:r>
            <a:br>
              <a:rPr lang="en-US" dirty="0"/>
            </a:br>
            <a:r>
              <a:rPr lang="en-US" b="1" dirty="0"/>
              <a:t>Event B:</a:t>
            </a:r>
            <a:r>
              <a:rPr lang="en-US" dirty="0"/>
              <a:t> Card drawn is a Heart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209008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5.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What is the probability that a student comes to university by bus or by bike?</a:t>
            </a:r>
          </a:p>
          <a:p>
            <a:r>
              <a:rPr lang="en-US" b="1" dirty="0"/>
              <a:t>Event A:</a:t>
            </a:r>
            <a:r>
              <a:rPr lang="en-US" dirty="0"/>
              <a:t> Student comes by bus</a:t>
            </a:r>
            <a:br>
              <a:rPr lang="en-US" dirty="0"/>
            </a:br>
            <a:r>
              <a:rPr lang="en-US" b="1" dirty="0"/>
              <a:t>Event B:</a:t>
            </a:r>
            <a:r>
              <a:rPr lang="en-US" dirty="0"/>
              <a:t> Student comes by bike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2696159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6.</a:t>
            </a:r>
          </a:p>
          <a:p>
            <a:r>
              <a:rPr lang="en-US" dirty="0" smtClean="0"/>
              <a:t>What </a:t>
            </a:r>
            <a:r>
              <a:rPr lang="en-US" dirty="0"/>
              <a:t>is the probability that a student is present in the morning class or the lab?</a:t>
            </a:r>
          </a:p>
          <a:p>
            <a:r>
              <a:rPr lang="en-US" b="1" dirty="0"/>
              <a:t>Event A:</a:t>
            </a:r>
            <a:r>
              <a:rPr lang="en-US" dirty="0"/>
              <a:t> Student attends the morning class</a:t>
            </a:r>
            <a:br>
              <a:rPr lang="en-US" dirty="0"/>
            </a:br>
            <a:r>
              <a:rPr lang="en-US" b="1" dirty="0"/>
              <a:t>Event B:</a:t>
            </a:r>
            <a:r>
              <a:rPr lang="en-US" dirty="0"/>
              <a:t> Student attends the lab</a:t>
            </a:r>
          </a:p>
        </p:txBody>
      </p:sp>
    </p:spTree>
    <p:extLst>
      <p:ext uri="{BB962C8B-B14F-4D97-AF65-F5344CB8AC3E}">
        <p14:creationId xmlns:p14="http://schemas.microsoft.com/office/powerpoint/2010/main" val="1254707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5" y="520523"/>
            <a:ext cx="8755875" cy="113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144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494461"/>
            <a:ext cx="8101681" cy="252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934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1474"/>
          <a:stretch/>
        </p:blipFill>
        <p:spPr>
          <a:xfrm>
            <a:off x="91440" y="676657"/>
            <a:ext cx="8875336" cy="293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69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94057"/>
            <a:ext cx="7867170" cy="103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573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5" y="658368"/>
            <a:ext cx="8327193" cy="278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56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431775"/>
            <a:ext cx="8903501" cy="2874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600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557784"/>
            <a:ext cx="8496338" cy="405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912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Conditional Probability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1" y="2200672"/>
            <a:ext cx="7886700" cy="109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999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11" y="454029"/>
            <a:ext cx="8611802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887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16545"/>
            <a:ext cx="8315226" cy="112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480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508" y="449043"/>
            <a:ext cx="7525800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655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641068"/>
            <a:ext cx="8672225" cy="157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59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422347"/>
            <a:ext cx="8185060" cy="247186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05" y="430756"/>
            <a:ext cx="8672225" cy="157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908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 Problem: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7205" y="3177266"/>
            <a:ext cx="7449590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541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Homework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2508" y="1825625"/>
            <a:ext cx="615898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894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9925</TotalTime>
  <Words>57</Words>
  <Application>Microsoft Office PowerPoint</Application>
  <PresentationFormat>On-screen Show (4:3)</PresentationFormat>
  <Paragraphs>19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Probability &amp; Random Processes EE-2011 Department of Electrical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Conditional Probability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 Problem:</vt:lpstr>
      <vt:lpstr>Homework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electrical engineering</dc:title>
  <dc:creator>Tooba Javed</dc:creator>
  <cp:lastModifiedBy>HP</cp:lastModifiedBy>
  <cp:revision>860</cp:revision>
  <cp:lastPrinted>2017-08-04T10:23:33Z</cp:lastPrinted>
  <dcterms:created xsi:type="dcterms:W3CDTF">2017-07-19T17:50:20Z</dcterms:created>
  <dcterms:modified xsi:type="dcterms:W3CDTF">2026-01-28T10:47:24Z</dcterms:modified>
</cp:coreProperties>
</file>