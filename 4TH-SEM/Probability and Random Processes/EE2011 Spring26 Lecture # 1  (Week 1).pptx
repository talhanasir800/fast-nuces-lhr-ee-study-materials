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3"/>
  </p:notesMasterIdLst>
  <p:handoutMasterIdLst>
    <p:handoutMasterId r:id="rId24"/>
  </p:handoutMasterIdLst>
  <p:sldIdLst>
    <p:sldId id="256" r:id="rId2"/>
    <p:sldId id="924" r:id="rId3"/>
    <p:sldId id="910" r:id="rId4"/>
    <p:sldId id="935" r:id="rId5"/>
    <p:sldId id="943" r:id="rId6"/>
    <p:sldId id="942" r:id="rId7"/>
    <p:sldId id="933" r:id="rId8"/>
    <p:sldId id="944" r:id="rId9"/>
    <p:sldId id="912" r:id="rId10"/>
    <p:sldId id="938" r:id="rId11"/>
    <p:sldId id="918" r:id="rId12"/>
    <p:sldId id="920" r:id="rId13"/>
    <p:sldId id="921" r:id="rId14"/>
    <p:sldId id="940" r:id="rId15"/>
    <p:sldId id="946" r:id="rId16"/>
    <p:sldId id="945" r:id="rId17"/>
    <p:sldId id="947" r:id="rId18"/>
    <p:sldId id="948" r:id="rId19"/>
    <p:sldId id="949" r:id="rId20"/>
    <p:sldId id="950" r:id="rId21"/>
    <p:sldId id="951" r:id="rId22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F0844-925B-47E9-9C51-ED6CE6DD3C2C}" v="5" dt="2026-02-22T15:06:45.695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>
        <p:scale>
          <a:sx n="125" d="100"/>
          <a:sy n="125" d="100"/>
        </p:scale>
        <p:origin x="278" y="-8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894348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Probability &amp; Random Processes (AKA – Statistics)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Instructor, Office Location &amp;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sz="2800" dirty="0"/>
          </a:p>
          <a:p>
            <a:r>
              <a:rPr lang="en-CA" sz="2800" dirty="0"/>
              <a:t>Instructor Name: 		</a:t>
            </a:r>
            <a:r>
              <a:rPr lang="en-CA" sz="2800" dirty="0" err="1"/>
              <a:t>Aroosa</a:t>
            </a:r>
            <a:r>
              <a:rPr lang="en-CA" sz="2800" dirty="0"/>
              <a:t> </a:t>
            </a:r>
            <a:r>
              <a:rPr lang="en-CA" sz="2800" dirty="0" err="1"/>
              <a:t>Umair</a:t>
            </a:r>
            <a:endParaRPr lang="en-CA" sz="2800" dirty="0"/>
          </a:p>
          <a:p>
            <a:r>
              <a:rPr lang="en-CA" sz="2800" dirty="0"/>
              <a:t>Office Location: 		E-050, D block basement</a:t>
            </a:r>
          </a:p>
          <a:p>
            <a:r>
              <a:rPr lang="en-CA" sz="2800" dirty="0"/>
              <a:t>Office Hours: 		Tuesday (10:00-11:00 AM)</a:t>
            </a:r>
          </a:p>
          <a:p>
            <a:pPr marL="0" indent="0">
              <a:buNone/>
            </a:pPr>
            <a:r>
              <a:rPr lang="en-CA" sz="2800" dirty="0"/>
              <a:t>				</a:t>
            </a:r>
            <a:r>
              <a:rPr lang="en-CA" sz="2800"/>
              <a:t>	Thursday (12:00-01:00 </a:t>
            </a:r>
            <a:r>
              <a:rPr lang="en-CA" sz="2800" dirty="0"/>
              <a:t>PM)</a:t>
            </a:r>
          </a:p>
        </p:txBody>
      </p:sp>
    </p:spTree>
    <p:extLst>
      <p:ext uri="{BB962C8B-B14F-4D97-AF65-F5344CB8AC3E}">
        <p14:creationId xmlns:p14="http://schemas.microsoft.com/office/powerpoint/2010/main" val="170098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Agenda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800" dirty="0"/>
              <a:t>Course Outline &amp; Grading Policy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800" dirty="0"/>
              <a:t>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238019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Course Outline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" y="-1077432"/>
            <a:ext cx="8192643" cy="793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Grading Policy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742" y="3017520"/>
            <a:ext cx="5268518" cy="156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1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Course Outline &amp; Grading Policy</a:t>
            </a:r>
            <a:endParaRPr lang="en-C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41500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lang="en-CA" sz="28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CA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CA" sz="2800" dirty="0"/>
              <a:t>You will be required to make hand written solution of the problem sets given and submit that in your handwriting.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CA" sz="2800" dirty="0"/>
              <a:t>Those just copying and pasting solutions will be awarded </a:t>
            </a:r>
            <a:r>
              <a:rPr lang="en-CA" sz="2800" b="1" dirty="0"/>
              <a:t>zero marks.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2" y="1770606"/>
            <a:ext cx="4878388" cy="50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348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is Probability Important?</a:t>
            </a:r>
            <a:br>
              <a:rPr lang="en-US" b="1" dirty="0"/>
            </a:br>
            <a:r>
              <a:rPr lang="en-US" sz="2000" b="1" dirty="0"/>
              <a:t>Probability helps us understand and manage uncertainty using logic and numbers.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690690"/>
            <a:ext cx="7886700" cy="44862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Key Reasons (with Examples)</a:t>
            </a:r>
          </a:p>
          <a:p>
            <a:r>
              <a:rPr lang="en-US" b="1" dirty="0"/>
              <a:t>Daily Life Decisions</a:t>
            </a:r>
            <a:br>
              <a:rPr lang="en-US" dirty="0"/>
            </a:br>
            <a:r>
              <a:rPr lang="en-US" dirty="0"/>
              <a:t>Weather forecast shows a 70% chance of rain → you carry an umbrella.</a:t>
            </a:r>
          </a:p>
          <a:p>
            <a:r>
              <a:rPr lang="en-US" b="1" dirty="0"/>
              <a:t>Engineering &amp; Technology</a:t>
            </a:r>
            <a:br>
              <a:rPr lang="en-US" dirty="0"/>
            </a:br>
            <a:r>
              <a:rPr lang="en-US" dirty="0"/>
              <a:t>Machine failure probability helps design safer systems with backups.</a:t>
            </a:r>
          </a:p>
          <a:p>
            <a:r>
              <a:rPr lang="en-US" b="1" dirty="0"/>
              <a:t>Artificial Intelligence &amp; Data Science</a:t>
            </a:r>
            <a:br>
              <a:rPr lang="en-US" dirty="0"/>
            </a:br>
            <a:r>
              <a:rPr lang="en-US" dirty="0"/>
              <a:t>AI predicts outcomes using probabilities (e.g., 95% chance an email is spam).</a:t>
            </a:r>
          </a:p>
          <a:p>
            <a:r>
              <a:rPr lang="en-US" b="1" dirty="0"/>
              <a:t>Medical Field</a:t>
            </a:r>
            <a:br>
              <a:rPr lang="en-US" dirty="0"/>
            </a:br>
            <a:r>
              <a:rPr lang="en-US" dirty="0"/>
              <a:t>Doctors choose treatments based on success and side‑effect probabilities.</a:t>
            </a:r>
          </a:p>
          <a:p>
            <a:r>
              <a:rPr lang="en-US" b="1" dirty="0"/>
              <a:t>Manufacturing &amp; Quality Control</a:t>
            </a:r>
            <a:br>
              <a:rPr lang="en-US" dirty="0"/>
            </a:br>
            <a:r>
              <a:rPr lang="en-US" dirty="0"/>
              <a:t>Probability estimates defective products to improve processes.</a:t>
            </a:r>
          </a:p>
          <a:p>
            <a:r>
              <a:rPr lang="en-US" b="1" dirty="0"/>
              <a:t>Research &amp; Experiments</a:t>
            </a:r>
            <a:br>
              <a:rPr lang="en-US" dirty="0"/>
            </a:br>
            <a:r>
              <a:rPr lang="en-US" dirty="0"/>
              <a:t>Determines whether results are due to chance or real effects.</a:t>
            </a:r>
          </a:p>
          <a:p>
            <a:r>
              <a:rPr lang="en-US" b="1" dirty="0"/>
              <a:t>Finance &amp; Risk Management</a:t>
            </a:r>
            <a:br>
              <a:rPr lang="en-US" dirty="0"/>
            </a:br>
            <a:r>
              <a:rPr lang="en-US" dirty="0"/>
              <a:t>Helps compare profit vs. loss risks before investing.</a:t>
            </a:r>
          </a:p>
        </p:txBody>
      </p:sp>
    </p:spTree>
    <p:extLst>
      <p:ext uri="{BB962C8B-B14F-4D97-AF65-F5344CB8AC3E}">
        <p14:creationId xmlns:p14="http://schemas.microsoft.com/office/powerpoint/2010/main" val="1167729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Statistics is a very </a:t>
            </a:r>
            <a:r>
              <a:rPr lang="en-CA" sz="2800" dirty="0" err="1"/>
              <a:t>very</a:t>
            </a:r>
            <a:r>
              <a:rPr lang="en-CA" sz="2800" dirty="0"/>
              <a:t> vey …. old subject!</a:t>
            </a:r>
          </a:p>
          <a:p>
            <a:r>
              <a:rPr lang="en-CA" sz="2800" dirty="0"/>
              <a:t>As older as the humans!</a:t>
            </a:r>
          </a:p>
          <a:p>
            <a:r>
              <a:rPr lang="en-CA" sz="2800" dirty="0"/>
              <a:t>It’s about the:</a:t>
            </a:r>
          </a:p>
          <a:p>
            <a:pPr lvl="1"/>
            <a:r>
              <a:rPr lang="en-CA" sz="2400" dirty="0"/>
              <a:t>Collection</a:t>
            </a:r>
          </a:p>
          <a:p>
            <a:pPr lvl="1"/>
            <a:r>
              <a:rPr lang="en-CA" sz="2400" dirty="0"/>
              <a:t>Organization</a:t>
            </a:r>
          </a:p>
          <a:p>
            <a:pPr lvl="1"/>
            <a:r>
              <a:rPr lang="en-CA" sz="2400" dirty="0"/>
              <a:t>Presentation</a:t>
            </a:r>
          </a:p>
          <a:p>
            <a:pPr lvl="1"/>
            <a:r>
              <a:rPr lang="en-CA" sz="2400" dirty="0"/>
              <a:t>Interpretation  and</a:t>
            </a:r>
          </a:p>
          <a:p>
            <a:pPr lvl="1"/>
            <a:r>
              <a:rPr lang="en-CA" sz="2400" dirty="0"/>
              <a:t>Analysis of Information</a:t>
            </a:r>
          </a:p>
          <a:p>
            <a:pPr lvl="1"/>
            <a:endParaRPr lang="en-CA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4390086" y="3424438"/>
            <a:ext cx="2696514" cy="2118325"/>
            <a:chOff x="4390086" y="3424438"/>
            <a:chExt cx="2696514" cy="2118325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0086" y="3424438"/>
              <a:ext cx="2696514" cy="18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0086" y="5242425"/>
              <a:ext cx="2696514" cy="300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060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Some questions to Ponder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What can be the sources of information data?</a:t>
            </a:r>
          </a:p>
          <a:p>
            <a:r>
              <a:rPr lang="en-CA" sz="2400" dirty="0"/>
              <a:t>Can information data be static?</a:t>
            </a:r>
          </a:p>
          <a:p>
            <a:r>
              <a:rPr lang="en-CA" sz="2400" dirty="0"/>
              <a:t>Can information data be variable?</a:t>
            </a:r>
          </a:p>
          <a:p>
            <a:r>
              <a:rPr lang="en-CA" sz="2400" dirty="0"/>
              <a:t>Can information data be certain?</a:t>
            </a:r>
          </a:p>
          <a:p>
            <a:r>
              <a:rPr lang="en-CA" sz="2400" dirty="0"/>
              <a:t>Is information data always certain?</a:t>
            </a:r>
          </a:p>
          <a:p>
            <a:r>
              <a:rPr lang="en-CA" sz="2400" dirty="0"/>
              <a:t>All these questions relate to Statistics!</a:t>
            </a:r>
          </a:p>
          <a:p>
            <a:r>
              <a:rPr lang="en-CA" sz="2300" dirty="0"/>
              <a:t>How could you use information data beneficially? Any examples?</a:t>
            </a:r>
          </a:p>
        </p:txBody>
      </p:sp>
    </p:spTree>
    <p:extLst>
      <p:ext uri="{BB962C8B-B14F-4D97-AF65-F5344CB8AC3E}">
        <p14:creationId xmlns:p14="http://schemas.microsoft.com/office/powerpoint/2010/main" val="4269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3355973"/>
            <a:ext cx="596265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753658"/>
            <a:ext cx="91344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753658"/>
            <a:ext cx="72104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5" y="3411008"/>
            <a:ext cx="315277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534958"/>
            <a:ext cx="21907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87" y="4840816"/>
            <a:ext cx="31813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05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111375"/>
            <a:ext cx="8136586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396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78" y="1637414"/>
            <a:ext cx="8575750" cy="488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17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685751"/>
          </a:xfrm>
        </p:spPr>
        <p:txBody>
          <a:bodyPr/>
          <a:lstStyle/>
          <a:p>
            <a:r>
              <a:rPr lang="en-CA" dirty="0"/>
              <a:t>Averages &amp; Range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" y="0"/>
            <a:ext cx="9144000" cy="541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61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# 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80987"/>
            <a:ext cx="7886700" cy="40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13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Sample 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785216"/>
            <a:ext cx="7886700" cy="243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5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27898"/>
            <a:ext cx="7886700" cy="334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60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74" y="2404872"/>
            <a:ext cx="9078826" cy="27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8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024" y="1825625"/>
            <a:ext cx="49999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3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6251" y="120974"/>
            <a:ext cx="11928499" cy="67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3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7" y="424080"/>
            <a:ext cx="6583680" cy="571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9401</TotalTime>
  <Words>363</Words>
  <Application>Microsoft Office PowerPoint</Application>
  <PresentationFormat>On-screen Show (4:3)</PresentationFormat>
  <Paragraphs>53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Probability &amp; Random Processes (AKA – Statistics) EE-2011 Department of Electrical Engineering</vt:lpstr>
      <vt:lpstr>Instructor, Office Location &amp; Hours</vt:lpstr>
      <vt:lpstr>Agenda for Today</vt:lpstr>
      <vt:lpstr>Course Outline</vt:lpstr>
      <vt:lpstr>PowerPoint Presentation</vt:lpstr>
      <vt:lpstr>Grading Policy</vt:lpstr>
      <vt:lpstr>Course Outline &amp; Grading Policy</vt:lpstr>
      <vt:lpstr>Why is Probability Important? Probability helps us understand and manage uncertainty using logic and numbers.</vt:lpstr>
      <vt:lpstr>Statistics</vt:lpstr>
      <vt:lpstr>Some questions to Ponder</vt:lpstr>
      <vt:lpstr>PowerPoint Presentation</vt:lpstr>
      <vt:lpstr>Probability</vt:lpstr>
      <vt:lpstr>Probability</vt:lpstr>
      <vt:lpstr>Averages &amp; Range</vt:lpstr>
      <vt:lpstr>Chapter # 2</vt:lpstr>
      <vt:lpstr>2.1 Sample Space</vt:lpstr>
      <vt:lpstr>Sample Space</vt:lpstr>
      <vt:lpstr>Sample Space</vt:lpstr>
      <vt:lpstr>Sample Space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Talha Nasir FAST NU LAHORE</cp:lastModifiedBy>
  <cp:revision>804</cp:revision>
  <cp:lastPrinted>2017-08-04T10:23:33Z</cp:lastPrinted>
  <dcterms:created xsi:type="dcterms:W3CDTF">2017-07-19T17:50:20Z</dcterms:created>
  <dcterms:modified xsi:type="dcterms:W3CDTF">2026-02-22T15:06:46Z</dcterms:modified>
</cp:coreProperties>
</file>