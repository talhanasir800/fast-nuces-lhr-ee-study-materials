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42"/>
  </p:notesMasterIdLst>
  <p:handoutMasterIdLst>
    <p:handoutMasterId r:id="rId43"/>
  </p:handoutMasterIdLst>
  <p:sldIdLst>
    <p:sldId id="256" r:id="rId2"/>
    <p:sldId id="943" r:id="rId3"/>
    <p:sldId id="951" r:id="rId4"/>
    <p:sldId id="953" r:id="rId5"/>
    <p:sldId id="952" r:id="rId6"/>
    <p:sldId id="954" r:id="rId7"/>
    <p:sldId id="955" r:id="rId8"/>
    <p:sldId id="958" r:id="rId9"/>
    <p:sldId id="959" r:id="rId10"/>
    <p:sldId id="960" r:id="rId11"/>
    <p:sldId id="961" r:id="rId12"/>
    <p:sldId id="962" r:id="rId13"/>
    <p:sldId id="963" r:id="rId14"/>
    <p:sldId id="964" r:id="rId15"/>
    <p:sldId id="970" r:id="rId16"/>
    <p:sldId id="971" r:id="rId17"/>
    <p:sldId id="965" r:id="rId18"/>
    <p:sldId id="966" r:id="rId19"/>
    <p:sldId id="967" r:id="rId20"/>
    <p:sldId id="968" r:id="rId21"/>
    <p:sldId id="969" r:id="rId22"/>
    <p:sldId id="972" r:id="rId23"/>
    <p:sldId id="973" r:id="rId24"/>
    <p:sldId id="956" r:id="rId25"/>
    <p:sldId id="957" r:id="rId26"/>
    <p:sldId id="974" r:id="rId27"/>
    <p:sldId id="975" r:id="rId28"/>
    <p:sldId id="976" r:id="rId29"/>
    <p:sldId id="977" r:id="rId30"/>
    <p:sldId id="978" r:id="rId31"/>
    <p:sldId id="979" r:id="rId32"/>
    <p:sldId id="980" r:id="rId33"/>
    <p:sldId id="982" r:id="rId34"/>
    <p:sldId id="983" r:id="rId35"/>
    <p:sldId id="986" r:id="rId36"/>
    <p:sldId id="981" r:id="rId37"/>
    <p:sldId id="985" r:id="rId38"/>
    <p:sldId id="984" r:id="rId39"/>
    <p:sldId id="987" r:id="rId40"/>
    <p:sldId id="988" r:id="rId41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6" autoAdjust="0"/>
    <p:restoredTop sz="96797" autoAdjust="0"/>
  </p:normalViewPr>
  <p:slideViewPr>
    <p:cSldViewPr snapToGrid="0">
      <p:cViewPr varScale="1">
        <p:scale>
          <a:sx n="84" d="100"/>
          <a:sy n="84" d="100"/>
        </p:scale>
        <p:origin x="147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8686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-36575"/>
            <a:ext cx="5894348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EE-2011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Department 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39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46" y="-1100674"/>
            <a:ext cx="8097380" cy="768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3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Sample Space – Practice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Q1</a:t>
            </a:r>
            <a:r>
              <a:rPr lang="en-US" b="1" dirty="0"/>
              <a:t>.</a:t>
            </a:r>
            <a:r>
              <a:rPr lang="en-US" dirty="0"/>
              <a:t> A coin is tossed </a:t>
            </a:r>
            <a:r>
              <a:rPr lang="en-US" b="1" dirty="0"/>
              <a:t>once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Write the sample space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Q2.</a:t>
            </a:r>
            <a:r>
              <a:rPr lang="en-US" dirty="0"/>
              <a:t> A coin is tossed </a:t>
            </a:r>
            <a:r>
              <a:rPr lang="en-US" b="1" dirty="0"/>
              <a:t>twice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Write the sample space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Q3.</a:t>
            </a:r>
            <a:r>
              <a:rPr lang="en-US" dirty="0"/>
              <a:t> A </a:t>
            </a:r>
            <a:r>
              <a:rPr lang="en-US" b="1" dirty="0"/>
              <a:t>die</a:t>
            </a:r>
            <a:r>
              <a:rPr lang="en-US" dirty="0"/>
              <a:t> is rolled once.</a:t>
            </a:r>
            <a:br>
              <a:rPr lang="en-US" dirty="0"/>
            </a:br>
            <a:r>
              <a:rPr lang="en-US" dirty="0"/>
              <a:t>Write the sample space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Q4.</a:t>
            </a:r>
            <a:r>
              <a:rPr lang="en-US" dirty="0"/>
              <a:t> Two coins are tossed </a:t>
            </a:r>
            <a:r>
              <a:rPr lang="en-US" b="1" dirty="0"/>
              <a:t>at the same time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Write the sample space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Q5.</a:t>
            </a:r>
            <a:r>
              <a:rPr lang="en-US" dirty="0"/>
              <a:t> A die is rolled </a:t>
            </a:r>
            <a:r>
              <a:rPr lang="en-US" b="1" dirty="0"/>
              <a:t>twice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Write the sample space.</a:t>
            </a:r>
          </a:p>
        </p:txBody>
      </p:sp>
    </p:spTree>
    <p:extLst>
      <p:ext uri="{BB962C8B-B14F-4D97-AF65-F5344CB8AC3E}">
        <p14:creationId xmlns:p14="http://schemas.microsoft.com/office/powerpoint/2010/main" val="227926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Sample Space – Practice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Q1.</a:t>
            </a:r>
            <a:r>
              <a:rPr lang="en-US" dirty="0"/>
              <a:t> A coin is tossed </a:t>
            </a:r>
            <a:r>
              <a:rPr lang="en-US" b="1" dirty="0" smtClean="0"/>
              <a:t>once</a:t>
            </a:r>
            <a:r>
              <a:rPr lang="en-US" dirty="0" smtClean="0"/>
              <a:t>. Write </a:t>
            </a:r>
            <a:r>
              <a:rPr lang="en-US" dirty="0"/>
              <a:t>the sample space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Ans. </a:t>
            </a:r>
            <a:r>
              <a:rPr lang="en-US" dirty="0" smtClean="0"/>
              <a:t>				S </a:t>
            </a:r>
            <a:r>
              <a:rPr lang="en-US" dirty="0"/>
              <a:t>= {H, T}</a:t>
            </a:r>
          </a:p>
          <a:p>
            <a:pPr marL="0" indent="0">
              <a:buNone/>
            </a:pPr>
            <a:r>
              <a:rPr lang="en-US" b="1" dirty="0"/>
              <a:t>Q2.</a:t>
            </a:r>
            <a:r>
              <a:rPr lang="en-US" dirty="0"/>
              <a:t> A coin is tossed </a:t>
            </a:r>
            <a:r>
              <a:rPr lang="en-US" b="1" dirty="0" smtClean="0"/>
              <a:t>twice</a:t>
            </a:r>
            <a:r>
              <a:rPr lang="en-US" dirty="0" smtClean="0"/>
              <a:t>. Write </a:t>
            </a:r>
            <a:r>
              <a:rPr lang="en-US" dirty="0"/>
              <a:t>the sample space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Ans.				S = {HH, HT, TH, TT}</a:t>
            </a:r>
          </a:p>
          <a:p>
            <a:pPr marL="0" indent="0">
              <a:buNone/>
            </a:pPr>
            <a:r>
              <a:rPr lang="en-US" b="1" dirty="0" smtClean="0"/>
              <a:t>Q3</a:t>
            </a:r>
            <a:r>
              <a:rPr lang="en-US" b="1" dirty="0"/>
              <a:t>.</a:t>
            </a:r>
            <a:r>
              <a:rPr lang="en-US" dirty="0"/>
              <a:t> A </a:t>
            </a:r>
            <a:r>
              <a:rPr lang="en-US" b="1" dirty="0"/>
              <a:t>die</a:t>
            </a:r>
            <a:r>
              <a:rPr lang="en-US" dirty="0"/>
              <a:t> is rolled </a:t>
            </a:r>
            <a:r>
              <a:rPr lang="en-US" dirty="0" smtClean="0"/>
              <a:t>once. Write </a:t>
            </a:r>
            <a:r>
              <a:rPr lang="en-US" dirty="0"/>
              <a:t>the sample space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Ans.				S = {1, 2, 3, 4, 5, 6}</a:t>
            </a:r>
          </a:p>
          <a:p>
            <a:pPr marL="0" indent="0">
              <a:buNone/>
            </a:pPr>
            <a:r>
              <a:rPr lang="en-US" b="1" dirty="0"/>
              <a:t>Q4.</a:t>
            </a:r>
            <a:r>
              <a:rPr lang="en-US" dirty="0"/>
              <a:t> Two coins are tossed </a:t>
            </a:r>
            <a:r>
              <a:rPr lang="en-US" b="1" dirty="0"/>
              <a:t>at the same </a:t>
            </a:r>
            <a:r>
              <a:rPr lang="en-US" b="1" dirty="0" smtClean="0"/>
              <a:t>time</a:t>
            </a:r>
            <a:r>
              <a:rPr lang="en-US" dirty="0" smtClean="0"/>
              <a:t>. Write </a:t>
            </a:r>
            <a:r>
              <a:rPr lang="en-US" dirty="0"/>
              <a:t>the sample space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Ans.				S = {HH, HT, TH, TT}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Q5</a:t>
            </a:r>
            <a:r>
              <a:rPr lang="en-US" b="1" dirty="0"/>
              <a:t>.</a:t>
            </a:r>
            <a:r>
              <a:rPr lang="en-US" dirty="0"/>
              <a:t> A die is rolled </a:t>
            </a:r>
            <a:r>
              <a:rPr lang="en-US" b="1" dirty="0" smtClean="0"/>
              <a:t>twice</a:t>
            </a:r>
            <a:r>
              <a:rPr lang="en-US" dirty="0" smtClean="0"/>
              <a:t>. Write </a:t>
            </a:r>
            <a:r>
              <a:rPr lang="en-US" dirty="0"/>
              <a:t>the sample space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Ans.				S = </a:t>
            </a:r>
            <a:r>
              <a:rPr lang="en-US" dirty="0" smtClean="0"/>
              <a:t>{(</a:t>
            </a:r>
            <a:r>
              <a:rPr lang="en-US" dirty="0"/>
              <a:t>1,1), (1,2), (1,3), (1,4), (1,5), (1,6),</a:t>
            </a:r>
            <a:br>
              <a:rPr lang="en-US" dirty="0"/>
            </a:br>
            <a:r>
              <a:rPr lang="en-US" dirty="0" smtClean="0"/>
              <a:t>				      (</a:t>
            </a:r>
            <a:r>
              <a:rPr lang="en-US" dirty="0"/>
              <a:t>2,1), (2,2), (2,3), (2,4), (2,5), (2,6),</a:t>
            </a:r>
            <a:br>
              <a:rPr lang="en-US" dirty="0"/>
            </a:br>
            <a:r>
              <a:rPr lang="en-US" dirty="0" smtClean="0"/>
              <a:t>				      (</a:t>
            </a:r>
            <a:r>
              <a:rPr lang="en-US" dirty="0"/>
              <a:t>3,1), (3,2), (3,3), (3,4), (3,5), (3,6),</a:t>
            </a:r>
            <a:br>
              <a:rPr lang="en-US" dirty="0"/>
            </a:br>
            <a:r>
              <a:rPr lang="en-US" dirty="0" smtClean="0"/>
              <a:t>				      (</a:t>
            </a:r>
            <a:r>
              <a:rPr lang="en-US" dirty="0"/>
              <a:t>4,1), (4,2), (4,3), (4,4), (4,5), (4,6),</a:t>
            </a:r>
            <a:br>
              <a:rPr lang="en-US" dirty="0"/>
            </a:br>
            <a:r>
              <a:rPr lang="en-US" dirty="0" smtClean="0"/>
              <a:t>				      (</a:t>
            </a:r>
            <a:r>
              <a:rPr lang="en-US" dirty="0"/>
              <a:t>5,1), (5,2), (5,3), (5,4), (5,5), (5,6),</a:t>
            </a:r>
            <a:br>
              <a:rPr lang="en-US" dirty="0"/>
            </a:br>
            <a:r>
              <a:rPr lang="en-US" dirty="0" smtClean="0"/>
              <a:t>				      (</a:t>
            </a:r>
            <a:r>
              <a:rPr lang="en-US" dirty="0"/>
              <a:t>6,1), (6,2), (6,3), (6,4), (6,5), (6,6</a:t>
            </a:r>
            <a:r>
              <a:rPr lang="en-US" dirty="0" smtClean="0"/>
              <a:t>)}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35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Sample Space – Practice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1417320"/>
            <a:ext cx="7886700" cy="4759643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Q6</a:t>
            </a:r>
            <a:r>
              <a:rPr lang="en-US" b="1" dirty="0"/>
              <a:t>.</a:t>
            </a:r>
            <a:r>
              <a:rPr lang="en-US" dirty="0"/>
              <a:t> One letter is chosen </a:t>
            </a:r>
            <a:r>
              <a:rPr lang="en-US" b="1" dirty="0"/>
              <a:t>randomly</a:t>
            </a:r>
            <a:r>
              <a:rPr lang="en-US" dirty="0"/>
              <a:t> from the English alphabet.</a:t>
            </a:r>
            <a:br>
              <a:rPr lang="en-US" dirty="0"/>
            </a:br>
            <a:r>
              <a:rPr lang="en-US" dirty="0"/>
              <a:t>Write the sample space.</a:t>
            </a:r>
          </a:p>
          <a:p>
            <a:pPr marL="0" indent="0">
              <a:buNone/>
            </a:pPr>
            <a:r>
              <a:rPr lang="en-US" b="1" dirty="0"/>
              <a:t>Q7.</a:t>
            </a:r>
            <a:r>
              <a:rPr lang="en-US" dirty="0"/>
              <a:t> One card is drawn from a </a:t>
            </a:r>
            <a:r>
              <a:rPr lang="en-US" b="1" dirty="0"/>
              <a:t>deck of cards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Write the sample space (write only the types, not all 52 cards).</a:t>
            </a:r>
          </a:p>
          <a:p>
            <a:pPr marL="0" indent="0">
              <a:buNone/>
            </a:pPr>
            <a:r>
              <a:rPr lang="en-US" b="1" dirty="0"/>
              <a:t>Q8.</a:t>
            </a:r>
            <a:r>
              <a:rPr lang="en-US" dirty="0"/>
              <a:t> A bag contains </a:t>
            </a:r>
            <a:r>
              <a:rPr lang="en-US" b="1" dirty="0"/>
              <a:t>red, blue, and green</a:t>
            </a:r>
            <a:r>
              <a:rPr lang="en-US" dirty="0"/>
              <a:t> balls.</a:t>
            </a:r>
            <a:br>
              <a:rPr lang="en-US" dirty="0"/>
            </a:br>
            <a:r>
              <a:rPr lang="en-US" dirty="0"/>
              <a:t>One ball is drawn.</a:t>
            </a:r>
            <a:br>
              <a:rPr lang="en-US" dirty="0"/>
            </a:br>
            <a:r>
              <a:rPr lang="en-US" dirty="0"/>
              <a:t>Write the sample space.</a:t>
            </a:r>
          </a:p>
          <a:p>
            <a:pPr marL="0" indent="0">
              <a:buNone/>
            </a:pPr>
            <a:r>
              <a:rPr lang="en-US" b="1" dirty="0"/>
              <a:t>Q9.</a:t>
            </a:r>
            <a:r>
              <a:rPr lang="en-US" dirty="0"/>
              <a:t> One day is chosen </a:t>
            </a:r>
            <a:r>
              <a:rPr lang="en-US" b="1" dirty="0"/>
              <a:t>randomly</a:t>
            </a:r>
            <a:r>
              <a:rPr lang="en-US" dirty="0"/>
              <a:t> from a week.</a:t>
            </a:r>
            <a:br>
              <a:rPr lang="en-US" dirty="0"/>
            </a:br>
            <a:r>
              <a:rPr lang="en-US" dirty="0"/>
              <a:t>Write the sample space.</a:t>
            </a:r>
          </a:p>
          <a:p>
            <a:pPr marL="0" indent="0">
              <a:buNone/>
            </a:pPr>
            <a:r>
              <a:rPr lang="en-US" b="1" dirty="0"/>
              <a:t>Q10.</a:t>
            </a:r>
            <a:r>
              <a:rPr lang="en-US" dirty="0"/>
              <a:t> One student is selected </a:t>
            </a:r>
            <a:r>
              <a:rPr lang="en-US" b="1" dirty="0"/>
              <a:t>randomly</a:t>
            </a:r>
            <a:r>
              <a:rPr lang="en-US" dirty="0"/>
              <a:t> from a class (consider only gender).</a:t>
            </a:r>
            <a:br>
              <a:rPr lang="en-US" dirty="0"/>
            </a:br>
            <a:r>
              <a:rPr lang="en-US" dirty="0"/>
              <a:t>Write the sample space.</a:t>
            </a:r>
          </a:p>
        </p:txBody>
      </p:sp>
    </p:spTree>
    <p:extLst>
      <p:ext uri="{BB962C8B-B14F-4D97-AF65-F5344CB8AC3E}">
        <p14:creationId xmlns:p14="http://schemas.microsoft.com/office/powerpoint/2010/main" val="3304259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Sample Space – Practice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Q6.</a:t>
            </a:r>
            <a:r>
              <a:rPr lang="en-US" dirty="0"/>
              <a:t> One letter is chosen </a:t>
            </a:r>
            <a:r>
              <a:rPr lang="en-US" b="1" dirty="0"/>
              <a:t>randomly</a:t>
            </a:r>
            <a:r>
              <a:rPr lang="en-US" dirty="0"/>
              <a:t> from the English alphabet.</a:t>
            </a:r>
            <a:br>
              <a:rPr lang="en-US" dirty="0"/>
            </a:br>
            <a:r>
              <a:rPr lang="en-US" dirty="0"/>
              <a:t>Write the sample space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Ans.</a:t>
            </a:r>
            <a:r>
              <a:rPr lang="pt-BR" dirty="0"/>
              <a:t> </a:t>
            </a:r>
            <a:r>
              <a:rPr lang="pt-BR" dirty="0" smtClean="0"/>
              <a:t>	</a:t>
            </a:r>
            <a:r>
              <a:rPr lang="pt-BR" sz="1800" dirty="0" smtClean="0"/>
              <a:t>S </a:t>
            </a:r>
            <a:r>
              <a:rPr lang="pt-BR" sz="1800" dirty="0"/>
              <a:t>= {A, B, C, D, E, F, G, H, I, J, K, L, M, N, O, P, Q, R, S, T, U, V, W, X, Y, Z}</a:t>
            </a:r>
            <a:endParaRPr lang="en-US" sz="1800" dirty="0"/>
          </a:p>
          <a:p>
            <a:pPr marL="0" indent="0">
              <a:buNone/>
            </a:pPr>
            <a:r>
              <a:rPr lang="en-US" b="1" dirty="0"/>
              <a:t>Q7.</a:t>
            </a:r>
            <a:r>
              <a:rPr lang="en-US" dirty="0"/>
              <a:t> One card is drawn from a </a:t>
            </a:r>
            <a:r>
              <a:rPr lang="en-US" b="1" dirty="0"/>
              <a:t>deck of cards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Write the sample space (write only the types, not all 52 cards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r>
              <a:rPr lang="en-US" dirty="0"/>
              <a:t>Ans.	S = {Hearts, Diamonds, Spades, Clubs}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Q8</a:t>
            </a:r>
            <a:r>
              <a:rPr lang="en-US" b="1" dirty="0"/>
              <a:t>.</a:t>
            </a:r>
            <a:r>
              <a:rPr lang="en-US" dirty="0"/>
              <a:t> A bag contains </a:t>
            </a:r>
            <a:r>
              <a:rPr lang="en-US" b="1" dirty="0"/>
              <a:t>red, blue, and green</a:t>
            </a:r>
            <a:r>
              <a:rPr lang="en-US" dirty="0"/>
              <a:t> balls.</a:t>
            </a:r>
            <a:br>
              <a:rPr lang="en-US" dirty="0"/>
            </a:br>
            <a:r>
              <a:rPr lang="en-US" dirty="0"/>
              <a:t>One ball is drawn.</a:t>
            </a:r>
            <a:br>
              <a:rPr lang="en-US" dirty="0"/>
            </a:br>
            <a:r>
              <a:rPr lang="en-US" dirty="0"/>
              <a:t>Write the sample space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Ans.	S = {Red, Blue, Green}</a:t>
            </a:r>
          </a:p>
        </p:txBody>
      </p:sp>
    </p:spTree>
    <p:extLst>
      <p:ext uri="{BB962C8B-B14F-4D97-AF65-F5344CB8AC3E}">
        <p14:creationId xmlns:p14="http://schemas.microsoft.com/office/powerpoint/2010/main" val="1968228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Sample Space – Practice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Q9.</a:t>
            </a:r>
            <a:r>
              <a:rPr lang="en-US" dirty="0"/>
              <a:t> One day is chosen </a:t>
            </a:r>
            <a:r>
              <a:rPr lang="en-US" b="1" dirty="0"/>
              <a:t>randomly</a:t>
            </a:r>
            <a:r>
              <a:rPr lang="en-US" dirty="0"/>
              <a:t> from a week.</a:t>
            </a:r>
            <a:br>
              <a:rPr lang="en-US" dirty="0"/>
            </a:br>
            <a:r>
              <a:rPr lang="en-US" dirty="0"/>
              <a:t>Write the sample space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Ans.	</a:t>
            </a:r>
            <a:r>
              <a:rPr lang="en-US" sz="1800" dirty="0"/>
              <a:t>S = {Monday, Tuesday, Wednesday, Thursday, Friday, Saturday, Sunday}</a:t>
            </a:r>
          </a:p>
          <a:p>
            <a:pPr marL="0" indent="0">
              <a:buNone/>
            </a:pPr>
            <a:r>
              <a:rPr lang="en-US" b="1" dirty="0"/>
              <a:t>Q10.</a:t>
            </a:r>
            <a:r>
              <a:rPr lang="en-US" dirty="0"/>
              <a:t> One student is selected </a:t>
            </a:r>
            <a:r>
              <a:rPr lang="en-US" b="1" dirty="0"/>
              <a:t>randomly</a:t>
            </a:r>
            <a:r>
              <a:rPr lang="en-US" dirty="0"/>
              <a:t> from a class (consider only gender).</a:t>
            </a:r>
            <a:br>
              <a:rPr lang="en-US" dirty="0"/>
            </a:br>
            <a:r>
              <a:rPr lang="en-US" dirty="0"/>
              <a:t>Write the sample space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Ans.	S = {Male, Female}</a:t>
            </a:r>
          </a:p>
        </p:txBody>
      </p:sp>
    </p:spTree>
    <p:extLst>
      <p:ext uri="{BB962C8B-B14F-4D97-AF65-F5344CB8AC3E}">
        <p14:creationId xmlns:p14="http://schemas.microsoft.com/office/powerpoint/2010/main" val="281256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Cardinality of Sample Space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sample space</a:t>
            </a:r>
            <a:r>
              <a:rPr lang="en-US" dirty="0"/>
              <a:t> is the set of </a:t>
            </a:r>
            <a:r>
              <a:rPr lang="en-US" b="1" dirty="0"/>
              <a:t>all possible outcomes</a:t>
            </a:r>
            <a:r>
              <a:rPr lang="en-US" dirty="0"/>
              <a:t> of a random experiment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What is </a:t>
            </a:r>
            <a:r>
              <a:rPr lang="en-US" b="1" dirty="0" smtClean="0"/>
              <a:t>Cardinality of Sample Space?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Cardinality</a:t>
            </a:r>
            <a:r>
              <a:rPr lang="en-US" dirty="0"/>
              <a:t> means the </a:t>
            </a:r>
            <a:r>
              <a:rPr lang="en-US" b="1" dirty="0"/>
              <a:t>total number of outcomes</a:t>
            </a:r>
            <a:r>
              <a:rPr lang="en-US" dirty="0"/>
              <a:t> in a sample space.</a:t>
            </a:r>
          </a:p>
          <a:p>
            <a:r>
              <a:rPr lang="en-US" dirty="0"/>
              <a:t>It is denoted by </a:t>
            </a:r>
            <a:r>
              <a:rPr lang="en-US" b="1" dirty="0"/>
              <a:t>|S|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b="1" dirty="0"/>
              <a:t>Sample Space: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				S </a:t>
            </a:r>
            <a:r>
              <a:rPr lang="en-US" dirty="0"/>
              <a:t>= {H, T}</a:t>
            </a:r>
            <a:br>
              <a:rPr lang="en-US" dirty="0"/>
            </a:br>
            <a:r>
              <a:rPr lang="en-US" b="1" dirty="0"/>
              <a:t>Cardinality: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				|</a:t>
            </a:r>
            <a:r>
              <a:rPr lang="en-US" dirty="0"/>
              <a:t>S| = 2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02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an Event?</a:t>
            </a:r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event</a:t>
            </a:r>
            <a:r>
              <a:rPr lang="en-US" dirty="0"/>
              <a:t> is a </a:t>
            </a:r>
            <a:r>
              <a:rPr lang="en-US" b="1" dirty="0"/>
              <a:t>subset of the sample space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It consists of one or more outcomes.</a:t>
            </a:r>
          </a:p>
          <a:p>
            <a:pPr marL="0" indent="0">
              <a:buNone/>
            </a:pPr>
            <a:r>
              <a:rPr lang="en-US" dirty="0"/>
              <a:t>It is usually denoted by </a:t>
            </a:r>
            <a:r>
              <a:rPr lang="en-US" b="1" dirty="0"/>
              <a:t>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b="1" dirty="0"/>
              <a:t>Experiment:</a:t>
            </a:r>
            <a:r>
              <a:rPr lang="en-US" dirty="0"/>
              <a:t> Rolling a die</a:t>
            </a:r>
            <a:br>
              <a:rPr lang="en-US" dirty="0"/>
            </a:br>
            <a:r>
              <a:rPr lang="en-US" b="1" dirty="0"/>
              <a:t>Sample Space: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			S </a:t>
            </a:r>
            <a:r>
              <a:rPr lang="en-US" dirty="0"/>
              <a:t>= {1, 2, 3, 4, 5, 6}</a:t>
            </a:r>
            <a:br>
              <a:rPr lang="en-US" dirty="0"/>
            </a:br>
            <a:r>
              <a:rPr lang="en-US" b="1" dirty="0"/>
              <a:t>Event (getting an even number):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				E </a:t>
            </a:r>
            <a:r>
              <a:rPr lang="en-US" dirty="0"/>
              <a:t>= {2, 4, 6}</a:t>
            </a:r>
          </a:p>
        </p:txBody>
      </p:sp>
    </p:spTree>
    <p:extLst>
      <p:ext uri="{BB962C8B-B14F-4D97-AF65-F5344CB8AC3E}">
        <p14:creationId xmlns:p14="http://schemas.microsoft.com/office/powerpoint/2010/main" val="3167046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Event </a:t>
            </a:r>
            <a:r>
              <a:rPr lang="en-US" b="1" dirty="0"/>
              <a:t>– Practice Questions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8651" y="1877635"/>
            <a:ext cx="535274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coin is tossed once.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getting 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coin is tossed once.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getting 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die is rolled once.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getting an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 number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die is rolled once.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getting an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odd number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die is rolled once.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getting a number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greater than 4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145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Event – Practice Questions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8651" y="1877635"/>
            <a:ext cx="535274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coin is tossed once.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getting 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= {H}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coin is tossed once.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getting 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= {T}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die is rolled once.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getting an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 number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= {2, 4, 6}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die is rolled once.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getting an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odd number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= {1, 3, 5}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die is rolled once.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getting a number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greater than 4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= {5, 6}</a:t>
            </a:r>
          </a:p>
        </p:txBody>
      </p:sp>
    </p:spTree>
    <p:extLst>
      <p:ext uri="{BB962C8B-B14F-4D97-AF65-F5344CB8AC3E}">
        <p14:creationId xmlns:p14="http://schemas.microsoft.com/office/powerpoint/2010/main" val="213187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Event – Practice Questions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8651" y="1877635"/>
            <a:ext cx="501932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die is rolled once.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getting a number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than 3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coins are tossed at the same time.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getting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least one Head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coins are tossed at the same time.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getting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Tails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card is drawn from a deck of cards.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drawing 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card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day is selected randomly from a week.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selecting 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weekend day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60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Event – Practice Questions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8651" y="1877635"/>
            <a:ext cx="750950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die is rolled once.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getting a number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than 3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= {1, 2}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coins are tossed at the same time.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getting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least one Head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= {HH, HT, TH}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coins are tossed at the same time.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getting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Tails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= {TT}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card is drawn from a deck of cards.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drawing 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card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= {Hearts, Diamonds}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day is selected randomly from a week.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event of selecting 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weekend day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= {Saturday, Sunday}</a:t>
            </a:r>
          </a:p>
        </p:txBody>
      </p:sp>
    </p:spTree>
    <p:extLst>
      <p:ext uri="{BB962C8B-B14F-4D97-AF65-F5344CB8AC3E}">
        <p14:creationId xmlns:p14="http://schemas.microsoft.com/office/powerpoint/2010/main" val="350227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 of an event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Probability?</a:t>
            </a:r>
          </a:p>
          <a:p>
            <a:pPr marL="0" indent="0">
              <a:buNone/>
            </a:pPr>
            <a:r>
              <a:rPr lang="en-US" dirty="0"/>
              <a:t>Probability tells us </a:t>
            </a:r>
            <a:r>
              <a:rPr lang="en-US" b="1" dirty="0"/>
              <a:t>how likely an event is to occur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For equally likely outcomes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Example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Experiment:</a:t>
            </a:r>
            <a:r>
              <a:rPr lang="en-US" dirty="0"/>
              <a:t> Rolling a die</a:t>
            </a:r>
            <a:br>
              <a:rPr lang="en-US" dirty="0"/>
            </a:br>
            <a:r>
              <a:rPr lang="en-US" b="1" dirty="0"/>
              <a:t>Event:</a:t>
            </a:r>
            <a:r>
              <a:rPr lang="en-US" dirty="0"/>
              <a:t> Getting an even number</a:t>
            </a:r>
          </a:p>
          <a:p>
            <a:pPr marL="0" indent="0">
              <a:buNone/>
            </a:pPr>
            <a:r>
              <a:rPr lang="en-US" dirty="0"/>
              <a:t>Favorable outcomes = 3</a:t>
            </a:r>
          </a:p>
          <a:p>
            <a:pPr marL="0" indent="0">
              <a:buNone/>
            </a:pPr>
            <a:r>
              <a:rPr lang="en-US" dirty="0"/>
              <a:t>Total outcomes = 6</a:t>
            </a:r>
          </a:p>
          <a:p>
            <a:pPr marL="0" indent="0">
              <a:buNone/>
            </a:pPr>
            <a:r>
              <a:rPr lang="en-US" dirty="0" smtClean="0"/>
              <a:t>​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497" y="3090815"/>
            <a:ext cx="3439005" cy="6763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762" y="5163269"/>
            <a:ext cx="1486107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84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Probability of an Event – Practice Questions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8651" y="1800693"/>
            <a:ext cx="596387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coin is tossed once.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the probability of getting a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coin is tossed twice.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the probability of getting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exactly one Head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fair die is rolled once.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the probability of getting an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 number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fair die is rolled once.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the probability of getting a number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greater than 4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fair die is rolled once.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the probability of getting a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prime number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569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Probability of an Event – Practice Questions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8651" y="1800692"/>
            <a:ext cx="811677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 fair coins are tossed at the same time.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the probability of getting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least one Head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card is drawn randomly from a standard deck of cards.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the probability of drawing a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 card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card is drawn randomly from a standard deck of cards.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the probability of drawing an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bag contains 3 red balls and 2 blue balls. One ball is drawn at random.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the probability that the ball drawn is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day is chosen at random from the days of a week.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the probability that the chosen day is a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weekend day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0285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Probability of an Event </a:t>
            </a:r>
            <a:r>
              <a:rPr lang="en-US" b="1" dirty="0"/>
              <a:t>– Practice Questions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6624" y="1426464"/>
            <a:ext cx="6515196" cy="466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96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Probability of an Event – Practice Questions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2729" y="1520893"/>
            <a:ext cx="5939012" cy="443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9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Probability of an Event – Practice Questions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2688" y="1565110"/>
            <a:ext cx="6535316" cy="437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93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Probability of an Event – Practice Questions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6424" y="1431185"/>
            <a:ext cx="6304422" cy="46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24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Probability of an Event – Practice Questions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0392" y="1429787"/>
            <a:ext cx="6727165" cy="464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00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48" y="279895"/>
            <a:ext cx="8441171" cy="17127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48" y="2603443"/>
            <a:ext cx="8764946" cy="144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638550"/>
            <a:ext cx="8602768" cy="449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9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question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484621"/>
            <a:ext cx="7886700" cy="303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2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2"/>
          <a:stretch/>
        </p:blipFill>
        <p:spPr bwMode="auto">
          <a:xfrm>
            <a:off x="960120" y="722376"/>
            <a:ext cx="6665976" cy="52395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440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0" y="206756"/>
            <a:ext cx="7639436" cy="517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4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Additive Rule – Problem Statement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 fair die is rolled once</a:t>
            </a:r>
            <a:r>
              <a:rPr lang="en-US" sz="32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Find the probability of getting a number that is 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either even or greater than 4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020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9" y="249946"/>
            <a:ext cx="7725853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0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96" y="237950"/>
            <a:ext cx="7525800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25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43489"/>
            <a:ext cx="8445823" cy="19012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244713"/>
            <a:ext cx="7869703" cy="319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39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579752"/>
            <a:ext cx="8265412" cy="348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1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36" y="1045315"/>
            <a:ext cx="6344535" cy="21338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36" y="3542216"/>
            <a:ext cx="6287377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7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51" y="327670"/>
            <a:ext cx="6287377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69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54" y="847747"/>
            <a:ext cx="7819431" cy="399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2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1" y="679921"/>
            <a:ext cx="8457755" cy="429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84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8024"/>
            <a:ext cx="8357935" cy="406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03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793090"/>
            <a:ext cx="8405567" cy="406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5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83" y="909302"/>
            <a:ext cx="8226683" cy="240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27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3"/>
          <a:stretch/>
        </p:blipFill>
        <p:spPr bwMode="auto">
          <a:xfrm>
            <a:off x="2048256" y="594360"/>
            <a:ext cx="5394198" cy="33741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68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151" y="454953"/>
            <a:ext cx="6287377" cy="21624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151" y="2200581"/>
            <a:ext cx="6373114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564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9652</TotalTime>
  <Words>332</Words>
  <Application>Microsoft Office PowerPoint</Application>
  <PresentationFormat>On-screen Show (4:3)</PresentationFormat>
  <Paragraphs>120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Calibri Light</vt:lpstr>
      <vt:lpstr>Tahoma</vt:lpstr>
      <vt:lpstr>Times New Roman</vt:lpstr>
      <vt:lpstr>Office Theme</vt:lpstr>
      <vt:lpstr>Probability &amp; Random Processes EE-2011 Department of Electrical Engineering</vt:lpstr>
      <vt:lpstr>PowerPoint Presentation</vt:lpstr>
      <vt:lpstr>Sample Space – Practice Questions</vt:lpstr>
      <vt:lpstr>Sample Space – Practice Questions</vt:lpstr>
      <vt:lpstr>Sample Space – Practice Questions</vt:lpstr>
      <vt:lpstr>Sample Space – Practice Questions</vt:lpstr>
      <vt:lpstr>Sample Space – Practice Questions</vt:lpstr>
      <vt:lpstr>Cardinality of Sample Space</vt:lpstr>
      <vt:lpstr>Events</vt:lpstr>
      <vt:lpstr>Event – Practice Questions</vt:lpstr>
      <vt:lpstr>Event – Practice Questions</vt:lpstr>
      <vt:lpstr>Event – Practice Questions</vt:lpstr>
      <vt:lpstr>Event – Practice Questions</vt:lpstr>
      <vt:lpstr>Probability of an event</vt:lpstr>
      <vt:lpstr>Probability of an Event – Practice Questions</vt:lpstr>
      <vt:lpstr>Probability of an Event – Practice Questions</vt:lpstr>
      <vt:lpstr>Probability of an Event – Practice Questions</vt:lpstr>
      <vt:lpstr>Probability of an Event – Practice Questions</vt:lpstr>
      <vt:lpstr>Probability of an Event – Practice Questions</vt:lpstr>
      <vt:lpstr>Probability of an Event – Practice Questions</vt:lpstr>
      <vt:lpstr>Probability of an Event – Practice Questions</vt:lpstr>
      <vt:lpstr>PowerPoint Presentation</vt:lpstr>
      <vt:lpstr>PowerPoint Presentation</vt:lpstr>
      <vt:lpstr>Practice question</vt:lpstr>
      <vt:lpstr>PowerPoint Presentation</vt:lpstr>
      <vt:lpstr>PowerPoint Presentation</vt:lpstr>
      <vt:lpstr>Additive Rule – 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HP</cp:lastModifiedBy>
  <cp:revision>837</cp:revision>
  <cp:lastPrinted>2017-08-04T10:23:33Z</cp:lastPrinted>
  <dcterms:created xsi:type="dcterms:W3CDTF">2017-07-19T17:50:20Z</dcterms:created>
  <dcterms:modified xsi:type="dcterms:W3CDTF">2026-01-26T10:45:00Z</dcterms:modified>
</cp:coreProperties>
</file>